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各位老师、同学大家好，今天汇报的论文是</a:t>
            </a:r>
            <a:r>
              <a:rPr lang="en-US" altLang="zh-CN"/>
              <a:t> </a:t>
            </a:r>
            <a:r>
              <a:rPr lang="zh-CN" altLang="en-US"/>
              <a:t>《</a:t>
            </a:r>
            <a:r>
              <a:rPr lang="en-US" altLang="zh-CN"/>
              <a:t>LaserAdv</a:t>
            </a:r>
            <a:r>
              <a:rPr lang="zh-CN" altLang="en-US"/>
              <a:t>：基于激光的语音识别系统对抗攻击》。</a:t>
            </a:r>
            <a:endParaRPr lang="en-US" altLang="zh-CN"/>
          </a:p>
          <a:p>
            <a:r>
              <a:rPr lang="zh-CN" altLang="zh-CN"/>
              <a:t>来自</a:t>
            </a:r>
            <a:r>
              <a:rPr lang="en-US" altLang="zh-CN"/>
              <a:t>suenixsecueity</a:t>
            </a:r>
            <a:r>
              <a:rPr lang="zh-CN" altLang="en-US"/>
              <a:t>，作者来自山东大学和浙江大学，论文可以理解为利用激光对语音识别系统进行对抗攻击。</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这一页主要是在介绍已有工作和本文工作的区别。</a:t>
            </a:r>
            <a:endParaRPr lang="en-US" altLang="zh-CN"/>
          </a:p>
          <a:p>
            <a:r>
              <a:rPr lang="en-US" altLang="zh-CN"/>
              <a:t>PPT</a:t>
            </a:r>
            <a:r>
              <a:rPr lang="zh-CN" altLang="en-US"/>
              <a:t>左边是之前的</a:t>
            </a:r>
            <a:r>
              <a:rPr lang="en-US" altLang="zh-CN"/>
              <a:t>LightCommands</a:t>
            </a:r>
            <a:r>
              <a:rPr lang="zh-CN" altLang="en-US"/>
              <a:t>，可以理解为比较早的激光音频注入攻击方法。</a:t>
            </a:r>
            <a:endParaRPr lang="en-US" altLang="zh-CN"/>
          </a:p>
          <a:p>
            <a:r>
              <a:rPr lang="zh-CN" altLang="zh-CN"/>
              <a:t>在这个基础上，本文提出</a:t>
            </a:r>
            <a:r>
              <a:rPr lang="en-US" altLang="zh-CN"/>
              <a:t>LaserAdv</a:t>
            </a:r>
            <a:r>
              <a:rPr lang="zh-CN" altLang="en-US"/>
              <a:t>，主要希望解决三个问题。</a:t>
            </a:r>
            <a:endParaRPr lang="en-US" altLang="zh-CN"/>
          </a:p>
          <a:p>
            <a:r>
              <a:rPr lang="zh-CN" altLang="zh-CN"/>
              <a:t>第一个是扩大容易受到攻击的设备范围；第二个是提高功率利用效率和攻击隐蔽性；第三个是增加攻击距离。</a:t>
            </a:r>
            <a:endParaRPr lang="en-US" altLang="zh-CN"/>
          </a:p>
          <a:p>
            <a:r>
              <a:rPr lang="zh-CN" altLang="zh-CN"/>
              <a:t>所以这一页的核心意思就是：</a:t>
            </a:r>
            <a:endParaRPr lang="en-US" altLang="zh-CN"/>
          </a:p>
          <a:p>
            <a:r>
              <a:rPr lang="en-US" altLang="zh-CN"/>
              <a:t>LaserAdv</a:t>
            </a:r>
            <a:r>
              <a:rPr lang="zh-CN" altLang="en-US"/>
              <a:t>不是第一次使用激光攻击语音系统，而是在已有工作的基础上进一步改进。</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这一页是解释：</a:t>
            </a:r>
            <a:endParaRPr lang="en-US" altLang="zh-CN"/>
          </a:p>
          <a:p>
            <a:r>
              <a:rPr lang="zh-CN" altLang="zh-CN"/>
              <a:t>为什么不能简单地把普通的对抗扰动直接变成激光发送出去？</a:t>
            </a:r>
            <a:endParaRPr lang="en-US" altLang="zh-CN"/>
          </a:p>
          <a:p>
            <a:r>
              <a:rPr lang="en-US" altLang="zh-CN"/>
              <a:t>PPT</a:t>
            </a:r>
            <a:r>
              <a:rPr lang="zh-CN" altLang="en-US"/>
              <a:t>上方是普通声学扰动，下方是激光产生的扰动，而且是在</a:t>
            </a:r>
            <a:r>
              <a:rPr lang="en-US" altLang="zh-CN"/>
              <a:t>5</a:t>
            </a:r>
            <a:r>
              <a:rPr lang="zh-CN" altLang="en-US"/>
              <a:t>种不同设备上进行观察。</a:t>
            </a:r>
            <a:endParaRPr lang="en-US" altLang="zh-CN"/>
          </a:p>
          <a:p>
            <a:r>
              <a:rPr lang="zh-CN" altLang="zh-CN"/>
              <a:t>作者发现，两种扰动经过设备以后并不完全一样。</a:t>
            </a:r>
            <a:endParaRPr lang="en-US" altLang="zh-CN"/>
          </a:p>
          <a:p>
            <a:r>
              <a:rPr lang="zh-CN" altLang="zh-CN"/>
              <a:t>这里总结了三个问题：</a:t>
            </a:r>
            <a:endParaRPr lang="en-US" altLang="zh-CN"/>
          </a:p>
          <a:p>
            <a:r>
              <a:rPr lang="en-US" altLang="zh-CN"/>
              <a:t>Additional noise</a:t>
            </a:r>
            <a:r>
              <a:rPr lang="zh-CN" altLang="en-US"/>
              <a:t>，也就是额外噪声；</a:t>
            </a:r>
            <a:endParaRPr lang="en-US" altLang="zh-CN"/>
          </a:p>
          <a:p>
            <a:r>
              <a:rPr lang="en-US" altLang="zh-CN"/>
              <a:t>Weak response</a:t>
            </a:r>
            <a:r>
              <a:rPr lang="zh-CN" altLang="en-US"/>
              <a:t>，也就是有些设备对激光的响应比较弱；</a:t>
            </a:r>
            <a:endParaRPr lang="en-US" altLang="zh-CN"/>
          </a:p>
          <a:p>
            <a:r>
              <a:rPr lang="zh-CN" altLang="zh-CN"/>
              <a:t>还有</a:t>
            </a:r>
            <a:r>
              <a:rPr lang="en-US" altLang="zh-CN"/>
              <a:t>FSF</a:t>
            </a:r>
            <a:r>
              <a:rPr lang="zh-CN" altLang="en-US"/>
              <a:t>造成的</a:t>
            </a:r>
            <a:r>
              <a:rPr lang="en-US" altLang="zh-CN"/>
              <a:t>Distortion</a:t>
            </a:r>
            <a:r>
              <a:rPr lang="zh-CN" altLang="en-US"/>
              <a:t>，也就是频率选择性衰落造成的失真。</a:t>
            </a:r>
            <a:endParaRPr lang="en-US" altLang="zh-CN"/>
          </a:p>
          <a:p>
            <a:r>
              <a:rPr lang="zh-CN" altLang="zh-CN"/>
              <a:t>简单来说：</a:t>
            </a:r>
            <a:endParaRPr lang="en-US" altLang="zh-CN"/>
          </a:p>
          <a:p>
            <a:r>
              <a:rPr lang="zh-CN" altLang="zh-CN"/>
              <a:t>我们在电脑里生成的扰动，经过真实的激光通道以后会发生变化。</a:t>
            </a:r>
            <a:endParaRPr lang="en-US" altLang="zh-CN"/>
          </a:p>
          <a:p>
            <a:r>
              <a:rPr lang="zh-CN" altLang="zh-CN"/>
              <a:t>所以后面的方法设计，就是针对这些问题进行解决。</a:t>
            </a: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这一页是威胁模型，也就是作者假设攻击者处在什么情况下。</a:t>
            </a:r>
            <a:endParaRPr lang="en-US" altLang="zh-CN"/>
          </a:p>
          <a:p>
            <a:r>
              <a:rPr lang="zh-CN" altLang="zh-CN"/>
              <a:t>先看上面的</a:t>
            </a:r>
            <a:r>
              <a:rPr lang="en-US" altLang="zh-CN"/>
              <a:t>Attack Goal</a:t>
            </a:r>
            <a:r>
              <a:rPr lang="zh-CN" altLang="en-US"/>
              <a:t>。</a:t>
            </a:r>
            <a:endParaRPr lang="en-US" altLang="zh-CN"/>
          </a:p>
          <a:p>
            <a:r>
              <a:rPr lang="zh-CN" altLang="zh-CN"/>
              <a:t>作者希望攻击同时满足四个条件：</a:t>
            </a:r>
            <a:endParaRPr lang="en-US" altLang="zh-CN"/>
          </a:p>
          <a:p>
            <a:r>
              <a:rPr lang="en-US" altLang="zh-CN"/>
              <a:t>Synchronization-free</a:t>
            </a:r>
            <a:r>
              <a:rPr lang="zh-CN" altLang="en-US"/>
              <a:t>：不需要精确同步；</a:t>
            </a:r>
            <a:endParaRPr lang="en-US" altLang="zh-CN"/>
          </a:p>
          <a:p>
            <a:r>
              <a:rPr lang="en-US" altLang="zh-CN"/>
              <a:t>Universal</a:t>
            </a:r>
            <a:r>
              <a:rPr lang="zh-CN" altLang="en-US"/>
              <a:t>：一个扰动能够适用于不同语音；</a:t>
            </a:r>
            <a:endParaRPr lang="en-US" altLang="zh-CN"/>
          </a:p>
          <a:p>
            <a:r>
              <a:rPr lang="en-US" altLang="zh-CN"/>
              <a:t>Transferability</a:t>
            </a:r>
            <a:r>
              <a:rPr lang="zh-CN" altLang="en-US"/>
              <a:t>：能够从一个模型迁移到其他模型；</a:t>
            </a:r>
            <a:endParaRPr lang="en-US" altLang="zh-CN"/>
          </a:p>
          <a:p>
            <a:r>
              <a:rPr lang="en-US" altLang="zh-CN"/>
              <a:t>Inaudible and targeted</a:t>
            </a:r>
            <a:r>
              <a:rPr lang="zh-CN" altLang="en-US"/>
              <a:t>：人尽量听不到，但机器能够识别成指定目标。</a:t>
            </a:r>
            <a:endParaRPr lang="en-US" altLang="zh-CN"/>
          </a:p>
          <a:p>
            <a:r>
              <a:rPr lang="zh-CN" altLang="zh-CN"/>
              <a:t>再看下面的</a:t>
            </a:r>
            <a:r>
              <a:rPr lang="en-US" altLang="zh-CN"/>
              <a:t>Assumption</a:t>
            </a:r>
            <a:r>
              <a:rPr lang="zh-CN" altLang="en-US"/>
              <a:t>。</a:t>
            </a:r>
            <a:endParaRPr lang="en-US" altLang="zh-CN"/>
          </a:p>
          <a:p>
            <a:r>
              <a:rPr lang="zh-CN" altLang="zh-CN"/>
              <a:t>作者假设攻击者资源有限，只知道一个</a:t>
            </a:r>
            <a:r>
              <a:rPr lang="en-US" altLang="zh-CN"/>
              <a:t>ASR</a:t>
            </a:r>
            <a:r>
              <a:rPr lang="zh-CN" altLang="en-US"/>
              <a:t>系统，也就是</a:t>
            </a:r>
            <a:r>
              <a:rPr lang="en-US" altLang="zh-CN"/>
              <a:t>DeepSpeech</a:t>
            </a:r>
            <a:r>
              <a:rPr lang="zh-CN" altLang="en-US"/>
              <a:t>的详细信息，而不知道</a:t>
            </a:r>
            <a:r>
              <a:rPr lang="en-US" altLang="zh-CN"/>
              <a:t>Whisper</a:t>
            </a:r>
            <a:r>
              <a:rPr lang="zh-CN" altLang="en-US"/>
              <a:t>和</a:t>
            </a:r>
            <a:r>
              <a:rPr lang="en-US" altLang="zh-CN"/>
              <a:t>iFlytek</a:t>
            </a:r>
            <a:r>
              <a:rPr lang="zh-CN" altLang="en-US"/>
              <a:t>的内部信息。</a:t>
            </a:r>
            <a:endParaRPr lang="en-US" altLang="zh-CN"/>
          </a:p>
          <a:p>
            <a:r>
              <a:rPr lang="zh-CN" altLang="zh-CN"/>
              <a:t>同时，假设受害者正在讲话的时候，攻击者发射激光扰动。</a:t>
            </a:r>
            <a:endParaRPr lang="en-US" altLang="zh-CN"/>
          </a:p>
          <a:p>
            <a:r>
              <a:rPr lang="zh-CN" altLang="zh-CN"/>
              <a:t>所以这一页其实就是在告诉我们：</a:t>
            </a:r>
            <a:endParaRPr lang="en-US" altLang="zh-CN"/>
          </a:p>
          <a:p>
            <a:r>
              <a:rPr lang="zh-CN" altLang="zh-CN"/>
              <a:t>作者希望设计一种既通用、又能够跨模型迁移，而且不需要精确同步的激光攻击。</a:t>
            </a: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这一页开始进入算法。</a:t>
            </a:r>
            <a:endParaRPr lang="en-US" altLang="zh-CN"/>
          </a:p>
          <a:p>
            <a:r>
              <a:rPr lang="zh-CN" altLang="zh-CN"/>
              <a:t>这里有两个公式，我们重点解释它们想表达什么，不需要把公式一个字一个字念出来。</a:t>
            </a:r>
            <a:endParaRPr lang="en-US" altLang="zh-CN"/>
          </a:p>
          <a:p>
            <a:r>
              <a:rPr lang="zh-CN" altLang="zh-CN"/>
              <a:t>第一个公式</a:t>
            </a:r>
            <a:endParaRPr lang="en-US" altLang="zh-CN"/>
          </a:p>
          <a:p>
            <a:r>
              <a:rPr lang="zh-CN" altLang="zh-CN"/>
              <a:t>公式里面：</a:t>
            </a:r>
            <a:endParaRPr lang="en-US" altLang="zh-CN"/>
          </a:p>
          <a:p>
            <a:r>
              <a:rPr lang="en-US" altLang="zh-CN"/>
              <a:t>xx</a:t>
            </a:r>
            <a:r>
              <a:rPr lang="zh-CN" altLang="en-US"/>
              <a:t>：原始语音</a:t>
            </a:r>
            <a:r>
              <a:rPr lang="en-US" altLang="zh-CN"/>
              <a:t> </a:t>
            </a:r>
            <a:endParaRPr lang="en-US" altLang="zh-CN"/>
          </a:p>
          <a:p>
            <a:r>
              <a:rPr lang="en-US" altLang="zh-CN"/>
              <a:t>δ\delta</a:t>
            </a:r>
            <a:r>
              <a:rPr lang="zh-CN" altLang="en-US"/>
              <a:t>：我们人为加入的对抗扰动</a:t>
            </a:r>
            <a:r>
              <a:rPr lang="en-US" altLang="zh-CN"/>
              <a:t> </a:t>
            </a:r>
            <a:endParaRPr lang="en-US" altLang="zh-CN"/>
          </a:p>
          <a:p>
            <a:r>
              <a:rPr lang="en-US" altLang="zh-CN"/>
              <a:t>y′y'</a:t>
            </a:r>
            <a:r>
              <a:rPr lang="zh-CN" altLang="en-US"/>
              <a:t>：攻击者希望模型输出的目标</a:t>
            </a:r>
            <a:r>
              <a:rPr lang="en-US" altLang="zh-CN"/>
              <a:t> </a:t>
            </a:r>
            <a:endParaRPr lang="en-US" altLang="zh-CN"/>
          </a:p>
          <a:p>
            <a:r>
              <a:rPr lang="en-US" altLang="zh-CN"/>
              <a:t>ff</a:t>
            </a:r>
            <a:r>
              <a:rPr lang="zh-CN" altLang="en-US"/>
              <a:t>：语音识别模型</a:t>
            </a:r>
            <a:r>
              <a:rPr lang="en-US" altLang="zh-CN"/>
              <a:t> </a:t>
            </a:r>
            <a:endParaRPr lang="en-US" altLang="zh-CN"/>
          </a:p>
          <a:p>
            <a:r>
              <a:rPr lang="en-US" altLang="zh-CN"/>
              <a:t>LL</a:t>
            </a:r>
            <a:r>
              <a:rPr lang="zh-CN" altLang="en-US"/>
              <a:t>：损失函数</a:t>
            </a:r>
            <a:r>
              <a:rPr lang="en-US" altLang="zh-CN"/>
              <a:t> </a:t>
            </a:r>
            <a:endParaRPr lang="en-US" altLang="zh-CN"/>
          </a:p>
          <a:p>
            <a:r>
              <a:rPr lang="zh-CN" altLang="zh-CN"/>
              <a:t>所以这个公式实际上是在做：</a:t>
            </a:r>
            <a:endParaRPr lang="en-US" altLang="zh-CN"/>
          </a:p>
          <a:p>
            <a:r>
              <a:rPr lang="zh-CN" altLang="zh-CN"/>
              <a:t>寻找一个合适的扰动</a:t>
            </a:r>
            <a:r>
              <a:rPr lang="en-US" altLang="zh-CN"/>
              <a:t>δ</a:t>
            </a:r>
            <a:r>
              <a:rPr lang="zh-CN" altLang="en-US"/>
              <a:t>，使得原始语音加上</a:t>
            </a:r>
            <a:r>
              <a:rPr lang="en-US" altLang="zh-CN"/>
              <a:t>δ</a:t>
            </a:r>
            <a:r>
              <a:rPr lang="zh-CN" altLang="en-US"/>
              <a:t>之后，</a:t>
            </a:r>
            <a:r>
              <a:rPr lang="en-US" altLang="zh-CN"/>
              <a:t>DeepSpeech</a:t>
            </a:r>
            <a:r>
              <a:rPr lang="zh-CN" altLang="en-US"/>
              <a:t>尽可能识别成目标命令</a:t>
            </a:r>
            <a:r>
              <a:rPr lang="en-US" altLang="zh-CN"/>
              <a:t> y′y'</a:t>
            </a:r>
            <a:r>
              <a:rPr lang="zh-CN" altLang="en-US"/>
              <a:t>。</a:t>
            </a:r>
            <a:endParaRPr lang="en-US" altLang="zh-CN"/>
          </a:p>
          <a:p>
            <a:r>
              <a:rPr lang="zh-CN" altLang="zh-CN"/>
              <a:t>这里作者使用</a:t>
            </a:r>
            <a:r>
              <a:rPr lang="en-US" altLang="zh-CN"/>
              <a:t>DeepSpeech</a:t>
            </a:r>
            <a:r>
              <a:rPr lang="zh-CN" altLang="en-US"/>
              <a:t>，是因为在威胁模型中，攻击者掌握</a:t>
            </a:r>
            <a:r>
              <a:rPr lang="en-US" altLang="zh-CN"/>
              <a:t>DeepSpeech</a:t>
            </a:r>
            <a:r>
              <a:rPr lang="zh-CN" altLang="en-US"/>
              <a:t>的详细信息。</a:t>
            </a:r>
            <a:endParaRPr lang="en-US" altLang="zh-CN"/>
          </a:p>
          <a:p>
            <a:r>
              <a:rPr lang="zh-CN" altLang="zh-CN"/>
              <a:t>第二个公式</a:t>
            </a:r>
            <a:endParaRPr lang="en-US" altLang="zh-CN"/>
          </a:p>
          <a:p>
            <a:r>
              <a:rPr lang="zh-CN" altLang="zh-CN"/>
              <a:t>下面这个公式是在考虑黑盒模型的迁移能力。</a:t>
            </a:r>
            <a:endParaRPr lang="en-US" altLang="zh-CN"/>
          </a:p>
          <a:p>
            <a:r>
              <a:rPr lang="zh-CN" altLang="zh-CN"/>
              <a:t>这里增加了一个期望：</a:t>
            </a:r>
            <a:endParaRPr lang="en-US" altLang="zh-CN"/>
          </a:p>
          <a:p>
            <a:r>
              <a:rPr lang="en-US" altLang="zh-CN"/>
              <a:t>Ex∼SE_{x\sim S} </a:t>
            </a:r>
            <a:endParaRPr lang="en-US" altLang="zh-CN"/>
          </a:p>
          <a:p>
            <a:r>
              <a:rPr lang="zh-CN" altLang="zh-CN"/>
              <a:t>意思就是：</a:t>
            </a:r>
            <a:endParaRPr lang="en-US" altLang="zh-CN"/>
          </a:p>
          <a:p>
            <a:r>
              <a:rPr lang="zh-CN" altLang="zh-CN"/>
              <a:t>不是只针对一条固定语音，而是从一个相似的语音输入分布</a:t>
            </a:r>
            <a:r>
              <a:rPr lang="en-US" altLang="zh-CN"/>
              <a:t> SS </a:t>
            </a:r>
            <a:r>
              <a:rPr lang="zh-CN" altLang="en-US"/>
              <a:t>中随机选择语音。</a:t>
            </a:r>
            <a:endParaRPr lang="en-US" altLang="zh-CN"/>
          </a:p>
          <a:p>
            <a:r>
              <a:rPr lang="en-US" altLang="zh-CN"/>
              <a:t>PPT</a:t>
            </a:r>
            <a:r>
              <a:rPr lang="zh-CN" altLang="en-US"/>
              <a:t>下面也特别说明，</a:t>
            </a:r>
            <a:r>
              <a:rPr lang="en-US" altLang="zh-CN"/>
              <a:t>SS</a:t>
            </a:r>
            <a:r>
              <a:rPr lang="zh-CN" altLang="en-US"/>
              <a:t>代表相似的音频输入分布。</a:t>
            </a:r>
            <a:endParaRPr lang="en-US" altLang="zh-CN"/>
          </a:p>
          <a:p>
            <a:r>
              <a:rPr lang="zh-CN" altLang="zh-CN"/>
              <a:t>为什么这么做？</a:t>
            </a:r>
            <a:endParaRPr lang="en-US" altLang="zh-CN"/>
          </a:p>
          <a:p>
            <a:r>
              <a:rPr lang="zh-CN" altLang="zh-CN"/>
              <a:t>因为不同</a:t>
            </a:r>
            <a:r>
              <a:rPr lang="en-US" altLang="zh-CN"/>
              <a:t>ASR</a:t>
            </a:r>
            <a:r>
              <a:rPr lang="zh-CN" altLang="en-US"/>
              <a:t>模型虽然结构和参数不同，但是对于目标语音命令，往往会学习到一些相似的高层特征。</a:t>
            </a:r>
            <a:endParaRPr lang="en-US" altLang="zh-CN"/>
          </a:p>
          <a:p>
            <a:r>
              <a:rPr lang="zh-CN" altLang="zh-CN"/>
              <a:t>所以作者希望通过不同的输入训练出一个更加通用的扰动这一页开始进入算法。</a:t>
            </a:r>
            <a:endParaRPr lang="en-US" altLang="zh-CN"/>
          </a:p>
          <a:p>
            <a:r>
              <a:rPr lang="zh-CN" altLang="zh-CN"/>
              <a:t>这里有两个公式，我们重点解释它们想表达什么，不需要把公式一个字一个字念出来。</a:t>
            </a:r>
            <a:endParaRPr lang="en-US" altLang="zh-CN"/>
          </a:p>
          <a:p>
            <a:r>
              <a:rPr lang="zh-CN" altLang="zh-CN"/>
              <a:t>第一个公式</a:t>
            </a:r>
            <a:endParaRPr lang="en-US" altLang="zh-CN"/>
          </a:p>
          <a:p>
            <a:r>
              <a:rPr lang="zh-CN" altLang="zh-CN"/>
              <a:t>公式里面：</a:t>
            </a:r>
            <a:endParaRPr lang="en-US" altLang="zh-CN"/>
          </a:p>
          <a:p>
            <a:r>
              <a:rPr lang="en-US" altLang="zh-CN"/>
              <a:t>xx</a:t>
            </a:r>
            <a:r>
              <a:rPr lang="zh-CN" altLang="en-US"/>
              <a:t>：原始语音</a:t>
            </a:r>
            <a:r>
              <a:rPr lang="en-US" altLang="zh-CN"/>
              <a:t> </a:t>
            </a:r>
            <a:endParaRPr lang="en-US" altLang="zh-CN"/>
          </a:p>
          <a:p>
            <a:r>
              <a:rPr lang="en-US" altLang="zh-CN"/>
              <a:t>δ\delta</a:t>
            </a:r>
            <a:r>
              <a:rPr lang="zh-CN" altLang="en-US"/>
              <a:t>：我们人为加入的对抗扰动</a:t>
            </a:r>
            <a:r>
              <a:rPr lang="en-US" altLang="zh-CN"/>
              <a:t> </a:t>
            </a:r>
            <a:endParaRPr lang="en-US" altLang="zh-CN"/>
          </a:p>
          <a:p>
            <a:r>
              <a:rPr lang="en-US" altLang="zh-CN"/>
              <a:t>y′y'</a:t>
            </a:r>
            <a:r>
              <a:rPr lang="zh-CN" altLang="en-US"/>
              <a:t>：攻击者希望模型输出的目标</a:t>
            </a:r>
            <a:r>
              <a:rPr lang="en-US" altLang="zh-CN"/>
              <a:t> </a:t>
            </a:r>
            <a:endParaRPr lang="en-US" altLang="zh-CN"/>
          </a:p>
          <a:p>
            <a:r>
              <a:rPr lang="en-US" altLang="zh-CN"/>
              <a:t>ff</a:t>
            </a:r>
            <a:r>
              <a:rPr lang="zh-CN" altLang="en-US"/>
              <a:t>：语音识别模型</a:t>
            </a:r>
            <a:r>
              <a:rPr lang="en-US" altLang="zh-CN"/>
              <a:t> </a:t>
            </a:r>
            <a:endParaRPr lang="en-US" altLang="zh-CN"/>
          </a:p>
          <a:p>
            <a:r>
              <a:rPr lang="en-US" altLang="zh-CN"/>
              <a:t>LL</a:t>
            </a:r>
            <a:r>
              <a:rPr lang="zh-CN" altLang="en-US"/>
              <a:t>：损失函数</a:t>
            </a:r>
            <a:r>
              <a:rPr lang="en-US" altLang="zh-CN"/>
              <a:t> </a:t>
            </a:r>
            <a:endParaRPr lang="en-US" altLang="zh-CN"/>
          </a:p>
          <a:p>
            <a:r>
              <a:rPr lang="zh-CN" altLang="zh-CN"/>
              <a:t>所以这个公式实际上是在做：</a:t>
            </a:r>
            <a:endParaRPr lang="en-US" altLang="zh-CN"/>
          </a:p>
          <a:p>
            <a:r>
              <a:rPr lang="zh-CN" altLang="zh-CN"/>
              <a:t>寻找一个合适的扰动</a:t>
            </a:r>
            <a:r>
              <a:rPr lang="en-US" altLang="zh-CN"/>
              <a:t>δ</a:t>
            </a:r>
            <a:r>
              <a:rPr lang="zh-CN" altLang="en-US"/>
              <a:t>，使得原始语音加上</a:t>
            </a:r>
            <a:r>
              <a:rPr lang="en-US" altLang="zh-CN"/>
              <a:t>δ</a:t>
            </a:r>
            <a:r>
              <a:rPr lang="zh-CN" altLang="en-US"/>
              <a:t>之后，</a:t>
            </a:r>
            <a:r>
              <a:rPr lang="en-US" altLang="zh-CN"/>
              <a:t>DeepSpeech</a:t>
            </a:r>
            <a:r>
              <a:rPr lang="zh-CN" altLang="en-US"/>
              <a:t>尽可能识别成目标命令</a:t>
            </a:r>
            <a:r>
              <a:rPr lang="en-US" altLang="zh-CN"/>
              <a:t> y′y'</a:t>
            </a:r>
            <a:r>
              <a:rPr lang="zh-CN" altLang="en-US"/>
              <a:t>。</a:t>
            </a:r>
            <a:endParaRPr lang="en-US" altLang="zh-CN"/>
          </a:p>
          <a:p>
            <a:r>
              <a:rPr lang="zh-CN" altLang="zh-CN"/>
              <a:t>这里作者使用</a:t>
            </a:r>
            <a:r>
              <a:rPr lang="en-US" altLang="zh-CN"/>
              <a:t>DeepSpeech</a:t>
            </a:r>
            <a:r>
              <a:rPr lang="zh-CN" altLang="en-US"/>
              <a:t>，是因为在威胁模型中，攻击者掌握</a:t>
            </a:r>
            <a:r>
              <a:rPr lang="en-US" altLang="zh-CN"/>
              <a:t>DeepSpeech</a:t>
            </a:r>
            <a:r>
              <a:rPr lang="zh-CN" altLang="en-US"/>
              <a:t>的详细信息。</a:t>
            </a:r>
            <a:endParaRPr lang="en-US" altLang="zh-CN"/>
          </a:p>
          <a:p>
            <a:r>
              <a:rPr lang="zh-CN" altLang="zh-CN"/>
              <a:t>第二个公式</a:t>
            </a:r>
            <a:endParaRPr lang="en-US" altLang="zh-CN"/>
          </a:p>
          <a:p>
            <a:r>
              <a:rPr lang="zh-CN" altLang="zh-CN"/>
              <a:t>下面这个公式是在考虑黑盒模型的迁移能力。</a:t>
            </a:r>
            <a:endParaRPr lang="en-US" altLang="zh-CN"/>
          </a:p>
          <a:p>
            <a:r>
              <a:rPr lang="zh-CN" altLang="zh-CN"/>
              <a:t>这里增加了一个期望：</a:t>
            </a:r>
            <a:endParaRPr lang="en-US" altLang="zh-CN"/>
          </a:p>
          <a:p>
            <a:r>
              <a:rPr lang="en-US" altLang="zh-CN"/>
              <a:t>Ex∼SE_{x\sim S} </a:t>
            </a:r>
            <a:endParaRPr lang="en-US" altLang="zh-CN"/>
          </a:p>
          <a:p>
            <a:r>
              <a:rPr lang="zh-CN" altLang="zh-CN"/>
              <a:t>意思就是：</a:t>
            </a:r>
            <a:endParaRPr lang="en-US" altLang="zh-CN"/>
          </a:p>
          <a:p>
            <a:r>
              <a:rPr lang="zh-CN" altLang="zh-CN"/>
              <a:t>不是只针对一条固定语音，而是从一个相似的语音输入分布</a:t>
            </a:r>
            <a:r>
              <a:rPr lang="en-US" altLang="zh-CN"/>
              <a:t> SS </a:t>
            </a:r>
            <a:r>
              <a:rPr lang="zh-CN" altLang="en-US"/>
              <a:t>中随机选择语音。</a:t>
            </a:r>
            <a:endParaRPr lang="en-US" altLang="zh-CN"/>
          </a:p>
          <a:p>
            <a:r>
              <a:rPr lang="en-US" altLang="zh-CN"/>
              <a:t>PPT</a:t>
            </a:r>
            <a:r>
              <a:rPr lang="zh-CN" altLang="en-US"/>
              <a:t>下面也特别说明，</a:t>
            </a:r>
            <a:r>
              <a:rPr lang="en-US" altLang="zh-CN"/>
              <a:t>SS</a:t>
            </a:r>
            <a:r>
              <a:rPr lang="zh-CN" altLang="en-US"/>
              <a:t>代表相似的音频输入分布。</a:t>
            </a:r>
            <a:endParaRPr lang="en-US" altLang="zh-CN"/>
          </a:p>
          <a:p>
            <a:r>
              <a:rPr lang="zh-CN" altLang="zh-CN"/>
              <a:t>为什么这么做？</a:t>
            </a:r>
            <a:endParaRPr lang="en-US" altLang="zh-CN"/>
          </a:p>
          <a:p>
            <a:r>
              <a:rPr lang="zh-CN" altLang="zh-CN"/>
              <a:t>因为不同</a:t>
            </a:r>
            <a:r>
              <a:rPr lang="en-US" altLang="zh-CN"/>
              <a:t>ASR</a:t>
            </a:r>
            <a:r>
              <a:rPr lang="zh-CN" altLang="en-US"/>
              <a:t>模型虽然结构和参数不同，但是对于目标语音命令，往往会学习到一些相似的高层特征。</a:t>
            </a:r>
            <a:endParaRPr lang="en-US" altLang="zh-CN"/>
          </a:p>
          <a:p>
            <a:r>
              <a:rPr lang="zh-CN" altLang="zh-CN"/>
              <a:t>所以作者希望通过不同的输入训练出一个更加通用的扰动</a:t>
            </a: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这一页是在解决两个问题：</a:t>
            </a:r>
            <a:endParaRPr lang="en-US" altLang="zh-CN"/>
          </a:p>
          <a:p>
            <a:r>
              <a:rPr lang="zh-CN" altLang="zh-CN"/>
              <a:t>时间不相关，以及内容不相关。</a:t>
            </a:r>
            <a:endParaRPr lang="en-US" altLang="zh-CN"/>
          </a:p>
          <a:p>
            <a:r>
              <a:rPr lang="zh-CN" altLang="zh-CN"/>
              <a:t>先看公式</a:t>
            </a:r>
            <a:r>
              <a:rPr lang="en-US" altLang="zh-CN"/>
              <a:t>3</a:t>
            </a:r>
            <a:r>
              <a:rPr lang="zh-CN" altLang="en-US"/>
              <a:t>。</a:t>
            </a:r>
            <a:endParaRPr lang="en-US" altLang="zh-CN"/>
          </a:p>
          <a:p>
            <a:r>
              <a:rPr lang="zh-CN" altLang="zh-CN"/>
              <a:t>这里增加了两个随机因素：</a:t>
            </a:r>
            <a:endParaRPr lang="en-US" altLang="zh-CN"/>
          </a:p>
          <a:p>
            <a:r>
              <a:rPr lang="en-US" altLang="zh-CN"/>
              <a:t>τ\tau </a:t>
            </a:r>
            <a:endParaRPr lang="en-US" altLang="zh-CN"/>
          </a:p>
          <a:p>
            <a:r>
              <a:rPr lang="zh-CN" altLang="zh-CN"/>
              <a:t>和</a:t>
            </a:r>
            <a:endParaRPr lang="en-US" altLang="zh-CN"/>
          </a:p>
          <a:p>
            <a:r>
              <a:rPr lang="en-US" altLang="zh-CN"/>
              <a:t>x∼{S,D}x\sim\{S,D\} </a:t>
            </a:r>
            <a:endParaRPr lang="en-US" altLang="zh-CN"/>
          </a:p>
          <a:p>
            <a:r>
              <a:rPr lang="zh-CN" altLang="zh-CN"/>
              <a:t>其中</a:t>
            </a:r>
            <a:r>
              <a:rPr lang="en-US" altLang="zh-CN"/>
              <a:t> τ\tau</a:t>
            </a:r>
            <a:r>
              <a:rPr lang="zh-CN" altLang="en-US"/>
              <a:t>可以理解成扰动加入的时间位置。</a:t>
            </a:r>
            <a:endParaRPr lang="en-US" altLang="zh-CN"/>
          </a:p>
          <a:p>
            <a:r>
              <a:rPr lang="zh-CN" altLang="zh-CN"/>
              <a:t>作者不是固定在一个时间点加入扰动，而是在一定范围内随机选择。</a:t>
            </a:r>
            <a:endParaRPr lang="en-US" altLang="zh-CN"/>
          </a:p>
          <a:p>
            <a:r>
              <a:rPr lang="zh-CN" altLang="zh-CN"/>
              <a:t>所以即使用户什么时候开始讲话发生变化，扰动也有可能发挥作用。</a:t>
            </a:r>
            <a:endParaRPr lang="en-US" altLang="zh-CN"/>
          </a:p>
          <a:p>
            <a:r>
              <a:rPr lang="en-US" altLang="zh-CN"/>
              <a:t>PPT</a:t>
            </a:r>
            <a:r>
              <a:rPr lang="zh-CN" altLang="en-US"/>
              <a:t>下面明确说：</a:t>
            </a:r>
            <a:endParaRPr lang="en-US" altLang="zh-CN"/>
          </a:p>
          <a:p>
            <a:r>
              <a:rPr lang="zh-CN" altLang="zh-CN"/>
              <a:t>随机选择</a:t>
            </a:r>
            <a:r>
              <a:rPr lang="en-US" altLang="zh-CN"/>
              <a:t>0</a:t>
            </a:r>
            <a:r>
              <a:rPr lang="zh-CN" altLang="en-US"/>
              <a:t>到</a:t>
            </a:r>
            <a:r>
              <a:rPr lang="en-US" altLang="zh-CN"/>
              <a:t> N−MN-M </a:t>
            </a:r>
            <a:r>
              <a:rPr lang="zh-CN" altLang="en-US"/>
              <a:t>范围内的时间延迟</a:t>
            </a:r>
            <a:r>
              <a:rPr lang="en-US" altLang="zh-CN"/>
              <a:t>τ</a:t>
            </a:r>
            <a:r>
              <a:rPr lang="zh-CN" altLang="en-US"/>
              <a:t>。</a:t>
            </a:r>
            <a:endParaRPr lang="en-US" altLang="zh-CN"/>
          </a:p>
          <a:p>
            <a:r>
              <a:rPr lang="zh-CN" altLang="zh-CN"/>
              <a:t>其中</a:t>
            </a:r>
            <a:r>
              <a:rPr lang="en-US" altLang="zh-CN"/>
              <a:t>M</a:t>
            </a:r>
            <a:r>
              <a:rPr lang="zh-CN" altLang="en-US"/>
              <a:t>是扰动长度，</a:t>
            </a:r>
            <a:r>
              <a:rPr lang="en-US" altLang="zh-CN"/>
              <a:t>N</a:t>
            </a:r>
            <a:r>
              <a:rPr lang="zh-CN" altLang="en-US"/>
              <a:t>是原始语音长度。</a:t>
            </a:r>
            <a:endParaRPr lang="en-US" altLang="zh-CN"/>
          </a:p>
          <a:p>
            <a:r>
              <a:rPr lang="zh-CN" altLang="zh-CN"/>
              <a:t>下面的</a:t>
            </a:r>
            <a:r>
              <a:rPr lang="en-US" altLang="zh-CN"/>
              <a:t>Content Independent</a:t>
            </a:r>
            <a:r>
              <a:rPr lang="zh-CN" altLang="en-US"/>
              <a:t>则是在解决</a:t>
            </a:r>
            <a:r>
              <a:rPr lang="en-US" altLang="zh-CN"/>
              <a:t>“</a:t>
            </a:r>
            <a:r>
              <a:rPr lang="zh-CN" altLang="en-US"/>
              <a:t>内容</a:t>
            </a:r>
            <a:r>
              <a:rPr lang="en-US" altLang="zh-CN"/>
              <a:t>”</a:t>
            </a:r>
            <a:r>
              <a:rPr lang="zh-CN" altLang="en-US"/>
              <a:t>的问题。</a:t>
            </a:r>
            <a:endParaRPr lang="en-US" altLang="zh-CN"/>
          </a:p>
          <a:p>
            <a:r>
              <a:rPr lang="zh-CN" altLang="zh-CN"/>
              <a:t>作者让扰动在大量不同的音频输入上生成，同时对输入语音的音量进行归一化和调整。</a:t>
            </a:r>
            <a:endParaRPr lang="en-US" altLang="zh-CN"/>
          </a:p>
          <a:p>
            <a:r>
              <a:rPr lang="zh-CN" altLang="zh-CN"/>
              <a:t>所以这一页可以简单总结：</a:t>
            </a:r>
            <a:endParaRPr lang="en-US" altLang="zh-CN"/>
          </a:p>
          <a:p>
            <a:r>
              <a:rPr lang="zh-CN" altLang="zh-CN"/>
              <a:t>时间上随机，避免依赖固定位置；内容上扩大数据范围，避免只针对某一句话。</a:t>
            </a: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这一页开始考虑真实硬件的问题。</a:t>
            </a:r>
            <a:endParaRPr lang="en-US" altLang="zh-CN"/>
          </a:p>
          <a:p>
            <a:r>
              <a:rPr lang="zh-CN" altLang="zh-CN"/>
              <a:t>作者发现，一些使用</a:t>
            </a:r>
            <a:r>
              <a:rPr lang="en-US" altLang="zh-CN"/>
              <a:t>MEMS</a:t>
            </a:r>
            <a:r>
              <a:rPr lang="zh-CN" altLang="en-US"/>
              <a:t>麦克风的设备对激光并不敏感。</a:t>
            </a:r>
            <a:endParaRPr lang="en-US" altLang="zh-CN"/>
          </a:p>
          <a:p>
            <a:r>
              <a:rPr lang="zh-CN" altLang="zh-CN"/>
              <a:t>也就是说，同样的激光照射过去，有些设备只能收到比较低强度的激光诱导扰动。</a:t>
            </a:r>
            <a:endParaRPr lang="en-US" altLang="zh-CN"/>
          </a:p>
          <a:p>
            <a:r>
              <a:rPr lang="zh-CN" altLang="zh-CN"/>
              <a:t>那么攻击就可能失败。</a:t>
            </a:r>
            <a:endParaRPr lang="en-US" altLang="zh-CN"/>
          </a:p>
          <a:p>
            <a:r>
              <a:rPr lang="zh-CN" altLang="zh-CN"/>
              <a:t>所以作者在这里对扰动幅度设置了约束。</a:t>
            </a:r>
            <a:endParaRPr lang="en-US" altLang="zh-CN"/>
          </a:p>
          <a:p>
            <a:r>
              <a:rPr lang="en-US" altLang="zh-CN"/>
              <a:t>PPT</a:t>
            </a:r>
            <a:r>
              <a:rPr lang="zh-CN" altLang="en-US"/>
              <a:t>中提到两个参数：</a:t>
            </a:r>
            <a:endParaRPr lang="en-US" altLang="zh-CN"/>
          </a:p>
          <a:p>
            <a:r>
              <a:rPr lang="en-US" altLang="zh-CN"/>
              <a:t>a</a:t>
            </a:r>
            <a:r>
              <a:rPr lang="zh-CN" altLang="en-US"/>
              <a:t>和</a:t>
            </a:r>
            <a:r>
              <a:rPr lang="en-US" altLang="zh-CN"/>
              <a:t>b</a:t>
            </a:r>
            <a:r>
              <a:rPr lang="zh-CN" altLang="en-US"/>
              <a:t>。</a:t>
            </a:r>
            <a:endParaRPr lang="en-US" altLang="zh-CN"/>
          </a:p>
          <a:p>
            <a:r>
              <a:rPr lang="zh-CN" altLang="zh-CN"/>
              <a:t>可以简单理解成：</a:t>
            </a:r>
            <a:endParaRPr lang="en-US" altLang="zh-CN"/>
          </a:p>
          <a:p>
            <a:r>
              <a:rPr lang="en-US" altLang="zh-CN"/>
              <a:t>aa</a:t>
            </a:r>
            <a:r>
              <a:rPr lang="zh-CN" altLang="en-US"/>
              <a:t>：扰动幅度的下限</a:t>
            </a:r>
            <a:r>
              <a:rPr lang="en-US" altLang="zh-CN"/>
              <a:t> </a:t>
            </a:r>
            <a:endParaRPr lang="en-US" altLang="zh-CN"/>
          </a:p>
          <a:p>
            <a:r>
              <a:rPr lang="en-US" altLang="zh-CN"/>
              <a:t>bb</a:t>
            </a:r>
            <a:r>
              <a:rPr lang="zh-CN" altLang="en-US"/>
              <a:t>：扰动幅度的上限</a:t>
            </a:r>
            <a:r>
              <a:rPr lang="en-US" altLang="zh-CN"/>
              <a:t> </a:t>
            </a:r>
            <a:endParaRPr lang="en-US" altLang="zh-CN"/>
          </a:p>
          <a:p>
            <a:r>
              <a:rPr lang="zh-CN" altLang="zh-CN"/>
              <a:t>其中</a:t>
            </a:r>
            <a:r>
              <a:rPr lang="en-US" altLang="zh-CN"/>
              <a:t>b</a:t>
            </a:r>
            <a:r>
              <a:rPr lang="zh-CN" altLang="en-US"/>
              <a:t>由设备的频率响应决定。</a:t>
            </a:r>
            <a:endParaRPr lang="en-US" altLang="zh-CN"/>
          </a:p>
          <a:p>
            <a:r>
              <a:rPr lang="zh-CN" altLang="zh-CN"/>
              <a:t>而设置</a:t>
            </a:r>
            <a:r>
              <a:rPr lang="en-US" altLang="zh-CN"/>
              <a:t>a</a:t>
            </a:r>
            <a:r>
              <a:rPr lang="zh-CN" altLang="en-US"/>
              <a:t>，是为了避免约束太严格，导致扰动根本生成不出来。</a:t>
            </a:r>
            <a:endParaRPr lang="en-US" altLang="zh-CN"/>
          </a:p>
          <a:p>
            <a:r>
              <a:rPr lang="zh-CN" altLang="zh-CN"/>
              <a:t>所以这一页的核心意思是：</a:t>
            </a:r>
            <a:endParaRPr lang="en-US" altLang="zh-CN"/>
          </a:p>
          <a:p>
            <a:r>
              <a:rPr lang="zh-CN" altLang="zh-CN"/>
              <a:t>不同设备的麦克风敏感度不同，因此算法需要考虑设备本身的物理特性。</a:t>
            </a: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这一页是论文的核心方法之一。</a:t>
            </a:r>
            <a:endParaRPr lang="en-US" altLang="zh-CN"/>
          </a:p>
          <a:p>
            <a:r>
              <a:rPr lang="zh-CN" altLang="zh-CN"/>
              <a:t>作者要解决的是刚才第</a:t>
            </a:r>
            <a:r>
              <a:rPr lang="en-US" altLang="zh-CN"/>
              <a:t>3</a:t>
            </a:r>
            <a:r>
              <a:rPr lang="zh-CN" altLang="en-US"/>
              <a:t>页提到的：</a:t>
            </a:r>
            <a:endParaRPr lang="en-US" altLang="zh-CN"/>
          </a:p>
          <a:p>
            <a:r>
              <a:rPr lang="en-US" altLang="zh-CN"/>
              <a:t>FSF</a:t>
            </a:r>
            <a:r>
              <a:rPr lang="zh-CN" altLang="en-US"/>
              <a:t>，也就是频率选择性衰落。</a:t>
            </a:r>
            <a:endParaRPr lang="en-US" altLang="zh-CN"/>
          </a:p>
          <a:p>
            <a:r>
              <a:rPr lang="zh-CN" altLang="zh-CN"/>
              <a:t>作者提出：</a:t>
            </a:r>
            <a:endParaRPr lang="en-US" altLang="zh-CN"/>
          </a:p>
          <a:p>
            <a:r>
              <a:rPr lang="en-US" altLang="zh-CN"/>
              <a:t>SAE-TFI</a:t>
            </a:r>
            <a:r>
              <a:rPr lang="zh-CN" altLang="en-US"/>
              <a:t>：</a:t>
            </a:r>
            <a:r>
              <a:rPr lang="en-US" altLang="zh-CN"/>
              <a:t>Selective Amplitude Enhancement based on Time-Frequency Interconversion</a:t>
            </a:r>
            <a:r>
              <a:rPr lang="zh-CN" altLang="en-US"/>
              <a:t>。</a:t>
            </a:r>
            <a:endParaRPr lang="en-US" altLang="zh-CN"/>
          </a:p>
          <a:p>
            <a:r>
              <a:rPr lang="zh-CN" altLang="zh-CN"/>
              <a:t>它的目标就是：</a:t>
            </a:r>
            <a:endParaRPr lang="en-US" altLang="zh-CN"/>
          </a:p>
          <a:p>
            <a:r>
              <a:rPr lang="zh-CN" altLang="zh-CN"/>
              <a:t>补偿激光通道对高频成分造成的衰减。</a:t>
            </a:r>
            <a:endParaRPr lang="en-US" altLang="zh-CN"/>
          </a:p>
          <a:p>
            <a:r>
              <a:rPr lang="zh-CN" altLang="zh-CN"/>
              <a:t>我们看</a:t>
            </a:r>
            <a:r>
              <a:rPr lang="en-US" altLang="zh-CN"/>
              <a:t>PPT</a:t>
            </a:r>
            <a:r>
              <a:rPr lang="zh-CN" altLang="en-US"/>
              <a:t>上的流程图。</a:t>
            </a:r>
            <a:endParaRPr lang="en-US" altLang="zh-CN"/>
          </a:p>
          <a:p>
            <a:r>
              <a:rPr lang="zh-CN" altLang="zh-CN"/>
              <a:t>最开始是扰动</a:t>
            </a:r>
            <a:r>
              <a:rPr lang="en-US" altLang="zh-CN"/>
              <a:t>δ</a:t>
            </a:r>
            <a:r>
              <a:rPr lang="zh-CN" altLang="en-US"/>
              <a:t>。</a:t>
            </a:r>
            <a:endParaRPr lang="en-US" altLang="zh-CN"/>
          </a:p>
          <a:p>
            <a:r>
              <a:rPr lang="zh-CN" altLang="zh-CN"/>
              <a:t>第一步，通过</a:t>
            </a:r>
            <a:r>
              <a:rPr lang="en-US" altLang="zh-CN"/>
              <a:t>STFT</a:t>
            </a:r>
            <a:r>
              <a:rPr lang="zh-CN" altLang="en-US"/>
              <a:t>把信号从时域转换到频域。</a:t>
            </a:r>
            <a:endParaRPr lang="en-US" altLang="zh-CN"/>
          </a:p>
          <a:p>
            <a:r>
              <a:rPr lang="zh-CN" altLang="zh-CN"/>
              <a:t>进入</a:t>
            </a:r>
            <a:r>
              <a:rPr lang="en-US" altLang="zh-CN"/>
              <a:t>Frequency Domain</a:t>
            </a:r>
            <a:r>
              <a:rPr lang="zh-CN" altLang="en-US"/>
              <a:t>之后，可以把信号看成不同频率成分的：</a:t>
            </a:r>
            <a:endParaRPr lang="en-US" altLang="zh-CN"/>
          </a:p>
          <a:p>
            <a:r>
              <a:rPr lang="en-US" altLang="zh-CN"/>
              <a:t>Amplitude</a:t>
            </a:r>
            <a:r>
              <a:rPr lang="zh-CN" altLang="en-US"/>
              <a:t>，也就是幅度</a:t>
            </a:r>
            <a:endParaRPr lang="en-US" altLang="zh-CN"/>
          </a:p>
          <a:p>
            <a:r>
              <a:rPr lang="zh-CN" altLang="zh-CN"/>
              <a:t>和</a:t>
            </a:r>
            <a:endParaRPr lang="en-US" altLang="zh-CN"/>
          </a:p>
          <a:p>
            <a:r>
              <a:rPr lang="en-US" altLang="zh-CN"/>
              <a:t>Phase</a:t>
            </a:r>
            <a:r>
              <a:rPr lang="zh-CN" altLang="en-US"/>
              <a:t>，也就是相位。</a:t>
            </a:r>
            <a:endParaRPr lang="en-US" altLang="zh-CN"/>
          </a:p>
          <a:p>
            <a:r>
              <a:rPr lang="zh-CN" altLang="zh-CN"/>
              <a:t>然后作者对需要补偿的频率成分进行</a:t>
            </a:r>
            <a:r>
              <a:rPr lang="en-US" altLang="zh-CN"/>
              <a:t>Linear Enhancement</a:t>
            </a:r>
            <a:r>
              <a:rPr lang="zh-CN" altLang="en-US"/>
              <a:t>，也就是线性增强。</a:t>
            </a:r>
            <a:endParaRPr lang="en-US" altLang="zh-CN"/>
          </a:p>
          <a:p>
            <a:r>
              <a:rPr lang="zh-CN" altLang="zh-CN"/>
              <a:t>最后通过</a:t>
            </a:r>
            <a:r>
              <a:rPr lang="en-US" altLang="zh-CN"/>
              <a:t>iSTFT</a:t>
            </a:r>
            <a:r>
              <a:rPr lang="zh-CN" altLang="en-US"/>
              <a:t>重新变回时域，得到处理后的扰动。</a:t>
            </a:r>
            <a:endParaRPr lang="en-US" altLang="zh-CN"/>
          </a:p>
          <a:p>
            <a:r>
              <a:rPr lang="zh-CN" altLang="zh-CN"/>
              <a:t>所以整个流程记成一句话就行：</a:t>
            </a:r>
            <a:endParaRPr lang="en-US" altLang="zh-CN"/>
          </a:p>
          <a:p>
            <a:r>
              <a:rPr lang="zh-CN" altLang="zh-CN"/>
              <a:t>时域</a:t>
            </a:r>
            <a:r>
              <a:rPr lang="en-US" altLang="zh-CN"/>
              <a:t> → STFT → </a:t>
            </a:r>
            <a:r>
              <a:rPr lang="zh-CN" altLang="en-US"/>
              <a:t>频率幅度增强</a:t>
            </a:r>
            <a:r>
              <a:rPr lang="en-US" altLang="zh-CN"/>
              <a:t> → iSTFT → </a:t>
            </a:r>
            <a:r>
              <a:rPr lang="zh-CN" altLang="en-US"/>
              <a:t>回到时域。</a:t>
            </a:r>
            <a:endParaRPr lang="en-US" altLang="zh-CN"/>
          </a:p>
          <a:p>
            <a:r>
              <a:rPr lang="zh-CN" altLang="zh-CN"/>
              <a:t>这样就可以针对激光通道造成的频率衰减进行补偿。</a:t>
            </a:r>
            <a:r>
              <a:rPr lang="en-US" altLang="zh-CN"/>
              <a:t> </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这一页是在第</a:t>
            </a:r>
            <a:r>
              <a:rPr lang="en-US" altLang="zh-CN"/>
              <a:t>8</a:t>
            </a:r>
            <a:r>
              <a:rPr lang="zh-CN" altLang="en-US"/>
              <a:t>页基础上进一步把真实物理环境加入公式。</a:t>
            </a:r>
            <a:endParaRPr lang="en-US" altLang="zh-CN"/>
          </a:p>
          <a:p>
            <a:r>
              <a:rPr lang="zh-CN" altLang="zh-CN"/>
              <a:t>这里公式</a:t>
            </a:r>
            <a:r>
              <a:rPr lang="en-US" altLang="zh-CN"/>
              <a:t>4</a:t>
            </a:r>
            <a:r>
              <a:rPr lang="zh-CN" altLang="en-US"/>
              <a:t>相比前面的公式，多了一个：</a:t>
            </a:r>
            <a:endParaRPr lang="en-US" altLang="zh-CN"/>
          </a:p>
          <a:p>
            <a:r>
              <a:rPr lang="en-US" altLang="zh-CN"/>
              <a:t>h∼{H1,H2}h\sim\{H_1,H_2\} </a:t>
            </a:r>
            <a:endParaRPr lang="en-US" altLang="zh-CN"/>
          </a:p>
          <a:p>
            <a:r>
              <a:rPr lang="zh-CN" altLang="zh-CN"/>
              <a:t>这个</a:t>
            </a:r>
            <a:r>
              <a:rPr lang="en-US" altLang="zh-CN"/>
              <a:t> hh </a:t>
            </a:r>
            <a:r>
              <a:rPr lang="zh-CN" altLang="en-US"/>
              <a:t>就是房间脉冲响应，也就是</a:t>
            </a:r>
            <a:r>
              <a:rPr lang="en-US" altLang="zh-CN"/>
              <a:t>RIR</a:t>
            </a:r>
            <a:r>
              <a:rPr lang="zh-CN" altLang="en-US"/>
              <a:t>。</a:t>
            </a:r>
            <a:endParaRPr lang="en-US" altLang="zh-CN"/>
          </a:p>
          <a:p>
            <a:r>
              <a:rPr lang="zh-CN" altLang="zh-CN"/>
              <a:t>作者分别收集了：</a:t>
            </a:r>
            <a:endParaRPr lang="en-US" altLang="zh-CN"/>
          </a:p>
          <a:p>
            <a:r>
              <a:rPr lang="zh-CN" altLang="zh-CN"/>
              <a:t>声音通道的</a:t>
            </a:r>
            <a:r>
              <a:rPr lang="en-US" altLang="zh-CN"/>
              <a:t>RIR</a:t>
            </a:r>
            <a:r>
              <a:rPr lang="zh-CN" altLang="en-US"/>
              <a:t>；</a:t>
            </a:r>
            <a:r>
              <a:rPr lang="en-US" altLang="zh-CN"/>
              <a:t> </a:t>
            </a:r>
            <a:endParaRPr lang="en-US" altLang="zh-CN"/>
          </a:p>
          <a:p>
            <a:r>
              <a:rPr lang="zh-CN" altLang="zh-CN"/>
              <a:t>激光通道的</a:t>
            </a:r>
            <a:r>
              <a:rPr lang="en-US" altLang="zh-CN"/>
              <a:t>RIR</a:t>
            </a:r>
            <a:r>
              <a:rPr lang="zh-CN" altLang="en-US"/>
              <a:t>。</a:t>
            </a:r>
            <a:r>
              <a:rPr lang="en-US" altLang="zh-CN"/>
              <a:t> </a:t>
            </a:r>
            <a:endParaRPr lang="en-US" altLang="zh-CN"/>
          </a:p>
          <a:p>
            <a:r>
              <a:rPr lang="zh-CN" altLang="zh-CN"/>
              <a:t>这样做就是模拟真实环境中信号传播造成的变化。</a:t>
            </a:r>
            <a:endParaRPr lang="en-US" altLang="zh-CN"/>
          </a:p>
          <a:p>
            <a:r>
              <a:rPr lang="zh-CN" altLang="zh-CN"/>
              <a:t>公式下面还有一个约束：</a:t>
            </a:r>
            <a:endParaRPr lang="en-US" altLang="zh-CN"/>
          </a:p>
          <a:p>
            <a:r>
              <a:rPr lang="en-US" altLang="zh-CN"/>
              <a:t>a≤δ^≤ba\leq\hat{\delta}\leq b </a:t>
            </a:r>
            <a:endParaRPr lang="en-US" altLang="zh-CN"/>
          </a:p>
          <a:p>
            <a:r>
              <a:rPr lang="zh-CN" altLang="zh-CN"/>
              <a:t>这里的</a:t>
            </a:r>
            <a:r>
              <a:rPr lang="en-US" altLang="zh-CN"/>
              <a:t> δ^\hat{\delta} </a:t>
            </a:r>
            <a:r>
              <a:rPr lang="zh-CN" altLang="en-US"/>
              <a:t>是经过物理通道之后的扰动。</a:t>
            </a:r>
            <a:endParaRPr lang="en-US" altLang="zh-CN"/>
          </a:p>
          <a:p>
            <a:r>
              <a:rPr lang="zh-CN" altLang="zh-CN"/>
              <a:t>同时：</a:t>
            </a:r>
            <a:endParaRPr lang="en-US" altLang="zh-CN"/>
          </a:p>
          <a:p>
            <a:r>
              <a:rPr lang="en-US" altLang="zh-CN"/>
              <a:t>nn</a:t>
            </a:r>
            <a:r>
              <a:rPr lang="zh-CN" altLang="en-US"/>
              <a:t>表示高斯白噪声；</a:t>
            </a:r>
            <a:r>
              <a:rPr lang="en-US" altLang="zh-CN"/>
              <a:t> </a:t>
            </a:r>
            <a:endParaRPr lang="en-US" altLang="zh-CN"/>
          </a:p>
          <a:p>
            <a:r>
              <a:rPr lang="en-US" altLang="zh-CN"/>
              <a:t>F(⋅)F(\cdot)</a:t>
            </a:r>
            <a:r>
              <a:rPr lang="zh-CN" altLang="en-US"/>
              <a:t>表示带通滤波；</a:t>
            </a:r>
            <a:r>
              <a:rPr lang="en-US" altLang="zh-CN"/>
              <a:t> </a:t>
            </a:r>
            <a:endParaRPr lang="en-US" altLang="zh-CN"/>
          </a:p>
          <a:p>
            <a:r>
              <a:rPr lang="en-US" altLang="zh-CN"/>
              <a:t>hh</a:t>
            </a:r>
            <a:r>
              <a:rPr lang="zh-CN" altLang="en-US"/>
              <a:t>表示房间脉冲响应；</a:t>
            </a:r>
            <a:r>
              <a:rPr lang="en-US" altLang="zh-CN"/>
              <a:t> </a:t>
            </a:r>
            <a:endParaRPr lang="en-US" altLang="zh-CN"/>
          </a:p>
          <a:p>
            <a:r>
              <a:rPr lang="en-US" altLang="zh-CN"/>
              <a:t>a,ba,b</a:t>
            </a:r>
            <a:r>
              <a:rPr lang="zh-CN" altLang="en-US"/>
              <a:t>限制最终扰动的幅度。</a:t>
            </a:r>
            <a:r>
              <a:rPr lang="en-US" altLang="zh-CN"/>
              <a:t> </a:t>
            </a:r>
            <a:endParaRPr lang="en-US" altLang="zh-CN"/>
          </a:p>
          <a:p>
            <a:r>
              <a:rPr lang="zh-CN" altLang="zh-CN"/>
              <a:t>所以第</a:t>
            </a:r>
            <a:r>
              <a:rPr lang="en-US" altLang="zh-CN"/>
              <a:t>8</a:t>
            </a:r>
            <a:r>
              <a:rPr lang="zh-CN" altLang="en-US"/>
              <a:t>、</a:t>
            </a:r>
            <a:r>
              <a:rPr lang="en-US" altLang="zh-CN"/>
              <a:t>9</a:t>
            </a:r>
            <a:r>
              <a:rPr lang="zh-CN" altLang="en-US"/>
              <a:t>页连起来就是：</a:t>
            </a:r>
            <a:endParaRPr lang="en-US" altLang="zh-CN"/>
          </a:p>
          <a:p>
            <a:r>
              <a:rPr lang="zh-CN" altLang="zh-CN"/>
              <a:t>第</a:t>
            </a:r>
            <a:r>
              <a:rPr lang="en-US" altLang="zh-CN"/>
              <a:t>8</a:t>
            </a:r>
            <a:r>
              <a:rPr lang="zh-CN" altLang="en-US"/>
              <a:t>页解决</a:t>
            </a:r>
            <a:r>
              <a:rPr lang="en-US" altLang="zh-CN"/>
              <a:t>“</a:t>
            </a:r>
            <a:r>
              <a:rPr lang="zh-CN" altLang="en-US"/>
              <a:t>频率衰减怎么补偿</a:t>
            </a:r>
            <a:r>
              <a:rPr lang="en-US" altLang="zh-CN"/>
              <a:t>”</a:t>
            </a:r>
            <a:r>
              <a:rPr lang="zh-CN" altLang="en-US"/>
              <a:t>，第</a:t>
            </a:r>
            <a:r>
              <a:rPr lang="en-US" altLang="zh-CN"/>
              <a:t>9</a:t>
            </a:r>
            <a:r>
              <a:rPr lang="zh-CN" altLang="en-US"/>
              <a:t>页解决</a:t>
            </a:r>
            <a:r>
              <a:rPr lang="en-US" altLang="zh-CN"/>
              <a:t>“</a:t>
            </a:r>
            <a:r>
              <a:rPr lang="zh-CN" altLang="en-US"/>
              <a:t>真实环境中的传播、噪声和设备限制怎么考虑</a:t>
            </a:r>
            <a:r>
              <a:rPr lang="en-US" altLang="zh-CN"/>
              <a:t>”</a:t>
            </a:r>
            <a:r>
              <a:rPr lang="zh-CN" altLang="en-US"/>
              <a:t>。</a:t>
            </a:r>
            <a:endParaRPr lang="en-US" altLang="zh-CN"/>
          </a:p>
          <a:p>
            <a:r>
              <a:rPr lang="zh-CN" altLang="zh-CN"/>
              <a:t>这两页就是</a:t>
            </a:r>
            <a:r>
              <a:rPr lang="en-US" altLang="zh-CN"/>
              <a:t>LaserAdv</a:t>
            </a:r>
            <a:r>
              <a:rPr lang="zh-CN" altLang="en-US"/>
              <a:t>从数字对抗攻击走向物理激光攻击的关键。</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下面进入实验。</a:t>
            </a:r>
            <a:endParaRPr lang="en-US" altLang="zh-CN"/>
          </a:p>
          <a:p>
            <a:r>
              <a:rPr lang="zh-CN" altLang="zh-CN"/>
              <a:t>作者测试了</a:t>
            </a:r>
            <a:r>
              <a:rPr lang="en-US" altLang="zh-CN"/>
              <a:t>3</a:t>
            </a:r>
            <a:r>
              <a:rPr lang="zh-CN" altLang="en-US"/>
              <a:t>个语音识别模型：</a:t>
            </a:r>
            <a:endParaRPr lang="en-US" altLang="zh-CN"/>
          </a:p>
          <a:p>
            <a:r>
              <a:rPr lang="en-US" altLang="zh-CN"/>
              <a:t>DeepSpeech</a:t>
            </a:r>
            <a:r>
              <a:rPr lang="zh-CN" altLang="en-US"/>
              <a:t>、</a:t>
            </a:r>
            <a:r>
              <a:rPr lang="en-US" altLang="zh-CN"/>
              <a:t>iFlytek</a:t>
            </a:r>
            <a:r>
              <a:rPr lang="zh-CN" altLang="en-US"/>
              <a:t>和</a:t>
            </a:r>
            <a:r>
              <a:rPr lang="en-US" altLang="zh-CN"/>
              <a:t>Whisper</a:t>
            </a:r>
            <a:r>
              <a:rPr lang="zh-CN" altLang="en-US"/>
              <a:t>。</a:t>
            </a:r>
            <a:endParaRPr lang="en-US" altLang="zh-CN"/>
          </a:p>
          <a:p>
            <a:r>
              <a:rPr lang="zh-CN" altLang="zh-CN"/>
              <a:t>硬件方面测试了</a:t>
            </a:r>
            <a:r>
              <a:rPr lang="en-US" altLang="zh-CN"/>
              <a:t>6</a:t>
            </a:r>
            <a:r>
              <a:rPr lang="zh-CN" altLang="en-US"/>
              <a:t>款智能手机。</a:t>
            </a:r>
            <a:endParaRPr lang="en-US" altLang="zh-CN"/>
          </a:p>
          <a:p>
            <a:r>
              <a:rPr lang="zh-CN" altLang="zh-CN"/>
              <a:t>数据集包含</a:t>
            </a:r>
            <a:r>
              <a:rPr lang="en-US" altLang="zh-CN"/>
              <a:t>12260</a:t>
            </a:r>
            <a:r>
              <a:rPr lang="zh-CN" altLang="en-US"/>
              <a:t>条语音命令。</a:t>
            </a:r>
            <a:endParaRPr lang="en-US" altLang="zh-CN"/>
          </a:p>
          <a:p>
            <a:r>
              <a:rPr lang="zh-CN" altLang="zh-CN"/>
              <a:t>实验使用的是</a:t>
            </a:r>
            <a:r>
              <a:rPr lang="en-US" altLang="zh-CN"/>
              <a:t>5mW</a:t>
            </a:r>
            <a:r>
              <a:rPr lang="zh-CN" altLang="en-US"/>
              <a:t>、</a:t>
            </a:r>
            <a:r>
              <a:rPr lang="en-US" altLang="zh-CN"/>
              <a:t>650nm</a:t>
            </a:r>
            <a:r>
              <a:rPr lang="zh-CN" altLang="en-US"/>
              <a:t>的红色激光二极管。</a:t>
            </a:r>
            <a:endParaRPr lang="en-US" altLang="zh-CN"/>
          </a:p>
          <a:p>
            <a:r>
              <a:rPr lang="zh-CN" altLang="zh-CN"/>
              <a:t>最后用</a:t>
            </a:r>
            <a:r>
              <a:rPr lang="en-US" altLang="zh-CN"/>
              <a:t>Attack Success Rate</a:t>
            </a:r>
            <a:r>
              <a:rPr lang="zh-CN" altLang="en-US"/>
              <a:t>，也就是攻击成功率，来评价攻击效果。</a:t>
            </a:r>
            <a:endParaRPr lang="en-US" altLang="zh-CN"/>
          </a:p>
          <a:p>
            <a:r>
              <a:rPr lang="zh-CN" altLang="zh-CN"/>
              <a:t>简单来说，就是看有多少比例的语音最终被成功识别成攻击者指定的目标。</a:t>
            </a:r>
            <a:endParaRPr lang="en-US" altLang="zh-CN"/>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这一页是整体实验结果。</a:t>
            </a:r>
            <a:endParaRPr lang="en-US" altLang="zh-CN"/>
          </a:p>
          <a:p>
            <a:r>
              <a:rPr lang="zh-CN" altLang="zh-CN"/>
              <a:t>作者发现，一个扰动可以让不同的语音命令最终被识别成指定的目标命令。</a:t>
            </a:r>
            <a:endParaRPr lang="en-US" altLang="zh-CN"/>
          </a:p>
          <a:p>
            <a:r>
              <a:rPr lang="zh-CN" altLang="zh-CN"/>
              <a:t>三个系统的最高攻击成功率分别是：</a:t>
            </a:r>
            <a:endParaRPr lang="en-US" altLang="zh-CN"/>
          </a:p>
          <a:p>
            <a:r>
              <a:rPr lang="en-US" altLang="zh-CN"/>
              <a:t>DeepSpeech</a:t>
            </a:r>
            <a:r>
              <a:rPr lang="zh-CN" altLang="en-US"/>
              <a:t>达到</a:t>
            </a:r>
            <a:r>
              <a:rPr lang="en-US" altLang="zh-CN"/>
              <a:t>100%</a:t>
            </a:r>
            <a:r>
              <a:rPr lang="zh-CN" altLang="en-US"/>
              <a:t>，</a:t>
            </a:r>
            <a:r>
              <a:rPr lang="en-US" altLang="zh-CN"/>
              <a:t>Whisper</a:t>
            </a:r>
            <a:r>
              <a:rPr lang="zh-CN" altLang="en-US"/>
              <a:t>达到</a:t>
            </a:r>
            <a:r>
              <a:rPr lang="en-US" altLang="zh-CN"/>
              <a:t>92%</a:t>
            </a:r>
            <a:r>
              <a:rPr lang="zh-CN" altLang="en-US"/>
              <a:t>，</a:t>
            </a:r>
            <a:r>
              <a:rPr lang="en-US" altLang="zh-CN"/>
              <a:t>iFlytek</a:t>
            </a:r>
            <a:r>
              <a:rPr lang="zh-CN" altLang="en-US"/>
              <a:t>达到</a:t>
            </a:r>
            <a:r>
              <a:rPr lang="en-US" altLang="zh-CN"/>
              <a:t>88%</a:t>
            </a:r>
            <a:r>
              <a:rPr lang="zh-CN" altLang="en-US"/>
              <a:t>。</a:t>
            </a:r>
            <a:endParaRPr lang="en-US" altLang="zh-CN"/>
          </a:p>
          <a:p>
            <a:r>
              <a:rPr lang="zh-CN" altLang="zh-CN"/>
              <a:t>这里</a:t>
            </a:r>
            <a:r>
              <a:rPr lang="en-US" altLang="zh-CN"/>
              <a:t>DeepSpeech</a:t>
            </a:r>
            <a:r>
              <a:rPr lang="zh-CN" altLang="en-US"/>
              <a:t>是白盒模型，所以成功率最高。</a:t>
            </a:r>
            <a:endParaRPr lang="en-US" altLang="zh-CN"/>
          </a:p>
          <a:p>
            <a:r>
              <a:rPr lang="zh-CN" altLang="zh-CN"/>
              <a:t>而</a:t>
            </a:r>
            <a:r>
              <a:rPr lang="en-US" altLang="zh-CN"/>
              <a:t>Whisper</a:t>
            </a:r>
            <a:r>
              <a:rPr lang="zh-CN" altLang="en-US"/>
              <a:t>和</a:t>
            </a:r>
            <a:r>
              <a:rPr lang="en-US" altLang="zh-CN"/>
              <a:t>iFlytek</a:t>
            </a:r>
            <a:r>
              <a:rPr lang="zh-CN" altLang="en-US"/>
              <a:t>是攻击者不了解内部信息的模型，但是仍然能够达到较高成功率。</a:t>
            </a:r>
            <a:endParaRPr lang="en-US" altLang="zh-CN"/>
          </a:p>
          <a:p>
            <a:r>
              <a:rPr lang="zh-CN" altLang="zh-CN"/>
              <a:t>这说明前面提到的迁移能力确实存在</a:t>
            </a:r>
            <a:endParaRPr lang="en-US" altLang="zh-CN"/>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这一页列出了作者进一步研究的四个问题。</a:t>
            </a:r>
            <a:endParaRPr lang="en-US" altLang="zh-CN"/>
          </a:p>
          <a:p>
            <a:r>
              <a:rPr lang="zh-CN" altLang="zh-CN"/>
              <a:t>分别是：</a:t>
            </a:r>
            <a:endParaRPr lang="en-US" altLang="zh-CN"/>
          </a:p>
          <a:p>
            <a:r>
              <a:rPr lang="zh-CN" altLang="zh-CN"/>
              <a:t>激光功率、攻击距离、不同智能设备，以及扰动或恶意命令的响度。</a:t>
            </a:r>
            <a:endParaRPr lang="en-US" altLang="zh-CN"/>
          </a:p>
          <a:p>
            <a:r>
              <a:rPr lang="zh-CN" altLang="zh-CN"/>
              <a:t>为什么要研究这些？</a:t>
            </a:r>
            <a:endParaRPr lang="en-US" altLang="zh-CN"/>
          </a:p>
          <a:p>
            <a:r>
              <a:rPr lang="zh-CN" altLang="zh-CN"/>
              <a:t>因为只证明</a:t>
            </a:r>
            <a:r>
              <a:rPr lang="en-US" altLang="zh-CN"/>
              <a:t>“</a:t>
            </a:r>
            <a:r>
              <a:rPr lang="zh-CN" altLang="en-US"/>
              <a:t>能够攻击成功</a:t>
            </a:r>
            <a:r>
              <a:rPr lang="en-US" altLang="zh-CN"/>
              <a:t>”</a:t>
            </a:r>
            <a:r>
              <a:rPr lang="zh-CN" altLang="en-US"/>
              <a:t>还不够。</a:t>
            </a:r>
            <a:endParaRPr lang="en-US" altLang="zh-CN"/>
          </a:p>
          <a:p>
            <a:r>
              <a:rPr lang="zh-CN" altLang="zh-CN"/>
              <a:t>作者还需要知道：</a:t>
            </a:r>
            <a:endParaRPr lang="en-US" altLang="zh-CN"/>
          </a:p>
          <a:p>
            <a:r>
              <a:rPr lang="zh-CN" altLang="zh-CN"/>
              <a:t>功率降低以后怎么样？距离远了怎么样？换手机怎么样？攻击信号需要多大才有效？</a:t>
            </a:r>
            <a:endParaRPr lang="en-US" altLang="zh-CN"/>
          </a:p>
          <a:p>
            <a:r>
              <a:rPr lang="zh-CN" altLang="zh-CN"/>
              <a:t>所以接下来几页就是分别回答这些问题。</a:t>
            </a:r>
            <a:r>
              <a:rPr lang="en-US" altLang="zh-CN"/>
              <a:t> </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这一页研究的是：</a:t>
            </a:r>
            <a:endParaRPr lang="en-US" altLang="zh-CN"/>
          </a:p>
          <a:p>
            <a:r>
              <a:rPr lang="zh-CN" altLang="zh-CN"/>
              <a:t>激光功率对攻击效果有什么影响。</a:t>
            </a:r>
            <a:endParaRPr lang="en-US" altLang="zh-CN"/>
          </a:p>
          <a:p>
            <a:r>
              <a:rPr lang="en-US" altLang="zh-CN"/>
              <a:t>PPT</a:t>
            </a:r>
            <a:r>
              <a:rPr lang="zh-CN" altLang="en-US"/>
              <a:t>说明激光二极管最大功率是</a:t>
            </a:r>
            <a:r>
              <a:rPr lang="en-US" altLang="zh-CN"/>
              <a:t>6mW</a:t>
            </a:r>
            <a:r>
              <a:rPr lang="zh-CN" altLang="en-US"/>
              <a:t>。</a:t>
            </a:r>
            <a:endParaRPr lang="en-US" altLang="zh-CN"/>
          </a:p>
          <a:p>
            <a:r>
              <a:rPr lang="zh-CN" altLang="zh-CN"/>
              <a:t>当功率达到额定功率</a:t>
            </a:r>
            <a:r>
              <a:rPr lang="en-US" altLang="zh-CN"/>
              <a:t>5mW</a:t>
            </a:r>
            <a:r>
              <a:rPr lang="zh-CN" altLang="en-US"/>
              <a:t>时，攻击成功率可以达到</a:t>
            </a:r>
            <a:r>
              <a:rPr lang="en-US" altLang="zh-CN"/>
              <a:t>100%</a:t>
            </a:r>
            <a:r>
              <a:rPr lang="zh-CN" altLang="en-US"/>
              <a:t>。</a:t>
            </a:r>
            <a:endParaRPr lang="en-US" altLang="zh-CN"/>
          </a:p>
          <a:p>
            <a:r>
              <a:rPr lang="zh-CN" altLang="zh-CN"/>
              <a:t>所以从这个实验可以看出，在论文的实验条件下，</a:t>
            </a:r>
            <a:r>
              <a:rPr lang="en-US" altLang="zh-CN"/>
              <a:t>LaserAdv</a:t>
            </a:r>
            <a:r>
              <a:rPr lang="zh-CN" altLang="en-US"/>
              <a:t>并不需要特别大的激光功率，就能够获得很高的攻击成功率。</a:t>
            </a:r>
            <a:r>
              <a:rPr lang="en-US" altLang="zh-CN"/>
              <a:t> </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这一页比较的是：</a:t>
            </a:r>
            <a:endParaRPr lang="en-US" altLang="zh-CN"/>
          </a:p>
          <a:p>
            <a:r>
              <a:rPr lang="en-US" altLang="zh-CN"/>
              <a:t>LaserAdv</a:t>
            </a:r>
            <a:r>
              <a:rPr lang="zh-CN" altLang="en-US"/>
              <a:t>和</a:t>
            </a:r>
            <a:r>
              <a:rPr lang="en-US" altLang="zh-CN"/>
              <a:t>LightCommands</a:t>
            </a:r>
            <a:r>
              <a:rPr lang="zh-CN" altLang="en-US"/>
              <a:t>需要多大的扰动强度。</a:t>
            </a:r>
            <a:endParaRPr lang="en-US" altLang="zh-CN"/>
          </a:p>
          <a:p>
            <a:r>
              <a:rPr lang="zh-CN" altLang="zh-CN"/>
              <a:t>实验结果显示，</a:t>
            </a:r>
            <a:r>
              <a:rPr lang="en-US" altLang="zh-CN"/>
              <a:t>LaserAdv</a:t>
            </a:r>
            <a:r>
              <a:rPr lang="zh-CN" altLang="en-US"/>
              <a:t>需要的扰动强度明显低于</a:t>
            </a:r>
            <a:r>
              <a:rPr lang="en-US" altLang="zh-CN"/>
              <a:t>LightCommands</a:t>
            </a:r>
            <a:r>
              <a:rPr lang="zh-CN" altLang="en-US"/>
              <a:t>。</a:t>
            </a:r>
            <a:endParaRPr lang="en-US" altLang="zh-CN"/>
          </a:p>
          <a:p>
            <a:r>
              <a:rPr lang="zh-CN" altLang="zh-CN"/>
              <a:t>这意味着在达到攻击效果的情况下，</a:t>
            </a:r>
            <a:r>
              <a:rPr lang="en-US" altLang="zh-CN"/>
              <a:t>LaserAdv</a:t>
            </a:r>
            <a:r>
              <a:rPr lang="zh-CN" altLang="en-US"/>
              <a:t>不需要那么强的扰动。</a:t>
            </a:r>
            <a:endParaRPr lang="en-US" altLang="zh-CN"/>
          </a:p>
          <a:p>
            <a:r>
              <a:rPr lang="zh-CN" altLang="zh-CN"/>
              <a:t>所以作者认为，它在功率效率和攻击隐蔽性方面有所改善。</a:t>
            </a:r>
            <a:r>
              <a:rPr lang="en-US" altLang="zh-CN"/>
              <a:t> </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这一页研究攻击距离。</a:t>
            </a:r>
            <a:endParaRPr lang="en-US" altLang="zh-CN"/>
          </a:p>
          <a:p>
            <a:r>
              <a:rPr lang="zh-CN" altLang="zh-CN"/>
              <a:t>在用户正在和语音识别系统交互的情况下，</a:t>
            </a:r>
            <a:r>
              <a:rPr lang="en-US" altLang="zh-CN"/>
              <a:t>LaserAdv</a:t>
            </a:r>
            <a:r>
              <a:rPr lang="zh-CN" altLang="en-US"/>
              <a:t>的最大攻击距离达到：</a:t>
            </a:r>
            <a:endParaRPr lang="en-US" altLang="zh-CN"/>
          </a:p>
          <a:p>
            <a:r>
              <a:rPr lang="en-US" altLang="zh-CN"/>
              <a:t>120</a:t>
            </a:r>
            <a:r>
              <a:rPr lang="zh-CN" altLang="en-US"/>
              <a:t>米。</a:t>
            </a:r>
            <a:endParaRPr lang="en-US" altLang="zh-CN"/>
          </a:p>
          <a:p>
            <a:r>
              <a:rPr lang="en-US" altLang="zh-CN"/>
              <a:t>PPT</a:t>
            </a:r>
            <a:r>
              <a:rPr lang="zh-CN" altLang="en-US"/>
              <a:t>同时和</a:t>
            </a:r>
            <a:r>
              <a:rPr lang="en-US" altLang="zh-CN"/>
              <a:t>LightCommands</a:t>
            </a:r>
            <a:r>
              <a:rPr lang="zh-CN" altLang="en-US"/>
              <a:t>进行了比较，</a:t>
            </a:r>
            <a:r>
              <a:rPr lang="en-US" altLang="zh-CN"/>
              <a:t>LightCommands</a:t>
            </a:r>
            <a:r>
              <a:rPr lang="zh-CN" altLang="en-US"/>
              <a:t>是</a:t>
            </a:r>
            <a:r>
              <a:rPr lang="en-US" altLang="zh-CN"/>
              <a:t>80</a:t>
            </a:r>
            <a:r>
              <a:rPr lang="zh-CN" altLang="en-US"/>
              <a:t>米。</a:t>
            </a:r>
            <a:endParaRPr lang="en-US" altLang="zh-CN"/>
          </a:p>
          <a:p>
            <a:r>
              <a:rPr lang="zh-CN" altLang="zh-CN"/>
              <a:t>因此，在论文的实验条件下，</a:t>
            </a:r>
            <a:r>
              <a:rPr lang="en-US" altLang="zh-CN"/>
              <a:t>LaserAdv</a:t>
            </a:r>
            <a:r>
              <a:rPr lang="zh-CN" altLang="en-US"/>
              <a:t>把最大攻击距离从</a:t>
            </a:r>
            <a:r>
              <a:rPr lang="en-US" altLang="zh-CN"/>
              <a:t>80</a:t>
            </a:r>
            <a:r>
              <a:rPr lang="zh-CN" altLang="en-US"/>
              <a:t>米进一步提高到了</a:t>
            </a:r>
            <a:r>
              <a:rPr lang="en-US" altLang="zh-CN"/>
              <a:t>120</a:t>
            </a:r>
            <a:r>
              <a:rPr lang="zh-CN" altLang="en-US"/>
              <a:t>米。</a:t>
            </a:r>
            <a:endParaRPr lang="en-US" altLang="zh-CN"/>
          </a:p>
          <a:p>
            <a:r>
              <a:rPr lang="zh-CN" altLang="zh-CN"/>
              <a:t>这也是本文比较明显的实验结果之一。</a:t>
            </a:r>
            <a:r>
              <a:rPr lang="en-US" altLang="zh-CN"/>
              <a:t> </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这一页研究的是：</a:t>
            </a:r>
            <a:endParaRPr lang="en-US" altLang="zh-CN"/>
          </a:p>
          <a:p>
            <a:r>
              <a:rPr lang="zh-CN" altLang="zh-CN"/>
              <a:t>换不同手机之后，攻击效果是否一样。</a:t>
            </a:r>
            <a:endParaRPr lang="en-US" altLang="zh-CN"/>
          </a:p>
          <a:p>
            <a:r>
              <a:rPr lang="zh-CN" altLang="zh-CN"/>
              <a:t>结果发现，不同设备之间确实存在差异。</a:t>
            </a:r>
            <a:endParaRPr lang="en-US" altLang="zh-CN"/>
          </a:p>
          <a:p>
            <a:r>
              <a:rPr lang="zh-CN" altLang="zh-CN"/>
              <a:t>其中</a:t>
            </a:r>
            <a:r>
              <a:rPr lang="en-US" altLang="zh-CN"/>
              <a:t>Honor</a:t>
            </a:r>
            <a:r>
              <a:rPr lang="zh-CN" altLang="en-US"/>
              <a:t>和</a:t>
            </a:r>
            <a:r>
              <a:rPr lang="en-US" altLang="zh-CN"/>
              <a:t>Samsung</a:t>
            </a:r>
            <a:r>
              <a:rPr lang="zh-CN" altLang="en-US"/>
              <a:t>的攻击效果比较好，成功率超过</a:t>
            </a:r>
            <a:r>
              <a:rPr lang="en-US" altLang="zh-CN"/>
              <a:t>72%</a:t>
            </a:r>
            <a:r>
              <a:rPr lang="zh-CN" altLang="en-US"/>
              <a:t>。</a:t>
            </a:r>
            <a:endParaRPr lang="en-US" altLang="zh-CN"/>
          </a:p>
          <a:p>
            <a:r>
              <a:rPr lang="zh-CN" altLang="zh-CN"/>
              <a:t>这也和前面第</a:t>
            </a:r>
            <a:r>
              <a:rPr lang="en-US" altLang="zh-CN"/>
              <a:t>7</a:t>
            </a:r>
            <a:r>
              <a:rPr lang="zh-CN" altLang="en-US"/>
              <a:t>页的内容对应起来：</a:t>
            </a:r>
            <a:endParaRPr lang="en-US" altLang="zh-CN"/>
          </a:p>
          <a:p>
            <a:r>
              <a:rPr lang="zh-CN" altLang="zh-CN"/>
              <a:t>因为不同手机使用的麦克风以及硬件响应不同，所以它们对激光扰动的敏感程度也不同。</a:t>
            </a:r>
            <a:endParaRPr lang="en-US" altLang="zh-CN"/>
          </a:p>
          <a:p>
            <a:r>
              <a:rPr lang="zh-CN" altLang="zh-CN"/>
              <a:t>所以</a:t>
            </a:r>
            <a:r>
              <a:rPr lang="en-US" altLang="zh-CN"/>
              <a:t>LaserAdv</a:t>
            </a:r>
            <a:r>
              <a:rPr lang="zh-CN" altLang="en-US"/>
              <a:t>虽然具有跨设备攻击能力，但设备本身的硬件特性仍然会影响攻击效果。</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最后总结一下这篇论文。</a:t>
            </a:r>
            <a:endParaRPr lang="en-US" altLang="zh-CN"/>
          </a:p>
          <a:p>
            <a:r>
              <a:rPr lang="zh-CN" altLang="zh-CN"/>
              <a:t>第一，作者提出了</a:t>
            </a:r>
            <a:r>
              <a:rPr lang="en-US" altLang="zh-CN"/>
              <a:t>LaserAdv</a:t>
            </a:r>
            <a:r>
              <a:rPr lang="zh-CN" altLang="en-US"/>
              <a:t>，利用激光扰动攻击语音识别系统。</a:t>
            </a:r>
            <a:endParaRPr lang="en-US" altLang="zh-CN"/>
          </a:p>
          <a:p>
            <a:r>
              <a:rPr lang="zh-CN" altLang="zh-CN"/>
              <a:t>第二，提出</a:t>
            </a:r>
            <a:r>
              <a:rPr lang="en-US" altLang="zh-CN"/>
              <a:t>SAE-TFI</a:t>
            </a:r>
            <a:r>
              <a:rPr lang="zh-CN" altLang="en-US"/>
              <a:t>，解决激光通道造成的频率衰减问题，同时进一步优化扰动生成过程。</a:t>
            </a:r>
            <a:endParaRPr lang="en-US" altLang="zh-CN"/>
          </a:p>
          <a:p>
            <a:r>
              <a:rPr lang="zh-CN" altLang="zh-CN"/>
              <a:t>第三，通过实验验证了</a:t>
            </a:r>
            <a:r>
              <a:rPr lang="en-US" altLang="zh-CN"/>
              <a:t>LaserAdv</a:t>
            </a:r>
            <a:r>
              <a:rPr lang="zh-CN" altLang="en-US"/>
              <a:t>对</a:t>
            </a:r>
            <a:r>
              <a:rPr lang="en-US" altLang="zh-CN"/>
              <a:t>DeepSpeech</a:t>
            </a:r>
            <a:r>
              <a:rPr lang="zh-CN" altLang="en-US"/>
              <a:t>、</a:t>
            </a:r>
            <a:r>
              <a:rPr lang="en-US" altLang="zh-CN"/>
              <a:t>iFlytek</a:t>
            </a:r>
            <a:r>
              <a:rPr lang="zh-CN" altLang="en-US"/>
              <a:t>和</a:t>
            </a:r>
            <a:r>
              <a:rPr lang="en-US" altLang="zh-CN"/>
              <a:t>Whisper</a:t>
            </a:r>
            <a:r>
              <a:rPr lang="zh-CN" altLang="en-US"/>
              <a:t>的攻击效果。</a:t>
            </a:r>
            <a:endParaRPr lang="en-US" altLang="zh-CN"/>
          </a:p>
          <a:p>
            <a:r>
              <a:rPr lang="zh-CN" altLang="zh-CN"/>
              <a:t>最终三个系统最高成功率分别达到</a:t>
            </a:r>
            <a:r>
              <a:rPr lang="en-US" altLang="zh-CN"/>
              <a:t>100%</a:t>
            </a:r>
            <a:r>
              <a:rPr lang="zh-CN" altLang="en-US"/>
              <a:t>、</a:t>
            </a:r>
            <a:r>
              <a:rPr lang="en-US" altLang="zh-CN"/>
              <a:t>88%</a:t>
            </a:r>
            <a:r>
              <a:rPr lang="zh-CN" altLang="en-US"/>
              <a:t>和</a:t>
            </a:r>
            <a:r>
              <a:rPr lang="en-US" altLang="zh-CN"/>
              <a:t>92%</a:t>
            </a:r>
            <a:r>
              <a:rPr lang="zh-CN" altLang="en-US"/>
              <a:t>，并且在用户讲话的情况下，最大攻击距离达到</a:t>
            </a:r>
            <a:r>
              <a:rPr lang="en-US" altLang="zh-CN"/>
              <a:t>120</a:t>
            </a:r>
            <a:r>
              <a:rPr lang="zh-CN" altLang="en-US"/>
              <a:t>米。</a:t>
            </a:r>
            <a:r>
              <a:rPr lang="en-US" altLang="zh-CN"/>
              <a:t> </a:t>
            </a:r>
            <a:endParaRPr lang="en-US" altLang="zh-CN"/>
          </a:p>
          <a:p>
            <a:r>
              <a:rPr lang="zh-CN" altLang="zh-CN"/>
              <a:t>所以这篇论文的核心贡献可以概括成一句话：</a:t>
            </a:r>
            <a:endParaRPr lang="en-US" altLang="zh-CN"/>
          </a:p>
          <a:p>
            <a:r>
              <a:rPr lang="zh-CN" altLang="zh-CN"/>
              <a:t>它把语音识别的对抗攻击从数字模型层面进一步扩展到了真实的激光物理环境。</a:t>
            </a:r>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我的汇报到这里结束。</a:t>
            </a:r>
            <a:endParaRPr lang="en-US" altLang="zh-CN"/>
          </a:p>
          <a:p>
            <a:r>
              <a:rPr lang="zh-CN" altLang="zh-CN"/>
              <a:t>这篇论文主要说明了一个问题：</a:t>
            </a:r>
            <a:endParaRPr lang="en-US" altLang="zh-CN"/>
          </a:p>
          <a:p>
            <a:r>
              <a:rPr lang="zh-CN" altLang="zh-CN"/>
              <a:t>语音识别系统的安全性，不仅取决于</a:t>
            </a:r>
            <a:r>
              <a:rPr lang="en-US" altLang="zh-CN"/>
              <a:t>AI</a:t>
            </a:r>
            <a:r>
              <a:rPr lang="zh-CN" altLang="en-US"/>
              <a:t>模型本身，也和麦克风等硬件以及真实物理环境有关。</a:t>
            </a:r>
            <a:endParaRPr lang="en-US" altLang="zh-CN"/>
          </a:p>
          <a:p>
            <a:r>
              <a:rPr lang="zh-CN" altLang="zh-CN"/>
              <a:t>谢谢大家，我的汇报结束，请各位老师批评指正。</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5.png"/><Relationship Id="rId10" Type="http://schemas.openxmlformats.org/officeDocument/2006/relationships/notesSlide" Target="../notesSlides/notesSlide6.xml"/><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0.png"/><Relationship Id="rId7" Type="http://schemas.openxmlformats.org/officeDocument/2006/relationships/image" Target="../media/image5.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0" Type="http://schemas.openxmlformats.org/officeDocument/2006/relationships/notesSlide" Target="../notesSlides/notesSlide7.xml"/><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5.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image" Target="../media/image31.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5.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4.png"/><Relationship Id="rId1" Type="http://schemas.openxmlformats.org/officeDocument/2006/relationships/image" Target="../media/image4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5.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50.png"/><Relationship Id="rId1" Type="http://schemas.openxmlformats.org/officeDocument/2006/relationships/image" Target="../media/image49.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54.png"/><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image" Target="../media/image51.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244883" y="4464929"/>
            <a:ext cx="7730490" cy="1628139"/>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834390" algn="l" rtl="0" eaLnBrk="0">
              <a:lnSpc>
                <a:spcPct val="82000"/>
              </a:lnSpc>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Guoming Zhang</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Xiaohui Ma</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Huiting Zhang</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Zhijie Xiang</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marL="1069975" algn="l" rtl="0" eaLnBrk="0">
              <a:lnSpc>
                <a:spcPts val="3000"/>
              </a:lnSpc>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Xiaoyu Ji</a:t>
            </a:r>
            <a:r>
              <a:rPr sz="2000" kern="0" spc="-1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Yanni Yang</a:t>
            </a:r>
            <a:r>
              <a:rPr sz="2000" kern="0" spc="-1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Xiuzhen Cheng</a:t>
            </a:r>
            <a:r>
              <a:rPr sz="2000" kern="0" spc="-1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and Peng</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fei Hu</a:t>
            </a:r>
            <a:r>
              <a:rPr sz="2000" kern="0" spc="-20" baseline="22000" dirty="0">
                <a:solidFill>
                  <a:srgbClr val="000000">
                    <a:alpha val="100000"/>
                  </a:srgbClr>
                </a:solidFill>
                <a:latin typeface="Times New Roman" panose="02020603050405020304"/>
                <a:ea typeface="Times New Roman" panose="02020603050405020304"/>
                <a:cs typeface="Times New Roman" panose="02020603050405020304"/>
              </a:rPr>
              <a:t>1</a:t>
            </a:r>
            <a:endParaRPr sz="2000" baseline="22000" dirty="0">
              <a:latin typeface="Times New Roman" panose="02020603050405020304"/>
              <a:ea typeface="Times New Roman" panose="02020603050405020304"/>
              <a:cs typeface="Times New Roman" panose="02020603050405020304"/>
            </a:endParaRPr>
          </a:p>
          <a:p>
            <a:pPr marL="1442085" algn="l" rtl="0" eaLnBrk="0">
              <a:lnSpc>
                <a:spcPct val="87000"/>
              </a:lnSpc>
              <a:spcBef>
                <a:spcPts val="1275"/>
              </a:spcBef>
            </a:pPr>
            <a:r>
              <a:rPr sz="1600" kern="0" spc="3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10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Shandong University,</a:t>
            </a:r>
            <a:r>
              <a:rPr sz="15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China    </a:t>
            </a:r>
            <a:r>
              <a:rPr sz="1600" kern="0" spc="30" baseline="29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Zhejiang University,</a:t>
            </a:r>
            <a:r>
              <a:rPr sz="15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China</a:t>
            </a:r>
            <a:endParaRPr sz="1500" dirty="0">
              <a:latin typeface="Times New Roman" panose="02020603050405020304"/>
              <a:ea typeface="Times New Roman" panose="02020603050405020304"/>
              <a:cs typeface="Times New Roman" panose="02020603050405020304"/>
            </a:endParaRPr>
          </a:p>
          <a:p>
            <a:pPr marL="12700" algn="l" rtl="0" eaLnBrk="0">
              <a:lnSpc>
                <a:spcPct val="82000"/>
              </a:lnSpc>
              <a:spcBef>
                <a:spcPts val="940"/>
              </a:spcBef>
            </a:pPr>
            <a:r>
              <a:rPr sz="1500" kern="0" spc="50" dirty="0">
                <a:solidFill>
                  <a:srgbClr val="000000">
                    <a:alpha val="100000"/>
                  </a:srgbClr>
                </a:solidFill>
                <a:latin typeface="Times New Roman" panose="02020603050405020304"/>
                <a:ea typeface="Times New Roman" panose="02020603050405020304"/>
                <a:cs typeface="Times New Roman" panose="02020603050405020304"/>
              </a:rPr>
              <a:t>{guomingzhang, ma</a:t>
            </a:r>
            <a:r>
              <a:rPr sz="1500" kern="0" spc="40" dirty="0">
                <a:solidFill>
                  <a:srgbClr val="000000">
                    <a:alpha val="100000"/>
                  </a:srgbClr>
                </a:solidFill>
                <a:latin typeface="Times New Roman" panose="02020603050405020304"/>
                <a:ea typeface="Times New Roman" panose="02020603050405020304"/>
                <a:cs typeface="Times New Roman" panose="02020603050405020304"/>
              </a:rPr>
              <a:t>xiaohui, zhanghuiting, xiangzhijie, yanniyang, xzcheng, phu}@sdu.edu.cn</a:t>
            </a:r>
            <a:endParaRPr sz="1500" dirty="0">
              <a:latin typeface="Times New Roman" panose="02020603050405020304"/>
              <a:ea typeface="Times New Roman" panose="02020603050405020304"/>
              <a:cs typeface="Times New Roman" panose="02020603050405020304"/>
            </a:endParaRPr>
          </a:p>
          <a:p>
            <a:pPr algn="l" rtl="0" eaLnBrk="0">
              <a:lnSpc>
                <a:spcPct val="110000"/>
              </a:lnSpc>
            </a:pPr>
            <a:endParaRPr sz="700" dirty="0">
              <a:latin typeface="Arial" panose="020B0604020202020204"/>
              <a:ea typeface="Arial" panose="020B0604020202020204"/>
              <a:cs typeface="Arial" panose="020B0604020202020204"/>
            </a:endParaRPr>
          </a:p>
          <a:p>
            <a:pPr marL="3234690" algn="l" rtl="0" eaLnBrk="0">
              <a:lnSpc>
                <a:spcPct val="82000"/>
              </a:lnSpc>
            </a:pPr>
            <a:r>
              <a:rPr sz="1500" kern="0" spc="0" dirty="0">
                <a:solidFill>
                  <a:srgbClr val="000000">
                    <a:alpha val="100000"/>
                  </a:srgbClr>
                </a:solidFill>
                <a:latin typeface="Times New Roman" panose="02020603050405020304"/>
                <a:ea typeface="Times New Roman" panose="02020603050405020304"/>
                <a:cs typeface="Times New Roman" panose="02020603050405020304"/>
              </a:rPr>
              <a:t>xji</a:t>
            </a:r>
            <a:r>
              <a:rPr sz="1500" kern="0" spc="180" dirty="0">
                <a:solidFill>
                  <a:srgbClr val="000000">
                    <a:alpha val="100000"/>
                  </a:srgbClr>
                </a:solidFill>
                <a:latin typeface="Times New Roman" panose="02020603050405020304"/>
                <a:ea typeface="Times New Roman" panose="02020603050405020304"/>
                <a:cs typeface="Times New Roman" panose="02020603050405020304"/>
              </a:rPr>
              <a:t>@</a:t>
            </a:r>
            <a:r>
              <a:rPr sz="1500" kern="0" spc="0" dirty="0">
                <a:solidFill>
                  <a:srgbClr val="000000">
                    <a:alpha val="100000"/>
                  </a:srgbClr>
                </a:solidFill>
                <a:latin typeface="Times New Roman" panose="02020603050405020304"/>
                <a:ea typeface="Times New Roman" panose="02020603050405020304"/>
                <a:cs typeface="Times New Roman" panose="02020603050405020304"/>
              </a:rPr>
              <a:t>zju</a:t>
            </a:r>
            <a:r>
              <a:rPr sz="1500" kern="0" spc="180" dirty="0">
                <a:solidFill>
                  <a:srgbClr val="000000">
                    <a:alpha val="100000"/>
                  </a:srgbClr>
                </a:solidFill>
                <a:latin typeface="Times New Roman" panose="02020603050405020304"/>
                <a:ea typeface="Times New Roman" panose="02020603050405020304"/>
                <a:cs typeface="Times New Roman" panose="02020603050405020304"/>
              </a:rPr>
              <a:t>.</a:t>
            </a:r>
            <a:r>
              <a:rPr sz="1500" kern="0" spc="0" dirty="0">
                <a:solidFill>
                  <a:srgbClr val="000000">
                    <a:alpha val="100000"/>
                  </a:srgbClr>
                </a:solidFill>
                <a:latin typeface="Times New Roman" panose="02020603050405020304"/>
                <a:ea typeface="Times New Roman" panose="02020603050405020304"/>
                <a:cs typeface="Times New Roman" panose="02020603050405020304"/>
              </a:rPr>
              <a:t>edu</a:t>
            </a:r>
            <a:r>
              <a:rPr sz="1500" kern="0" spc="180" dirty="0">
                <a:solidFill>
                  <a:srgbClr val="000000">
                    <a:alpha val="100000"/>
                  </a:srgbClr>
                </a:solidFill>
                <a:latin typeface="Times New Roman" panose="02020603050405020304"/>
                <a:ea typeface="Times New Roman" panose="02020603050405020304"/>
                <a:cs typeface="Times New Roman" panose="02020603050405020304"/>
              </a:rPr>
              <a:t>.</a:t>
            </a:r>
            <a:r>
              <a:rPr sz="1500" kern="0" spc="0" dirty="0">
                <a:solidFill>
                  <a:srgbClr val="000000">
                    <a:alpha val="100000"/>
                  </a:srgbClr>
                </a:solidFill>
                <a:latin typeface="Times New Roman" panose="02020603050405020304"/>
                <a:ea typeface="Times New Roman" panose="02020603050405020304"/>
                <a:cs typeface="Times New Roman" panose="02020603050405020304"/>
              </a:rPr>
              <a:t>cn</a:t>
            </a:r>
            <a:endParaRPr sz="1500" dirty="0">
              <a:latin typeface="Times New Roman" panose="02020603050405020304"/>
              <a:ea typeface="Times New Roman" panose="02020603050405020304"/>
              <a:cs typeface="Times New Roman" panose="02020603050405020304"/>
            </a:endParaRPr>
          </a:p>
        </p:txBody>
      </p:sp>
      <p:sp>
        <p:nvSpPr>
          <p:cNvPr id="4" name="textbox 4"/>
          <p:cNvSpPr/>
          <p:nvPr/>
        </p:nvSpPr>
        <p:spPr>
          <a:xfrm>
            <a:off x="2187244" y="2537612"/>
            <a:ext cx="7804150" cy="1122044"/>
          </a:xfrm>
          <a:prstGeom prst="rect">
            <a:avLst/>
          </a:prstGeom>
          <a:noFill/>
          <a:ln w="0" cap="flat">
            <a:noFill/>
            <a:prstDash val="solid"/>
            <a:miter lim="0"/>
          </a:ln>
        </p:spPr>
        <p:txBody>
          <a:bodyPr vert="horz" wrap="square" lIns="0" tIns="0" rIns="0" bIns="0"/>
          <a:lstStyle/>
          <a:p>
            <a:pPr algn="l" rtl="0" eaLnBrk="0">
              <a:lnSpc>
                <a:spcPct val="66000"/>
              </a:lnSpc>
            </a:pPr>
            <a:endParaRPr sz="100" dirty="0">
              <a:latin typeface="Arial" panose="020B0604020202020204"/>
              <a:ea typeface="Arial" panose="020B0604020202020204"/>
              <a:cs typeface="Arial" panose="020B0604020202020204"/>
            </a:endParaRPr>
          </a:p>
          <a:p>
            <a:pPr marL="12700" algn="l" rtl="0" eaLnBrk="0">
              <a:lnSpc>
                <a:spcPct val="75000"/>
              </a:lnSpc>
            </a:pPr>
            <a:r>
              <a:rPr sz="3600" b="1" i="1" kern="0" spc="0" dirty="0">
                <a:solidFill>
                  <a:srgbClr val="000000">
                    <a:alpha val="100000"/>
                  </a:srgbClr>
                </a:solidFill>
                <a:latin typeface="Times New Roman" panose="02020603050405020304"/>
                <a:ea typeface="Times New Roman" panose="02020603050405020304"/>
                <a:cs typeface="Times New Roman" panose="02020603050405020304"/>
              </a:rPr>
              <a:t>LaserAdv</a:t>
            </a:r>
            <a:r>
              <a:rPr sz="3600" b="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600" b="1" kern="0" spc="0" dirty="0">
                <a:solidFill>
                  <a:srgbClr val="000000">
                    <a:alpha val="100000"/>
                  </a:srgbClr>
                </a:solidFill>
                <a:latin typeface="Times New Roman" panose="02020603050405020304"/>
                <a:ea typeface="Times New Roman" panose="02020603050405020304"/>
                <a:cs typeface="Times New Roman" panose="02020603050405020304"/>
              </a:rPr>
              <a:t>Laser</a:t>
            </a:r>
            <a:r>
              <a:rPr sz="3600" b="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3600" b="1" kern="0" spc="0" dirty="0">
                <a:solidFill>
                  <a:srgbClr val="000000">
                    <a:alpha val="100000"/>
                  </a:srgbClr>
                </a:solidFill>
                <a:latin typeface="Times New Roman" panose="02020603050405020304"/>
                <a:ea typeface="Times New Roman" panose="02020603050405020304"/>
                <a:cs typeface="Times New Roman" panose="02020603050405020304"/>
              </a:rPr>
              <a:t>Adversarial</a:t>
            </a:r>
            <a:r>
              <a:rPr sz="3600" b="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3600" b="1" kern="0" spc="0" dirty="0">
                <a:solidFill>
                  <a:srgbClr val="000000">
                    <a:alpha val="100000"/>
                  </a:srgbClr>
                </a:solidFill>
                <a:latin typeface="Times New Roman" panose="02020603050405020304"/>
                <a:ea typeface="Times New Roman" panose="02020603050405020304"/>
                <a:cs typeface="Times New Roman" panose="02020603050405020304"/>
              </a:rPr>
              <a:t>Attacks</a:t>
            </a:r>
            <a:r>
              <a:rPr sz="3600" b="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600" b="1" kern="0" spc="0" dirty="0">
                <a:solidFill>
                  <a:srgbClr val="000000">
                    <a:alpha val="100000"/>
                  </a:srgbClr>
                </a:solidFill>
                <a:latin typeface="Times New Roman" panose="02020603050405020304"/>
                <a:ea typeface="Times New Roman" panose="02020603050405020304"/>
                <a:cs typeface="Times New Roman" panose="02020603050405020304"/>
              </a:rPr>
              <a:t>on</a:t>
            </a:r>
            <a:endParaRPr sz="3600" dirty="0">
              <a:latin typeface="Times New Roman" panose="02020603050405020304"/>
              <a:ea typeface="Times New Roman" panose="02020603050405020304"/>
              <a:cs typeface="Times New Roman" panose="02020603050405020304"/>
            </a:endParaRPr>
          </a:p>
          <a:p>
            <a:pPr algn="l" rtl="0" eaLnBrk="0">
              <a:lnSpc>
                <a:spcPct val="102000"/>
              </a:lnSpc>
            </a:pPr>
            <a:endParaRPr sz="17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176655" algn="l" rtl="0" eaLnBrk="0">
              <a:lnSpc>
                <a:spcPct val="77000"/>
              </a:lnSpc>
            </a:pPr>
            <a:r>
              <a:rPr sz="3600" b="1" kern="0" spc="-10" dirty="0">
                <a:solidFill>
                  <a:srgbClr val="000000">
                    <a:alpha val="100000"/>
                  </a:srgbClr>
                </a:solidFill>
                <a:latin typeface="Times New Roman" panose="02020603050405020304"/>
                <a:ea typeface="Times New Roman" panose="02020603050405020304"/>
                <a:cs typeface="Times New Roman" panose="02020603050405020304"/>
              </a:rPr>
              <a:t>Speech Recognition Systems</a:t>
            </a:r>
            <a:endParaRPr sz="3600" dirty="0">
              <a:latin typeface="Times New Roman" panose="02020603050405020304"/>
              <a:ea typeface="Times New Roman" panose="02020603050405020304"/>
              <a:cs typeface="Times New Roman" panose="02020603050405020304"/>
            </a:endParaRPr>
          </a:p>
        </p:txBody>
      </p:sp>
      <p:pic>
        <p:nvPicPr>
          <p:cNvPr id="6" name="picture 6"/>
          <p:cNvPicPr>
            <a:picLocks noChangeAspect="1"/>
          </p:cNvPicPr>
          <p:nvPr/>
        </p:nvPicPr>
        <p:blipFill>
          <a:blip r:embed="rId1"/>
          <a:stretch>
            <a:fillRect/>
          </a:stretch>
        </p:blipFill>
        <p:spPr>
          <a:xfrm rot="21600000">
            <a:off x="598931" y="347471"/>
            <a:ext cx="4155948" cy="1321308"/>
          </a:xfrm>
          <a:prstGeom prst="rect">
            <a:avLst/>
          </a:prstGeom>
        </p:spPr>
      </p:pic>
      <p:sp>
        <p:nvSpPr>
          <p:cNvPr id="8" name="path 8"/>
          <p:cNvSpPr/>
          <p:nvPr/>
        </p:nvSpPr>
        <p:spPr>
          <a:xfrm>
            <a:off x="217166" y="4163821"/>
            <a:ext cx="11760206" cy="28575"/>
          </a:xfrm>
          <a:custGeom>
            <a:avLst/>
            <a:gdLst/>
            <a:ahLst/>
            <a:cxnLst/>
            <a:rect l="0" t="0" r="0" b="0"/>
            <a:pathLst>
              <a:path w="18520" h="45">
                <a:moveTo>
                  <a:pt x="18520" y="20"/>
                </a:moveTo>
                <a:lnTo>
                  <a:pt x="0" y="25"/>
                </a:lnTo>
              </a:path>
            </a:pathLst>
          </a:custGeom>
          <a:noFill/>
          <a:ln w="25400" cap="flat">
            <a:solidFill>
              <a:srgbClr val="BA0000"/>
            </a:solidFill>
            <a:prstDash val="solid"/>
            <a:miter lim="1000000"/>
          </a:ln>
        </p:spPr>
        <p:txBody>
          <a:bodyPr rtlCol="0"/>
          <a:lstStyle/>
          <a:p>
            <a:pPr algn="ctr"/>
            <a:endParaRPr lang="zh-CN" altLang="en-US"/>
          </a:p>
        </p:txBody>
      </p:sp>
      <p:sp>
        <p:nvSpPr>
          <p:cNvPr id="10" name="path 10"/>
          <p:cNvSpPr/>
          <p:nvPr/>
        </p:nvSpPr>
        <p:spPr>
          <a:xfrm>
            <a:off x="279650" y="1867154"/>
            <a:ext cx="11760206" cy="28574"/>
          </a:xfrm>
          <a:custGeom>
            <a:avLst/>
            <a:gdLst/>
            <a:ahLst/>
            <a:cxnLst/>
            <a:rect l="0" t="0" r="0" b="0"/>
            <a:pathLst>
              <a:path w="18520" h="44">
                <a:moveTo>
                  <a:pt x="18520" y="20"/>
                </a:moveTo>
                <a:lnTo>
                  <a:pt x="0" y="24"/>
                </a:lnTo>
              </a:path>
            </a:pathLst>
          </a:custGeom>
          <a:noFill/>
          <a:ln w="25400" cap="flat">
            <a:solidFill>
              <a:srgbClr val="BA0000"/>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2"/>
          <p:cNvPicPr>
            <a:picLocks noChangeAspect="1"/>
          </p:cNvPicPr>
          <p:nvPr/>
        </p:nvPicPr>
        <p:blipFill>
          <a:blip r:embed="rId1"/>
          <a:stretch>
            <a:fillRect/>
          </a:stretch>
        </p:blipFill>
        <p:spPr>
          <a:xfrm rot="21600000">
            <a:off x="6598919" y="1414272"/>
            <a:ext cx="4610100" cy="2964179"/>
          </a:xfrm>
          <a:prstGeom prst="rect">
            <a:avLst/>
          </a:prstGeom>
        </p:spPr>
      </p:pic>
      <p:pic>
        <p:nvPicPr>
          <p:cNvPr id="14" name="picture 14"/>
          <p:cNvPicPr>
            <a:picLocks noChangeAspect="1"/>
          </p:cNvPicPr>
          <p:nvPr/>
        </p:nvPicPr>
        <p:blipFill>
          <a:blip r:embed="rId2"/>
          <a:stretch>
            <a:fillRect/>
          </a:stretch>
        </p:blipFill>
        <p:spPr>
          <a:xfrm rot="21600000">
            <a:off x="771144" y="1403604"/>
            <a:ext cx="4379975" cy="2933699"/>
          </a:xfrm>
          <a:prstGeom prst="rect">
            <a:avLst/>
          </a:prstGeom>
        </p:spPr>
      </p:pic>
      <p:sp>
        <p:nvSpPr>
          <p:cNvPr id="16" name="textbox 16"/>
          <p:cNvSpPr/>
          <p:nvPr/>
        </p:nvSpPr>
        <p:spPr>
          <a:xfrm>
            <a:off x="2855976" y="5012435"/>
            <a:ext cx="6480175" cy="1661795"/>
          </a:xfrm>
          <a:prstGeom prst="rect">
            <a:avLst/>
          </a:prstGeom>
          <a:solidFill>
            <a:srgbClr val="F2F2F2">
              <a:alpha val="92156"/>
            </a:srgbClr>
          </a:solidFill>
          <a:ln w="0" cap="flat">
            <a:noFill/>
            <a:prstDash val="solid"/>
            <a:miter lim="0"/>
          </a:ln>
        </p:spPr>
        <p:txBody>
          <a:bodyPr vert="horz" wrap="square" lIns="0" tIns="0" rIns="0" bIns="0"/>
          <a:lstStyle/>
          <a:p>
            <a:pPr algn="l" rtl="0" eaLnBrk="0">
              <a:lnSpc>
                <a:spcPct val="109000"/>
              </a:lnSpc>
            </a:pPr>
            <a:endParaRPr sz="800" dirty="0">
              <a:latin typeface="Arial" panose="020B0604020202020204"/>
              <a:ea typeface="Arial" panose="020B0604020202020204"/>
              <a:cs typeface="Arial" panose="020B0604020202020204"/>
            </a:endParaRPr>
          </a:p>
          <a:p>
            <a:pPr marL="116840" algn="l" rtl="0" eaLnBrk="0">
              <a:lnSpc>
                <a:spcPct val="77000"/>
              </a:lnSpc>
              <a:spcBef>
                <a:spcPts val="5"/>
              </a:spcBef>
            </a:pPr>
            <a:r>
              <a:rPr sz="2400" kern="0" spc="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Broader range</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 of</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vulnerable devices</a:t>
            </a:r>
            <a:endParaRPr sz="2400" dirty="0">
              <a:latin typeface="Times New Roman" panose="02020603050405020304"/>
              <a:ea typeface="Times New Roman" panose="02020603050405020304"/>
              <a:cs typeface="Times New Roman" panose="02020603050405020304"/>
            </a:endParaRPr>
          </a:p>
          <a:p>
            <a:pPr algn="l" rtl="0" eaLnBrk="0">
              <a:lnSpc>
                <a:spcPct val="145000"/>
              </a:lnSpc>
            </a:pPr>
            <a:endParaRPr sz="1000" dirty="0">
              <a:latin typeface="Arial" panose="020B0604020202020204"/>
              <a:ea typeface="Arial" panose="020B0604020202020204"/>
              <a:cs typeface="Arial" panose="020B0604020202020204"/>
            </a:endParaRPr>
          </a:p>
          <a:p>
            <a:pPr marL="116840" algn="l" rtl="0" eaLnBrk="0">
              <a:lnSpc>
                <a:spcPct val="77000"/>
              </a:lnSpc>
              <a:spcBef>
                <a:spcPts val="720"/>
              </a:spcBef>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38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Improved power efficiency and attack stealth</a:t>
            </a:r>
            <a:endParaRPr sz="2400" dirty="0">
              <a:latin typeface="Times New Roman" panose="02020603050405020304"/>
              <a:ea typeface="Times New Roman" panose="02020603050405020304"/>
              <a:cs typeface="Times New Roman" panose="02020603050405020304"/>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116840" algn="l" rtl="0" eaLnBrk="0">
              <a:lnSpc>
                <a:spcPct val="77000"/>
              </a:lnSpc>
              <a:spcBef>
                <a:spcPts val="5"/>
              </a:spcBef>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Longer at</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tack range</a:t>
            </a:r>
            <a:endParaRPr sz="2400" dirty="0">
              <a:latin typeface="Times New Roman" panose="02020603050405020304"/>
              <a:ea typeface="Times New Roman" panose="02020603050405020304"/>
              <a:cs typeface="Times New Roman" panose="02020603050405020304"/>
            </a:endParaRPr>
          </a:p>
        </p:txBody>
      </p:sp>
      <p:sp>
        <p:nvSpPr>
          <p:cNvPr id="18" name="textbox 18"/>
          <p:cNvSpPr/>
          <p:nvPr/>
        </p:nvSpPr>
        <p:spPr>
          <a:xfrm>
            <a:off x="301285" y="257088"/>
            <a:ext cx="5582920" cy="35052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79000"/>
              </a:lnSpc>
            </a:pPr>
            <a:r>
              <a:rPr sz="2700" b="1" kern="0" spc="30" dirty="0">
                <a:solidFill>
                  <a:srgbClr val="000000">
                    <a:alpha val="100000"/>
                  </a:srgbClr>
                </a:solidFill>
                <a:latin typeface="Times New Roman" panose="02020603050405020304"/>
                <a:ea typeface="Times New Roman" panose="02020603050405020304"/>
                <a:cs typeface="Times New Roman" panose="02020603050405020304"/>
              </a:rPr>
              <a:t>Laser-Based Audio Injection Attacks</a:t>
            </a:r>
            <a:endParaRPr sz="2700" dirty="0">
              <a:latin typeface="Times New Roman" panose="02020603050405020304"/>
              <a:ea typeface="Times New Roman" panose="02020603050405020304"/>
              <a:cs typeface="Times New Roman" panose="02020603050405020304"/>
            </a:endParaRPr>
          </a:p>
        </p:txBody>
      </p:sp>
      <p:sp>
        <p:nvSpPr>
          <p:cNvPr id="20" name="textbox 20"/>
          <p:cNvSpPr/>
          <p:nvPr/>
        </p:nvSpPr>
        <p:spPr>
          <a:xfrm>
            <a:off x="944987" y="4492390"/>
            <a:ext cx="3790950" cy="30924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78000"/>
              </a:lnSpc>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LightCommands</a:t>
            </a:r>
            <a:r>
              <a:rPr sz="2400" b="1"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[Usenix,20]</a:t>
            </a:r>
            <a:endParaRPr sz="2400" dirty="0">
              <a:latin typeface="Times New Roman" panose="02020603050405020304"/>
              <a:ea typeface="Times New Roman" panose="02020603050405020304"/>
              <a:cs typeface="Times New Roman" panose="02020603050405020304"/>
            </a:endParaRPr>
          </a:p>
        </p:txBody>
      </p:sp>
      <p:pic>
        <p:nvPicPr>
          <p:cNvPr id="22" name="picture 22"/>
          <p:cNvPicPr>
            <a:picLocks noChangeAspect="1"/>
          </p:cNvPicPr>
          <p:nvPr/>
        </p:nvPicPr>
        <p:blipFill>
          <a:blip r:embed="rId3"/>
          <a:stretch>
            <a:fillRect/>
          </a:stretch>
        </p:blipFill>
        <p:spPr>
          <a:xfrm rot="21600000">
            <a:off x="5478170" y="2364151"/>
            <a:ext cx="806297" cy="921166"/>
          </a:xfrm>
          <a:prstGeom prst="rect">
            <a:avLst/>
          </a:prstGeom>
        </p:spPr>
      </p:pic>
      <p:pic>
        <p:nvPicPr>
          <p:cNvPr id="24" name="picture 24"/>
          <p:cNvPicPr>
            <a:picLocks noChangeAspect="1"/>
          </p:cNvPicPr>
          <p:nvPr/>
        </p:nvPicPr>
        <p:blipFill>
          <a:blip r:embed="rId4"/>
          <a:stretch>
            <a:fillRect/>
          </a:stretch>
        </p:blipFill>
        <p:spPr>
          <a:xfrm rot="21600000">
            <a:off x="8409726" y="164199"/>
            <a:ext cx="1462592" cy="467336"/>
          </a:xfrm>
          <a:prstGeom prst="rect">
            <a:avLst/>
          </a:prstGeom>
        </p:spPr>
      </p:pic>
      <p:sp>
        <p:nvSpPr>
          <p:cNvPr id="26" name="path 26"/>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28" name="textbox 28"/>
          <p:cNvSpPr/>
          <p:nvPr/>
        </p:nvSpPr>
        <p:spPr>
          <a:xfrm>
            <a:off x="8300668" y="4511192"/>
            <a:ext cx="1237614" cy="27812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69000"/>
              </a:lnSpc>
            </a:pPr>
            <a:r>
              <a:rPr sz="2400" b="1" i="1" kern="0" spc="0" dirty="0">
                <a:solidFill>
                  <a:srgbClr val="FF0000">
                    <a:alpha val="100000"/>
                  </a:srgbClr>
                </a:solidFill>
                <a:latin typeface="Times New Roman" panose="02020603050405020304"/>
                <a:ea typeface="Times New Roman" panose="02020603050405020304"/>
                <a:cs typeface="Times New Roman" panose="02020603050405020304"/>
              </a:rPr>
              <a:t>LaserAdv</a:t>
            </a:r>
            <a:endParaRPr sz="2400" dirty="0">
              <a:latin typeface="Times New Roman" panose="02020603050405020304"/>
              <a:ea typeface="Times New Roman" panose="02020603050405020304"/>
              <a:cs typeface="Times New Roman" panose="02020603050405020304"/>
            </a:endParaRPr>
          </a:p>
        </p:txBody>
      </p:sp>
      <p:sp>
        <p:nvSpPr>
          <p:cNvPr id="30" name="textbox 30"/>
          <p:cNvSpPr/>
          <p:nvPr/>
        </p:nvSpPr>
        <p:spPr>
          <a:xfrm>
            <a:off x="11171173" y="6454546"/>
            <a:ext cx="103504"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2</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2"/>
          <p:cNvPicPr>
            <a:picLocks noChangeAspect="1"/>
          </p:cNvPicPr>
          <p:nvPr/>
        </p:nvPicPr>
        <p:blipFill>
          <a:blip r:embed="rId1"/>
          <a:stretch>
            <a:fillRect/>
          </a:stretch>
        </p:blipFill>
        <p:spPr>
          <a:xfrm rot="21600000">
            <a:off x="36575" y="1456944"/>
            <a:ext cx="12118848" cy="3454908"/>
          </a:xfrm>
          <a:prstGeom prst="rect">
            <a:avLst/>
          </a:prstGeom>
        </p:spPr>
      </p:pic>
      <p:sp>
        <p:nvSpPr>
          <p:cNvPr id="34" name="textbox 34"/>
          <p:cNvSpPr/>
          <p:nvPr/>
        </p:nvSpPr>
        <p:spPr>
          <a:xfrm>
            <a:off x="1690116" y="5596128"/>
            <a:ext cx="8811894" cy="462280"/>
          </a:xfrm>
          <a:prstGeom prst="rect">
            <a:avLst/>
          </a:prstGeom>
          <a:solidFill>
            <a:srgbClr val="F2F2F2">
              <a:alpha val="92156"/>
            </a:srgbClr>
          </a:solidFill>
          <a:ln w="0" cap="flat">
            <a:noFill/>
            <a:prstDash val="solid"/>
            <a:miter lim="0"/>
          </a:ln>
        </p:spPr>
        <p:txBody>
          <a:bodyPr vert="horz" wrap="square" lIns="0" tIns="0" rIns="0" bIns="0"/>
          <a:lstStyle/>
          <a:p>
            <a:pPr algn="l" rtl="0" eaLnBrk="0">
              <a:lnSpc>
                <a:spcPct val="108000"/>
              </a:lnSpc>
            </a:pPr>
            <a:endParaRPr sz="7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07670" algn="l" rtl="0" eaLnBrk="0">
              <a:lnSpc>
                <a:spcPct val="81000"/>
              </a:lnSpc>
              <a:tabLst>
                <a:tab pos="624205" algn="l"/>
              </a:tabLst>
            </a:pPr>
            <a:r>
              <a:rPr sz="2400" b="1" kern="0" spc="0" dirty="0">
                <a:solidFill>
                  <a:srgbClr val="C00000">
                    <a:alpha val="100000"/>
                  </a:srgbClr>
                </a:solidFill>
                <a:latin typeface="Times New Roman" panose="02020603050405020304"/>
                <a:ea typeface="Times New Roman" panose="02020603050405020304"/>
                <a:cs typeface="Times New Roman" panose="02020603050405020304"/>
              </a:rPr>
              <a:t>	</a:t>
            </a:r>
            <a:r>
              <a:rPr sz="2400" b="1" kern="0" spc="-230" dirty="0">
                <a:solidFill>
                  <a:srgbClr val="C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C00000">
                    <a:alpha val="100000"/>
                  </a:srgbClr>
                </a:solidFill>
                <a:latin typeface="Times New Roman" panose="02020603050405020304"/>
                <a:ea typeface="Times New Roman" panose="02020603050405020304"/>
                <a:cs typeface="Times New Roman" panose="02020603050405020304"/>
              </a:rPr>
              <a:t>Additional noise, Weak Response,</a:t>
            </a:r>
            <a:r>
              <a:rPr sz="2400" b="1" kern="0" spc="-10" dirty="0">
                <a:solidFill>
                  <a:srgbClr val="C00000">
                    <a:alpha val="100000"/>
                  </a:srgbClr>
                </a:solidFill>
                <a:latin typeface="Times New Roman" panose="02020603050405020304"/>
                <a:ea typeface="Times New Roman" panose="02020603050405020304"/>
                <a:cs typeface="Times New Roman" panose="02020603050405020304"/>
              </a:rPr>
              <a:t> Distortion caused by FSF</a:t>
            </a:r>
            <a:endParaRPr sz="2400" dirty="0">
              <a:latin typeface="Times New Roman" panose="02020603050405020304"/>
              <a:ea typeface="Times New Roman" panose="02020603050405020304"/>
              <a:cs typeface="Times New Roman" panose="02020603050405020304"/>
            </a:endParaRPr>
          </a:p>
        </p:txBody>
      </p:sp>
      <p:pic>
        <p:nvPicPr>
          <p:cNvPr id="36" name="picture 36"/>
          <p:cNvPicPr>
            <a:picLocks noChangeAspect="1"/>
          </p:cNvPicPr>
          <p:nvPr/>
        </p:nvPicPr>
        <p:blipFill>
          <a:blip r:embed="rId2"/>
          <a:stretch>
            <a:fillRect/>
          </a:stretch>
        </p:blipFill>
        <p:spPr>
          <a:xfrm rot="21600000">
            <a:off x="2098243" y="5713780"/>
            <a:ext cx="216407" cy="223723"/>
          </a:xfrm>
          <a:prstGeom prst="rect">
            <a:avLst/>
          </a:prstGeom>
        </p:spPr>
      </p:pic>
      <p:sp>
        <p:nvSpPr>
          <p:cNvPr id="38" name="textbox 38"/>
          <p:cNvSpPr/>
          <p:nvPr/>
        </p:nvSpPr>
        <p:spPr>
          <a:xfrm>
            <a:off x="3432841" y="5011518"/>
            <a:ext cx="8543925" cy="235584"/>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2700" algn="l" rtl="0" eaLnBrk="0">
              <a:lnSpc>
                <a:spcPct val="7600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Recorded acoustic (top) and laser-based (bottom) pert</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urbations with</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5</a:t>
            </a:r>
            <a:r>
              <a:rPr sz="1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different</a:t>
            </a:r>
            <a:r>
              <a:rPr sz="1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devices</a:t>
            </a:r>
            <a:endParaRPr sz="1800" dirty="0">
              <a:latin typeface="Times New Roman" panose="02020603050405020304"/>
              <a:ea typeface="Times New Roman" panose="02020603050405020304"/>
              <a:cs typeface="Times New Roman" panose="02020603050405020304"/>
            </a:endParaRPr>
          </a:p>
        </p:txBody>
      </p:sp>
      <p:sp>
        <p:nvSpPr>
          <p:cNvPr id="40" name="textbox 40"/>
          <p:cNvSpPr/>
          <p:nvPr/>
        </p:nvSpPr>
        <p:spPr>
          <a:xfrm>
            <a:off x="299154" y="257088"/>
            <a:ext cx="5222875" cy="342900"/>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77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Distortions within Laser Channels</a:t>
            </a:r>
            <a:endParaRPr sz="2700" dirty="0">
              <a:latin typeface="Times New Roman" panose="02020603050405020304"/>
              <a:ea typeface="Times New Roman" panose="02020603050405020304"/>
              <a:cs typeface="Times New Roman" panose="02020603050405020304"/>
            </a:endParaRPr>
          </a:p>
        </p:txBody>
      </p:sp>
      <p:pic>
        <p:nvPicPr>
          <p:cNvPr id="42" name="picture 42"/>
          <p:cNvPicPr>
            <a:picLocks noChangeAspect="1"/>
          </p:cNvPicPr>
          <p:nvPr/>
        </p:nvPicPr>
        <p:blipFill>
          <a:blip r:embed="rId3"/>
          <a:stretch>
            <a:fillRect/>
          </a:stretch>
        </p:blipFill>
        <p:spPr>
          <a:xfrm rot="21600000">
            <a:off x="8409726" y="164199"/>
            <a:ext cx="1462592" cy="467336"/>
          </a:xfrm>
          <a:prstGeom prst="rect">
            <a:avLst/>
          </a:prstGeom>
        </p:spPr>
      </p:pic>
      <p:sp>
        <p:nvSpPr>
          <p:cNvPr id="44" name="path 44"/>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46" name="textbox 46"/>
          <p:cNvSpPr/>
          <p:nvPr/>
        </p:nvSpPr>
        <p:spPr>
          <a:xfrm>
            <a:off x="557428" y="4570653"/>
            <a:ext cx="2026920" cy="23622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77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Frequency Response</a:t>
            </a:r>
            <a:endParaRPr sz="1800" dirty="0">
              <a:latin typeface="Times New Roman" panose="02020603050405020304"/>
              <a:ea typeface="Times New Roman" panose="02020603050405020304"/>
              <a:cs typeface="Times New Roman" panose="02020603050405020304"/>
            </a:endParaRPr>
          </a:p>
        </p:txBody>
      </p:sp>
      <p:sp>
        <p:nvSpPr>
          <p:cNvPr id="48" name="textbox 48"/>
          <p:cNvSpPr/>
          <p:nvPr/>
        </p:nvSpPr>
        <p:spPr>
          <a:xfrm>
            <a:off x="11169498" y="6454546"/>
            <a:ext cx="105410"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3</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table 50"/>
          <p:cNvGraphicFramePr>
            <a:graphicFrameLocks noGrp="1"/>
          </p:cNvGraphicFramePr>
          <p:nvPr/>
        </p:nvGraphicFramePr>
        <p:xfrm>
          <a:off x="3195574" y="3995673"/>
          <a:ext cx="8326119" cy="1849120"/>
        </p:xfrm>
        <a:graphic>
          <a:graphicData uri="http://schemas.openxmlformats.org/drawingml/2006/table">
            <a:tbl>
              <a:tblPr>
                <a:solidFill>
                  <a:srgbClr val="F2F2F2"/>
                </a:solidFill>
              </a:tblPr>
              <a:tblGrid>
                <a:gridCol w="3522344"/>
                <a:gridCol w="4803775"/>
              </a:tblGrid>
              <a:tr h="1849120">
                <a:tc>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359410" algn="l" rtl="0" eaLnBrk="0">
                        <a:lnSpc>
                          <a:spcPct val="81000"/>
                        </a:lnSpc>
                        <a:spcBef>
                          <a:spcPts val="5"/>
                        </a:spcBef>
                        <a:tabLst>
                          <a:tab pos="539750" algn="l"/>
                        </a:tabLst>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Synchronization-free</a:t>
                      </a:r>
                      <a:endParaRPr sz="2000" dirty="0">
                        <a:latin typeface="Times New Roman" panose="02020603050405020304"/>
                        <a:ea typeface="Times New Roman" panose="02020603050405020304"/>
                        <a:cs typeface="Times New Roman" panose="02020603050405020304"/>
                      </a:endParaRPr>
                    </a:p>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359410" algn="l" rtl="0" eaLnBrk="0">
                        <a:lnSpc>
                          <a:spcPct val="70000"/>
                        </a:lnSpc>
                        <a:spcBef>
                          <a:spcPts val="5"/>
                        </a:spcBef>
                        <a:tabLst>
                          <a:tab pos="539750" algn="l"/>
                        </a:tabLst>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Universal</a:t>
                      </a:r>
                      <a:endParaRPr sz="2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7C7C7C"/>
                      </a:solidFill>
                      <a:prstDash val="solid"/>
                      <a:round/>
                      <a:headEnd type="none" w="med" len="med"/>
                      <a:tailEnd type="none" w="med" len="med"/>
                    </a:lnL>
                    <a:lnR>
                      <a:noFill/>
                    </a:lnR>
                    <a:lnT w="12700" cap="flat" cmpd="sng" algn="ctr">
                      <a:solidFill>
                        <a:srgbClr val="7C7C7C"/>
                      </a:solidFill>
                      <a:prstDash val="solid"/>
                      <a:round/>
                      <a:headEnd type="none" w="med" len="med"/>
                      <a:tailEnd type="none" w="med" len="med"/>
                    </a:lnT>
                    <a:lnB w="12700" cap="flat" cmpd="sng" algn="ctr">
                      <a:solidFill>
                        <a:srgbClr val="7C7C7C"/>
                      </a:solidFill>
                      <a:prstDash val="solid"/>
                      <a:round/>
                      <a:headEnd type="none" w="med" len="med"/>
                      <a:tailEnd type="none" w="med" len="med"/>
                    </a:lnB>
                    <a:solidFill>
                      <a:srgbClr val="F2F2F2"/>
                    </a:solidFill>
                  </a:tcPr>
                </a:tc>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561340" algn="l" rtl="0" eaLnBrk="0">
                        <a:lnSpc>
                          <a:spcPct val="81000"/>
                        </a:lnSpc>
                        <a:spcBef>
                          <a:spcPts val="0"/>
                        </a:spcBef>
                        <a:tabLst>
                          <a:tab pos="742315" algn="l"/>
                        </a:tabLst>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20" dirty="0">
                          <a:solidFill>
                            <a:srgbClr val="000000">
                              <a:alpha val="100000"/>
                            </a:srgbClr>
                          </a:solidFill>
                          <a:latin typeface="Times New Roman" panose="02020603050405020304"/>
                          <a:ea typeface="Times New Roman" panose="02020603050405020304"/>
                          <a:cs typeface="Times New Roman" panose="02020603050405020304"/>
                        </a:rPr>
                        <a:t>Transferability</a:t>
                      </a:r>
                      <a:endParaRPr sz="2000" dirty="0">
                        <a:latin typeface="Times New Roman" panose="02020603050405020304"/>
                        <a:ea typeface="Times New Roman" panose="02020603050405020304"/>
                        <a:cs typeface="Times New Roman" panose="02020603050405020304"/>
                      </a:endParaRPr>
                    </a:p>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561340" algn="l" rtl="0" eaLnBrk="0">
                        <a:lnSpc>
                          <a:spcPct val="81000"/>
                        </a:lnSpc>
                        <a:tabLst>
                          <a:tab pos="742315" algn="l"/>
                        </a:tabLst>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Inaudible and ta</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rgeted</a:t>
                      </a:r>
                      <a:endParaRPr sz="2000" dirty="0">
                        <a:latin typeface="Times New Roman" panose="02020603050405020304"/>
                        <a:ea typeface="Times New Roman" panose="02020603050405020304"/>
                        <a:cs typeface="Times New Roman" panose="02020603050405020304"/>
                      </a:endParaRPr>
                    </a:p>
                  </a:txBody>
                  <a:tcPr marL="0" marR="0" marT="0" marB="0" vert="horz">
                    <a:lnL>
                      <a:noFill/>
                    </a:lnL>
                    <a:lnR w="12700" cap="flat" cmpd="sng" algn="ctr">
                      <a:solidFill>
                        <a:srgbClr val="7C7C7C"/>
                      </a:solidFill>
                      <a:prstDash val="solid"/>
                      <a:round/>
                      <a:headEnd type="none" w="med" len="med"/>
                      <a:tailEnd type="none" w="med" len="med"/>
                    </a:lnR>
                    <a:lnT w="12700" cap="flat" cmpd="sng" algn="ctr">
                      <a:solidFill>
                        <a:srgbClr val="7C7C7C"/>
                      </a:solidFill>
                      <a:prstDash val="solid"/>
                      <a:round/>
                      <a:headEnd type="none" w="med" len="med"/>
                      <a:tailEnd type="none" w="med" len="med"/>
                    </a:lnT>
                    <a:lnB w="12700" cap="flat" cmpd="sng" algn="ctr">
                      <a:solidFill>
                        <a:srgbClr val="7C7C7C"/>
                      </a:solidFill>
                      <a:prstDash val="solid"/>
                      <a:round/>
                      <a:headEnd type="none" w="med" len="med"/>
                      <a:tailEnd type="none" w="med" len="med"/>
                    </a:lnB>
                    <a:solidFill>
                      <a:srgbClr val="F2F2F2"/>
                    </a:solidFill>
                  </a:tcPr>
                </a:tc>
              </a:tr>
            </a:tbl>
          </a:graphicData>
        </a:graphic>
      </p:graphicFrame>
      <p:pic>
        <p:nvPicPr>
          <p:cNvPr id="52" name="picture 52"/>
          <p:cNvPicPr>
            <a:picLocks noChangeAspect="1"/>
          </p:cNvPicPr>
          <p:nvPr/>
        </p:nvPicPr>
        <p:blipFill>
          <a:blip r:embed="rId1"/>
          <a:stretch>
            <a:fillRect/>
          </a:stretch>
        </p:blipFill>
        <p:spPr>
          <a:xfrm rot="21600000">
            <a:off x="7279555" y="5028319"/>
            <a:ext cx="180700" cy="186808"/>
          </a:xfrm>
          <a:prstGeom prst="rect">
            <a:avLst/>
          </a:prstGeom>
        </p:spPr>
      </p:pic>
      <p:pic>
        <p:nvPicPr>
          <p:cNvPr id="54" name="picture 54"/>
          <p:cNvPicPr>
            <a:picLocks noChangeAspect="1"/>
          </p:cNvPicPr>
          <p:nvPr/>
        </p:nvPicPr>
        <p:blipFill>
          <a:blip r:embed="rId1"/>
          <a:stretch>
            <a:fillRect/>
          </a:stretch>
        </p:blipFill>
        <p:spPr>
          <a:xfrm rot="21600000">
            <a:off x="7279555" y="4494919"/>
            <a:ext cx="180700" cy="186808"/>
          </a:xfrm>
          <a:prstGeom prst="rect">
            <a:avLst/>
          </a:prstGeom>
        </p:spPr>
      </p:pic>
      <p:pic>
        <p:nvPicPr>
          <p:cNvPr id="56" name="picture 56"/>
          <p:cNvPicPr>
            <a:picLocks noChangeAspect="1"/>
          </p:cNvPicPr>
          <p:nvPr/>
        </p:nvPicPr>
        <p:blipFill>
          <a:blip r:embed="rId2"/>
          <a:stretch>
            <a:fillRect/>
          </a:stretch>
        </p:blipFill>
        <p:spPr>
          <a:xfrm rot="21600000">
            <a:off x="3555534" y="5012190"/>
            <a:ext cx="180700" cy="186808"/>
          </a:xfrm>
          <a:prstGeom prst="rect">
            <a:avLst/>
          </a:prstGeom>
        </p:spPr>
      </p:pic>
      <p:pic>
        <p:nvPicPr>
          <p:cNvPr id="58" name="picture 58"/>
          <p:cNvPicPr>
            <a:picLocks noChangeAspect="1"/>
          </p:cNvPicPr>
          <p:nvPr/>
        </p:nvPicPr>
        <p:blipFill>
          <a:blip r:embed="rId2"/>
          <a:stretch>
            <a:fillRect/>
          </a:stretch>
        </p:blipFill>
        <p:spPr>
          <a:xfrm rot="21600000">
            <a:off x="3555534" y="4478790"/>
            <a:ext cx="180700" cy="186808"/>
          </a:xfrm>
          <a:prstGeom prst="rect">
            <a:avLst/>
          </a:prstGeom>
        </p:spPr>
      </p:pic>
      <p:sp>
        <p:nvSpPr>
          <p:cNvPr id="60" name="textbox 60"/>
          <p:cNvSpPr/>
          <p:nvPr/>
        </p:nvSpPr>
        <p:spPr>
          <a:xfrm>
            <a:off x="3200400" y="1545336"/>
            <a:ext cx="8318500" cy="1828800"/>
          </a:xfrm>
          <a:prstGeom prst="roundRect">
            <a:avLst>
              <a:gd name="adj" fmla="val 17241"/>
            </a:avLst>
          </a:prstGeom>
          <a:solidFill>
            <a:srgbClr val="EDEDED">
              <a:alpha val="100000"/>
            </a:srgbClr>
          </a:solidFill>
          <a:ln w="12700" cap="flat">
            <a:solidFill>
              <a:srgbClr val="7C7C7C"/>
            </a:solidFill>
            <a:prstDash val="solid"/>
            <a:miter lim="0"/>
          </a:ln>
        </p:spPr>
        <p:txBody>
          <a:bodyPr vert="horz" wrap="square" lIns="0" tIns="0" rIns="0" bIns="0"/>
          <a:lstStyle/>
          <a:p>
            <a:pPr algn="l" rtl="0" eaLnBrk="0">
              <a:lnSpc>
                <a:spcPct val="194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500380" indent="-333375" algn="l" rtl="0" eaLnBrk="0">
              <a:lnSpc>
                <a:spcPct val="94000"/>
              </a:lnSpc>
              <a:tabLst>
                <a:tab pos="34734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Attacker</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with</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limited</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resources</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only</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has</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detailed</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knowledge</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of</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one</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ASR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system</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DeepSpeech</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other</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two</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systems</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Whisper</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and</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iFlytek</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not.</a:t>
            </a:r>
            <a:endParaRPr sz="20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167005" algn="l" rtl="0" eaLnBrk="0">
              <a:lnSpc>
                <a:spcPct val="81000"/>
              </a:lnSpc>
              <a:tabLst>
                <a:tab pos="34734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Laser perturbations are emitted when the victim is ac</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tively speaking.</a:t>
            </a:r>
            <a:endParaRPr sz="2000" dirty="0">
              <a:latin typeface="Times New Roman" panose="02020603050405020304"/>
              <a:ea typeface="Times New Roman" panose="02020603050405020304"/>
              <a:cs typeface="Times New Roman" panose="02020603050405020304"/>
            </a:endParaRPr>
          </a:p>
        </p:txBody>
      </p:sp>
      <p:pic>
        <p:nvPicPr>
          <p:cNvPr id="62" name="picture 62"/>
          <p:cNvPicPr>
            <a:picLocks noChangeAspect="1"/>
          </p:cNvPicPr>
          <p:nvPr/>
        </p:nvPicPr>
        <p:blipFill>
          <a:blip r:embed="rId3"/>
          <a:stretch>
            <a:fillRect/>
          </a:stretch>
        </p:blipFill>
        <p:spPr>
          <a:xfrm rot="21600000">
            <a:off x="3460157" y="2749304"/>
            <a:ext cx="180700" cy="186808"/>
          </a:xfrm>
          <a:prstGeom prst="rect">
            <a:avLst/>
          </a:prstGeom>
        </p:spPr>
      </p:pic>
      <p:pic>
        <p:nvPicPr>
          <p:cNvPr id="64" name="picture 64"/>
          <p:cNvPicPr>
            <a:picLocks noChangeAspect="1"/>
          </p:cNvPicPr>
          <p:nvPr/>
        </p:nvPicPr>
        <p:blipFill>
          <a:blip r:embed="rId4"/>
          <a:stretch>
            <a:fillRect/>
          </a:stretch>
        </p:blipFill>
        <p:spPr>
          <a:xfrm rot="21600000">
            <a:off x="3460157" y="1936758"/>
            <a:ext cx="180700" cy="186808"/>
          </a:xfrm>
          <a:prstGeom prst="rect">
            <a:avLst/>
          </a:prstGeom>
        </p:spPr>
      </p:pic>
      <p:sp>
        <p:nvSpPr>
          <p:cNvPr id="66" name="textbox 66"/>
          <p:cNvSpPr/>
          <p:nvPr/>
        </p:nvSpPr>
        <p:spPr>
          <a:xfrm>
            <a:off x="780694" y="2331237"/>
            <a:ext cx="1925954" cy="269684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30" dirty="0">
                <a:solidFill>
                  <a:srgbClr val="000000">
                    <a:alpha val="100000"/>
                  </a:srgbClr>
                </a:solidFill>
                <a:latin typeface="Wingdings" panose="05000000000000000000"/>
                <a:ea typeface="Wingdings" panose="05000000000000000000"/>
                <a:cs typeface="Wingdings" panose="05000000000000000000"/>
              </a:rPr>
              <a:t>n</a:t>
            </a:r>
            <a:r>
              <a:rPr sz="2400" kern="0" spc="-1400" dirty="0">
                <a:solidFill>
                  <a:srgbClr val="000000">
                    <a:alpha val="100000"/>
                  </a:srgbClr>
                </a:solidFill>
                <a:latin typeface="Wingdings" panose="05000000000000000000"/>
                <a:ea typeface="Wingdings" panose="05000000000000000000"/>
                <a:cs typeface="Wingdings" panose="05000000000000000000"/>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Assumption</a:t>
            </a:r>
            <a:endParaRPr sz="24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12700" algn="l" rtl="0" eaLnBrk="0">
              <a:lnSpc>
                <a:spcPct val="69000"/>
              </a:lnSpc>
              <a:spcBef>
                <a:spcPts val="5"/>
              </a:spcBef>
            </a:pPr>
            <a:r>
              <a:rPr sz="2400" kern="0" spc="-20" dirty="0">
                <a:solidFill>
                  <a:srgbClr val="000000">
                    <a:alpha val="100000"/>
                  </a:srgbClr>
                </a:solidFill>
                <a:latin typeface="Wingdings" panose="05000000000000000000"/>
                <a:ea typeface="Wingdings" panose="05000000000000000000"/>
                <a:cs typeface="Wingdings" panose="05000000000000000000"/>
              </a:rPr>
              <a:t>n</a:t>
            </a:r>
            <a:r>
              <a:rPr sz="2400" kern="0" spc="-1460" dirty="0">
                <a:solidFill>
                  <a:srgbClr val="000000">
                    <a:alpha val="100000"/>
                  </a:srgbClr>
                </a:solidFill>
                <a:latin typeface="Wingdings" panose="05000000000000000000"/>
                <a:ea typeface="Wingdings" panose="05000000000000000000"/>
                <a:cs typeface="Wingdings" panose="05000000000000000000"/>
              </a:rPr>
              <a:t> </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Attack Goal</a:t>
            </a:r>
            <a:endParaRPr sz="2400" dirty="0">
              <a:latin typeface="Times New Roman" panose="02020603050405020304"/>
              <a:ea typeface="Times New Roman" panose="02020603050405020304"/>
              <a:cs typeface="Times New Roman" panose="02020603050405020304"/>
            </a:endParaRPr>
          </a:p>
        </p:txBody>
      </p:sp>
      <p:pic>
        <p:nvPicPr>
          <p:cNvPr id="68" name="picture 68"/>
          <p:cNvPicPr>
            <a:picLocks noChangeAspect="1"/>
          </p:cNvPicPr>
          <p:nvPr/>
        </p:nvPicPr>
        <p:blipFill>
          <a:blip r:embed="rId5"/>
          <a:stretch>
            <a:fillRect/>
          </a:stretch>
        </p:blipFill>
        <p:spPr>
          <a:xfrm rot="21600000">
            <a:off x="8409726" y="164199"/>
            <a:ext cx="1462592" cy="467336"/>
          </a:xfrm>
          <a:prstGeom prst="rect">
            <a:avLst/>
          </a:prstGeom>
        </p:spPr>
      </p:pic>
      <p:sp>
        <p:nvSpPr>
          <p:cNvPr id="70" name="textbox 70"/>
          <p:cNvSpPr/>
          <p:nvPr/>
        </p:nvSpPr>
        <p:spPr>
          <a:xfrm>
            <a:off x="307321" y="262769"/>
            <a:ext cx="2110739" cy="307340"/>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30" dirty="0">
                <a:solidFill>
                  <a:srgbClr val="000000">
                    <a:alpha val="100000"/>
                  </a:srgbClr>
                </a:solidFill>
                <a:latin typeface="Times New Roman" panose="02020603050405020304"/>
                <a:ea typeface="Times New Roman" panose="02020603050405020304"/>
                <a:cs typeface="Times New Roman" panose="02020603050405020304"/>
              </a:rPr>
              <a:t>Threat Model</a:t>
            </a:r>
            <a:endParaRPr sz="2700" dirty="0">
              <a:latin typeface="Times New Roman" panose="02020603050405020304"/>
              <a:ea typeface="Times New Roman" panose="02020603050405020304"/>
              <a:cs typeface="Times New Roman" panose="02020603050405020304"/>
            </a:endParaRPr>
          </a:p>
        </p:txBody>
      </p:sp>
      <p:sp>
        <p:nvSpPr>
          <p:cNvPr id="72" name="path 72"/>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74" name="textbox 74"/>
          <p:cNvSpPr/>
          <p:nvPr/>
        </p:nvSpPr>
        <p:spPr>
          <a:xfrm>
            <a:off x="11167212" y="6454546"/>
            <a:ext cx="107314"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4</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extbox 76"/>
          <p:cNvSpPr/>
          <p:nvPr/>
        </p:nvSpPr>
        <p:spPr>
          <a:xfrm>
            <a:off x="6202679" y="3332988"/>
            <a:ext cx="5520054" cy="2139950"/>
          </a:xfrm>
          <a:prstGeom prst="roundRect">
            <a:avLst>
              <a:gd name="adj" fmla="val 17158"/>
            </a:avLst>
          </a:prstGeom>
          <a:solidFill>
            <a:srgbClr val="F2F2F2">
              <a:alpha val="100000"/>
            </a:srgbClr>
          </a:solidFill>
          <a:ln w="12700" cap="flat">
            <a:solidFill>
              <a:srgbClr val="BFBFBF"/>
            </a:solidFill>
            <a:prstDash val="solid"/>
            <a:miter lim="0"/>
          </a:ln>
        </p:spPr>
        <p:txBody>
          <a:bodyPr vert="horz" wrap="square" lIns="0" tIns="0" rIns="0" bIns="0"/>
          <a:lstStyle/>
          <a:p>
            <a:pPr algn="l" rtl="0" eaLnBrk="0">
              <a:lnSpc>
                <a:spcPct val="109000"/>
              </a:lnSpc>
            </a:pPr>
            <a:endParaRPr sz="300" dirty="0">
              <a:latin typeface="Arial" panose="020B0604020202020204"/>
              <a:ea typeface="Arial" panose="020B0604020202020204"/>
              <a:cs typeface="Arial" panose="020B0604020202020204"/>
            </a:endParaRPr>
          </a:p>
          <a:p>
            <a:pPr marL="2366010" algn="l" rtl="0" eaLnBrk="0">
              <a:lnSpc>
                <a:spcPct val="68000"/>
              </a:lnSpc>
              <a:spcBef>
                <a:spcPts val="5"/>
              </a:spcBef>
            </a:pP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Dataset</a:t>
            </a:r>
            <a:endParaRPr sz="2400" dirty="0">
              <a:latin typeface="Times New Roman" panose="02020603050405020304"/>
              <a:ea typeface="Times New Roman" panose="02020603050405020304"/>
              <a:cs typeface="Times New Roman" panose="02020603050405020304"/>
            </a:endParaRPr>
          </a:p>
        </p:txBody>
      </p:sp>
      <p:sp>
        <p:nvSpPr>
          <p:cNvPr id="78" name="textbox 78"/>
          <p:cNvSpPr/>
          <p:nvPr/>
        </p:nvSpPr>
        <p:spPr>
          <a:xfrm>
            <a:off x="422148" y="3332988"/>
            <a:ext cx="5518784" cy="2139950"/>
          </a:xfrm>
          <a:prstGeom prst="roundRect">
            <a:avLst>
              <a:gd name="adj" fmla="val 17158"/>
            </a:avLst>
          </a:prstGeom>
          <a:solidFill>
            <a:srgbClr val="F2F2F2">
              <a:alpha val="100000"/>
            </a:srgbClr>
          </a:solidFill>
          <a:ln w="12700" cap="flat">
            <a:solidFill>
              <a:srgbClr val="BFBFBF"/>
            </a:solidFill>
            <a:prstDash val="solid"/>
            <a:miter lim="0"/>
          </a:ln>
        </p:spPr>
        <p:txBody>
          <a:bodyPr vert="horz" wrap="square" lIns="0" tIns="0" rIns="0" bIns="0"/>
          <a:lstStyle/>
          <a:p>
            <a:pPr algn="l" rtl="0" eaLnBrk="0">
              <a:lnSpc>
                <a:spcPct val="105000"/>
              </a:lnSpc>
            </a:pPr>
            <a:endParaRPr sz="400" dirty="0">
              <a:latin typeface="Arial" panose="020B0604020202020204"/>
              <a:ea typeface="Arial" panose="020B0604020202020204"/>
              <a:cs typeface="Arial" panose="020B0604020202020204"/>
            </a:endParaRPr>
          </a:p>
          <a:p>
            <a:pPr marL="1869440" algn="l" rtl="0" eaLnBrk="0">
              <a:lnSpc>
                <a:spcPct val="69000"/>
              </a:lnSpc>
              <a:spcBef>
                <a:spcPts val="0"/>
              </a:spcBef>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Observation</a:t>
            </a:r>
            <a:endParaRPr sz="2400" dirty="0">
              <a:latin typeface="Times New Roman" panose="02020603050405020304"/>
              <a:ea typeface="Times New Roman" panose="02020603050405020304"/>
              <a:cs typeface="Times New Roman" panose="02020603050405020304"/>
            </a:endParaRPr>
          </a:p>
        </p:txBody>
      </p:sp>
      <p:sp>
        <p:nvSpPr>
          <p:cNvPr id="80" name="path 80"/>
          <p:cNvSpPr/>
          <p:nvPr/>
        </p:nvSpPr>
        <p:spPr>
          <a:xfrm>
            <a:off x="5336667" y="1690370"/>
            <a:ext cx="909573" cy="282320"/>
          </a:xfrm>
          <a:custGeom>
            <a:avLst/>
            <a:gdLst/>
            <a:ahLst/>
            <a:cxnLst/>
            <a:rect l="0" t="0" r="0" b="0"/>
            <a:pathLst>
              <a:path w="1432" h="444">
                <a:moveTo>
                  <a:pt x="1290" y="0"/>
                </a:moveTo>
                <a:cubicBezTo>
                  <a:pt x="1336" y="12"/>
                  <a:pt x="1371" y="37"/>
                  <a:pt x="1395" y="77"/>
                </a:cubicBezTo>
                <a:cubicBezTo>
                  <a:pt x="1420" y="117"/>
                  <a:pt x="1432" y="165"/>
                  <a:pt x="1432" y="222"/>
                </a:cubicBezTo>
                <a:cubicBezTo>
                  <a:pt x="1432" y="279"/>
                  <a:pt x="1420" y="327"/>
                  <a:pt x="1395" y="366"/>
                </a:cubicBezTo>
                <a:cubicBezTo>
                  <a:pt x="1371" y="406"/>
                  <a:pt x="1336" y="432"/>
                  <a:pt x="1290" y="444"/>
                </a:cubicBezTo>
                <a:lnTo>
                  <a:pt x="1284" y="426"/>
                </a:lnTo>
                <a:cubicBezTo>
                  <a:pt x="1321" y="414"/>
                  <a:pt x="1347" y="390"/>
                  <a:pt x="1365" y="355"/>
                </a:cubicBezTo>
                <a:cubicBezTo>
                  <a:pt x="1383" y="319"/>
                  <a:pt x="1391" y="274"/>
                  <a:pt x="1391" y="220"/>
                </a:cubicBezTo>
                <a:cubicBezTo>
                  <a:pt x="1391" y="167"/>
                  <a:pt x="1383" y="123"/>
                  <a:pt x="1365" y="88"/>
                </a:cubicBezTo>
                <a:cubicBezTo>
                  <a:pt x="1348" y="53"/>
                  <a:pt x="1320" y="30"/>
                  <a:pt x="1284" y="17"/>
                </a:cubicBezTo>
                <a:lnTo>
                  <a:pt x="1290" y="0"/>
                </a:lnTo>
                <a:close/>
                <a:moveTo>
                  <a:pt x="141" y="0"/>
                </a:moveTo>
                <a:lnTo>
                  <a:pt x="148" y="17"/>
                </a:lnTo>
                <a:cubicBezTo>
                  <a:pt x="111" y="30"/>
                  <a:pt x="84" y="53"/>
                  <a:pt x="66" y="88"/>
                </a:cubicBezTo>
                <a:cubicBezTo>
                  <a:pt x="49" y="123"/>
                  <a:pt x="40" y="167"/>
                  <a:pt x="40" y="220"/>
                </a:cubicBezTo>
                <a:cubicBezTo>
                  <a:pt x="40" y="274"/>
                  <a:pt x="49" y="319"/>
                  <a:pt x="66" y="355"/>
                </a:cubicBezTo>
                <a:cubicBezTo>
                  <a:pt x="84" y="390"/>
                  <a:pt x="111" y="414"/>
                  <a:pt x="147" y="426"/>
                </a:cubicBezTo>
                <a:lnTo>
                  <a:pt x="141" y="444"/>
                </a:lnTo>
                <a:cubicBezTo>
                  <a:pt x="95" y="432"/>
                  <a:pt x="60" y="406"/>
                  <a:pt x="36" y="366"/>
                </a:cubicBezTo>
                <a:cubicBezTo>
                  <a:pt x="12" y="327"/>
                  <a:pt x="0" y="279"/>
                  <a:pt x="0" y="222"/>
                </a:cubicBezTo>
                <a:cubicBezTo>
                  <a:pt x="0" y="165"/>
                  <a:pt x="12" y="117"/>
                  <a:pt x="36" y="77"/>
                </a:cubicBezTo>
                <a:cubicBezTo>
                  <a:pt x="61" y="37"/>
                  <a:pt x="96" y="12"/>
                  <a:pt x="141" y="0"/>
                </a:cubicBezTo>
              </a:path>
            </a:pathLst>
          </a:custGeom>
          <a:solidFill>
            <a:srgbClr val="C00000">
              <a:alpha val="100000"/>
            </a:srgbClr>
          </a:solidFill>
          <a:ln w="0" cap="flat">
            <a:noFill/>
            <a:prstDash val="solid"/>
            <a:miter lim="0"/>
          </a:ln>
        </p:spPr>
        <p:txBody>
          <a:bodyPr rtlCol="0"/>
          <a:lstStyle/>
          <a:p>
            <a:pPr algn="ctr"/>
            <a:endParaRPr lang="zh-CN" altLang="en-US"/>
          </a:p>
        </p:txBody>
      </p:sp>
      <p:sp>
        <p:nvSpPr>
          <p:cNvPr id="82" name="textbox 82"/>
          <p:cNvSpPr/>
          <p:nvPr/>
        </p:nvSpPr>
        <p:spPr>
          <a:xfrm>
            <a:off x="504571" y="1115463"/>
            <a:ext cx="8126730" cy="133096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69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Basic Problem Formula</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tion</a:t>
            </a:r>
            <a:endParaRPr sz="2400" dirty="0">
              <a:latin typeface="Times New Roman" panose="02020603050405020304"/>
              <a:ea typeface="Times New Roman" panose="02020603050405020304"/>
              <a:cs typeface="Times New Roman" panose="02020603050405020304"/>
            </a:endParaRPr>
          </a:p>
          <a:p>
            <a:pPr algn="l" rtl="0" eaLnBrk="0">
              <a:lnSpc>
                <a:spcPct val="104000"/>
              </a:lnSpc>
            </a:pPr>
            <a:endParaRPr sz="1000" dirty="0">
              <a:latin typeface="Arial" panose="020B0604020202020204"/>
              <a:ea typeface="Arial" panose="020B0604020202020204"/>
              <a:cs typeface="Arial" panose="020B0604020202020204"/>
            </a:endParaRPr>
          </a:p>
          <a:p>
            <a:pPr marL="3272155" algn="l" rtl="0" eaLnBrk="0">
              <a:lnSpc>
                <a:spcPct val="89000"/>
              </a:lnSpc>
              <a:spcBef>
                <a:spcPts val="725"/>
              </a:spcBef>
            </a:pPr>
            <a:r>
              <a:rPr sz="2400" kern="0" spc="0" dirty="0">
                <a:solidFill>
                  <a:srgbClr val="C00000">
                    <a:alpha val="100000"/>
                  </a:srgbClr>
                </a:solidFill>
                <a:latin typeface="Cambria Math" panose="02040503050406030204"/>
                <a:ea typeface="Cambria Math" panose="02040503050406030204"/>
                <a:cs typeface="Cambria Math" panose="02040503050406030204"/>
              </a:rPr>
              <a:t>arg</a:t>
            </a:r>
            <a:r>
              <a:rPr sz="2400" kern="0" spc="26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min</a:t>
            </a:r>
            <a:r>
              <a:rPr sz="2400" kern="0" spc="3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L</a:t>
            </a:r>
            <a:r>
              <a:rPr sz="2400" kern="0" spc="30" dirty="0">
                <a:solidFill>
                  <a:srgbClr val="C00000">
                    <a:alpha val="100000"/>
                  </a:srgbClr>
                </a:solidFill>
                <a:latin typeface="Cambria Math" panose="02040503050406030204"/>
                <a:ea typeface="Cambria Math" panose="02040503050406030204"/>
                <a:cs typeface="Cambria Math" panose="02040503050406030204"/>
              </a:rPr>
              <a:t>(</a:t>
            </a:r>
            <a:r>
              <a:rPr sz="2400" kern="0" spc="0" dirty="0">
                <a:solidFill>
                  <a:srgbClr val="C00000">
                    <a:alpha val="100000"/>
                  </a:srgbClr>
                </a:solidFill>
                <a:latin typeface="Cambria Math" panose="02040503050406030204"/>
                <a:ea typeface="Cambria Math" panose="02040503050406030204"/>
                <a:cs typeface="Cambria Math" panose="02040503050406030204"/>
              </a:rPr>
              <a:t>f</a:t>
            </a:r>
            <a:r>
              <a:rPr sz="2400" kern="0" spc="3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x</a:t>
            </a:r>
            <a:r>
              <a:rPr sz="2400" kern="0" spc="250" dirty="0">
                <a:solidFill>
                  <a:srgbClr val="C00000">
                    <a:alpha val="100000"/>
                  </a:srgbClr>
                </a:solidFill>
                <a:latin typeface="Cambria Math" panose="02040503050406030204"/>
                <a:ea typeface="Cambria Math" panose="02040503050406030204"/>
                <a:cs typeface="Cambria Math" panose="02040503050406030204"/>
              </a:rPr>
              <a:t> </a:t>
            </a:r>
            <a:r>
              <a:rPr sz="2400" kern="0" spc="30" dirty="0">
                <a:solidFill>
                  <a:srgbClr val="C00000">
                    <a:alpha val="100000"/>
                  </a:srgbClr>
                </a:solidFill>
                <a:latin typeface="Cambria Math" panose="02040503050406030204"/>
                <a:ea typeface="Cambria Math" panose="02040503050406030204"/>
                <a:cs typeface="Cambria Math" panose="02040503050406030204"/>
              </a:rPr>
              <a:t>+ δ  ,</a:t>
            </a:r>
            <a:r>
              <a:rPr sz="2400" kern="0" spc="-140" dirty="0">
                <a:solidFill>
                  <a:srgbClr val="C00000">
                    <a:alpha val="100000"/>
                  </a:srgbClr>
                </a:solidFill>
                <a:latin typeface="Cambria Math" panose="02040503050406030204"/>
                <a:ea typeface="Cambria Math" panose="02040503050406030204"/>
                <a:cs typeface="Cambria Math" panose="02040503050406030204"/>
              </a:rPr>
              <a:t> </a:t>
            </a:r>
            <a:r>
              <a:rPr sz="3600" kern="0" spc="0" baseline="4000" dirty="0">
                <a:solidFill>
                  <a:srgbClr val="C00000">
                    <a:alpha val="100000"/>
                  </a:srgbClr>
                </a:solidFill>
                <a:latin typeface="Cambria Math" panose="02040503050406030204"/>
                <a:ea typeface="Cambria Math" panose="02040503050406030204"/>
                <a:cs typeface="Cambria Math" panose="02040503050406030204"/>
              </a:rPr>
              <a:t>Y</a:t>
            </a:r>
            <a:r>
              <a:rPr sz="2600" kern="0" spc="0" baseline="6000" dirty="0">
                <a:solidFill>
                  <a:srgbClr val="C00000">
                    <a:alpha val="100000"/>
                  </a:srgbClr>
                </a:solidFill>
                <a:latin typeface="Cambria Math" panose="02040503050406030204"/>
                <a:ea typeface="Cambria Math" panose="02040503050406030204"/>
                <a:cs typeface="Cambria Math" panose="02040503050406030204"/>
              </a:rPr>
              <a:t>I</a:t>
            </a:r>
            <a:r>
              <a:rPr sz="3600" kern="0" spc="30" baseline="4000" dirty="0">
                <a:solidFill>
                  <a:srgbClr val="C00000">
                    <a:alpha val="100000"/>
                  </a:srgbClr>
                </a:solidFill>
                <a:latin typeface="Cambria Math" panose="02040503050406030204"/>
                <a:ea typeface="Cambria Math" panose="02040503050406030204"/>
                <a:cs typeface="Cambria Math" panose="02040503050406030204"/>
              </a:rPr>
              <a:t>)</a:t>
            </a:r>
            <a:r>
              <a:rPr sz="2300" kern="0" spc="20" dirty="0">
                <a:solidFill>
                  <a:srgbClr val="C00000">
                    <a:alpha val="100000"/>
                  </a:srgbClr>
                </a:solidFill>
                <a:latin typeface="Cambria Math" panose="02040503050406030204"/>
                <a:ea typeface="Cambria Math" panose="02040503050406030204"/>
                <a:cs typeface="Cambria Math" panose="02040503050406030204"/>
              </a:rPr>
              <a:t>             </a:t>
            </a:r>
            <a:r>
              <a:rPr sz="2300" kern="0" spc="10" dirty="0">
                <a:solidFill>
                  <a:srgbClr val="C00000">
                    <a:alpha val="100000"/>
                  </a:srgbClr>
                </a:solidFill>
                <a:latin typeface="Cambria Math" panose="02040503050406030204"/>
                <a:ea typeface="Cambria Math" panose="02040503050406030204"/>
                <a:cs typeface="Cambria Math" panose="02040503050406030204"/>
              </a:rPr>
              <a:t>   </a:t>
            </a:r>
            <a:r>
              <a:rPr sz="2400" kern="0" spc="20" dirty="0">
                <a:solidFill>
                  <a:srgbClr val="C00000">
                    <a:alpha val="100000"/>
                  </a:srgbClr>
                </a:solidFill>
                <a:latin typeface="Cambria Math" panose="02040503050406030204"/>
                <a:ea typeface="Cambria Math" panose="02040503050406030204"/>
                <a:cs typeface="Cambria Math" panose="02040503050406030204"/>
              </a:rPr>
              <a:t>(1)</a:t>
            </a:r>
            <a:endParaRPr sz="2400" dirty="0">
              <a:latin typeface="Cambria Math" panose="02040503050406030204"/>
              <a:ea typeface="Cambria Math" panose="02040503050406030204"/>
              <a:cs typeface="Cambria Math" panose="02040503050406030204"/>
            </a:endParaRPr>
          </a:p>
          <a:p>
            <a:pPr marL="3970655" algn="l" rtl="0" eaLnBrk="0">
              <a:lnSpc>
                <a:spcPct val="75000"/>
              </a:lnSpc>
            </a:pPr>
            <a:r>
              <a:rPr sz="1700" kern="0" spc="30" dirty="0">
                <a:solidFill>
                  <a:srgbClr val="C00000">
                    <a:alpha val="100000"/>
                  </a:srgbClr>
                </a:solidFill>
                <a:latin typeface="Cambria Math" panose="02040503050406030204"/>
                <a:ea typeface="Cambria Math" panose="02040503050406030204"/>
                <a:cs typeface="Cambria Math" panose="02040503050406030204"/>
              </a:rPr>
              <a:t>δ</a:t>
            </a:r>
            <a:endParaRPr sz="1700" dirty="0">
              <a:latin typeface="Cambria Math" panose="02040503050406030204"/>
              <a:ea typeface="Cambria Math" panose="02040503050406030204"/>
              <a:cs typeface="Cambria Math" panose="02040503050406030204"/>
            </a:endParaRPr>
          </a:p>
          <a:p>
            <a:pPr marL="14605" algn="l" rtl="0" eaLnBrk="0">
              <a:lnSpc>
                <a:spcPct val="85000"/>
              </a:lnSpc>
              <a:spcBef>
                <a:spcPts val="380"/>
              </a:spcBef>
            </a:pPr>
            <a:r>
              <a:rPr sz="1800" kern="0" spc="0" dirty="0">
                <a:solidFill>
                  <a:srgbClr val="C00000">
                    <a:alpha val="100000"/>
                  </a:srgbClr>
                </a:solidFill>
                <a:latin typeface="Cambria Math" panose="02040503050406030204"/>
                <a:ea typeface="Cambria Math" panose="02040503050406030204"/>
                <a:cs typeface="Cambria Math" panose="02040503050406030204"/>
              </a:rPr>
              <a:t>L(·)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refers to the loss function of</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a white-box system, which in our work</a:t>
            </a:r>
            <a:r>
              <a:rPr sz="18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is</a:t>
            </a:r>
            <a:r>
              <a:rPr sz="18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DeepSpeech.</a:t>
            </a:r>
            <a:endParaRPr sz="1800" dirty="0">
              <a:latin typeface="Times New Roman" panose="02020603050405020304"/>
              <a:ea typeface="Times New Roman" panose="02020603050405020304"/>
              <a:cs typeface="Times New Roman" panose="02020603050405020304"/>
            </a:endParaRPr>
          </a:p>
        </p:txBody>
      </p:sp>
      <p:sp>
        <p:nvSpPr>
          <p:cNvPr id="84" name="rect 84"/>
          <p:cNvSpPr/>
          <p:nvPr/>
        </p:nvSpPr>
        <p:spPr>
          <a:xfrm>
            <a:off x="563880" y="3887723"/>
            <a:ext cx="5236464" cy="1476756"/>
          </a:xfrm>
          <a:prstGeom prst="rect">
            <a:avLst/>
          </a:prstGeom>
          <a:solidFill>
            <a:srgbClr val="D9D9D9">
              <a:alpha val="100000"/>
            </a:srgbClr>
          </a:solidFill>
          <a:ln w="0" cap="flat">
            <a:noFill/>
            <a:prstDash val="solid"/>
            <a:miter lim="0"/>
          </a:ln>
        </p:spPr>
        <p:txBody>
          <a:bodyPr rtlCol="0"/>
          <a:lstStyle/>
          <a:p>
            <a:pPr algn="ctr"/>
            <a:endParaRPr lang="zh-CN" altLang="en-US"/>
          </a:p>
        </p:txBody>
      </p:sp>
      <p:sp>
        <p:nvSpPr>
          <p:cNvPr id="86" name="textbox 86"/>
          <p:cNvSpPr/>
          <p:nvPr/>
        </p:nvSpPr>
        <p:spPr>
          <a:xfrm>
            <a:off x="551180" y="3875023"/>
            <a:ext cx="5262245" cy="1502410"/>
          </a:xfrm>
          <a:prstGeom prst="roundRect">
            <a:avLst>
              <a:gd name="adj" fmla="val 17377"/>
            </a:avLst>
          </a:prstGeom>
          <a:noFill/>
          <a:ln w="12700" cap="flat">
            <a:solidFill>
              <a:srgbClr val="BFBFBF"/>
            </a:solidFill>
            <a:prstDash val="solid"/>
            <a:miter lim="0"/>
          </a:ln>
        </p:spPr>
        <p:txBody>
          <a:bodyPr vert="horz" wrap="square" lIns="0" tIns="0" rIns="0" bIns="0"/>
          <a:lstStyle/>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00330" indent="2540" algn="l" rtl="0" eaLnBrk="0">
              <a:lnSpc>
                <a:spcPct val="105000"/>
              </a:lnSpc>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Different</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ASR</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mo</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dels,</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despite</a:t>
            </a:r>
            <a:r>
              <a:rPr sz="20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their</a:t>
            </a:r>
            <a:r>
              <a:rPr sz="20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unique</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structures</a:t>
            </a:r>
            <a:r>
              <a:rPr sz="20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and</a:t>
            </a:r>
            <a:r>
              <a:rPr sz="20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parameters,</a:t>
            </a:r>
            <a:r>
              <a:rPr sz="20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often</a:t>
            </a:r>
            <a:r>
              <a:rPr sz="20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capture</a:t>
            </a:r>
            <a:r>
              <a:rPr sz="20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similar</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high-level features for targeted voice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commands.</a:t>
            </a:r>
            <a:endParaRPr sz="2000" dirty="0">
              <a:latin typeface="Times New Roman" panose="02020603050405020304"/>
              <a:ea typeface="Times New Roman" panose="02020603050405020304"/>
              <a:cs typeface="Times New Roman" panose="02020603050405020304"/>
            </a:endParaRPr>
          </a:p>
        </p:txBody>
      </p:sp>
      <p:sp>
        <p:nvSpPr>
          <p:cNvPr id="88" name="path 88"/>
          <p:cNvSpPr/>
          <p:nvPr/>
        </p:nvSpPr>
        <p:spPr>
          <a:xfrm>
            <a:off x="6039230" y="5751245"/>
            <a:ext cx="911098" cy="282333"/>
          </a:xfrm>
          <a:custGeom>
            <a:avLst/>
            <a:gdLst/>
            <a:ahLst/>
            <a:cxnLst/>
            <a:rect l="0" t="0" r="0" b="0"/>
            <a:pathLst>
              <a:path w="1434" h="444">
                <a:moveTo>
                  <a:pt x="1292" y="0"/>
                </a:moveTo>
                <a:cubicBezTo>
                  <a:pt x="1338" y="12"/>
                  <a:pt x="1373" y="38"/>
                  <a:pt x="1398" y="77"/>
                </a:cubicBezTo>
                <a:cubicBezTo>
                  <a:pt x="1422" y="117"/>
                  <a:pt x="1434" y="166"/>
                  <a:pt x="1434" y="222"/>
                </a:cubicBezTo>
                <a:cubicBezTo>
                  <a:pt x="1434" y="278"/>
                  <a:pt x="1422" y="327"/>
                  <a:pt x="1398" y="366"/>
                </a:cubicBezTo>
                <a:cubicBezTo>
                  <a:pt x="1374" y="406"/>
                  <a:pt x="1338" y="432"/>
                  <a:pt x="1292" y="444"/>
                </a:cubicBezTo>
                <a:lnTo>
                  <a:pt x="1287" y="426"/>
                </a:lnTo>
                <a:cubicBezTo>
                  <a:pt x="1323" y="414"/>
                  <a:pt x="1350" y="390"/>
                  <a:pt x="1368" y="355"/>
                </a:cubicBezTo>
                <a:cubicBezTo>
                  <a:pt x="1385" y="319"/>
                  <a:pt x="1394" y="274"/>
                  <a:pt x="1394" y="220"/>
                </a:cubicBezTo>
                <a:cubicBezTo>
                  <a:pt x="1394" y="167"/>
                  <a:pt x="1385" y="123"/>
                  <a:pt x="1368" y="88"/>
                </a:cubicBezTo>
                <a:cubicBezTo>
                  <a:pt x="1350" y="53"/>
                  <a:pt x="1323" y="30"/>
                  <a:pt x="1286" y="18"/>
                </a:cubicBezTo>
                <a:lnTo>
                  <a:pt x="1292" y="0"/>
                </a:lnTo>
                <a:close/>
                <a:moveTo>
                  <a:pt x="141" y="0"/>
                </a:moveTo>
                <a:lnTo>
                  <a:pt x="148" y="18"/>
                </a:lnTo>
                <a:cubicBezTo>
                  <a:pt x="111" y="30"/>
                  <a:pt x="84" y="53"/>
                  <a:pt x="66" y="88"/>
                </a:cubicBezTo>
                <a:cubicBezTo>
                  <a:pt x="49" y="123"/>
                  <a:pt x="40" y="167"/>
                  <a:pt x="40" y="220"/>
                </a:cubicBezTo>
                <a:cubicBezTo>
                  <a:pt x="40" y="274"/>
                  <a:pt x="49" y="319"/>
                  <a:pt x="66" y="355"/>
                </a:cubicBezTo>
                <a:cubicBezTo>
                  <a:pt x="84" y="390"/>
                  <a:pt x="111" y="414"/>
                  <a:pt x="147" y="426"/>
                </a:cubicBezTo>
                <a:lnTo>
                  <a:pt x="141" y="444"/>
                </a:lnTo>
                <a:cubicBezTo>
                  <a:pt x="95" y="432"/>
                  <a:pt x="60" y="406"/>
                  <a:pt x="36" y="366"/>
                </a:cubicBezTo>
                <a:cubicBezTo>
                  <a:pt x="12" y="327"/>
                  <a:pt x="0" y="278"/>
                  <a:pt x="0" y="222"/>
                </a:cubicBezTo>
                <a:cubicBezTo>
                  <a:pt x="0" y="166"/>
                  <a:pt x="12" y="117"/>
                  <a:pt x="36" y="77"/>
                </a:cubicBezTo>
                <a:cubicBezTo>
                  <a:pt x="61" y="38"/>
                  <a:pt x="96" y="12"/>
                  <a:pt x="141" y="0"/>
                </a:cubicBezTo>
              </a:path>
            </a:pathLst>
          </a:custGeom>
          <a:solidFill>
            <a:srgbClr val="C00000">
              <a:alpha val="100000"/>
            </a:srgbClr>
          </a:solidFill>
          <a:ln w="0" cap="flat">
            <a:noFill/>
            <a:prstDash val="solid"/>
            <a:miter lim="0"/>
          </a:ln>
        </p:spPr>
        <p:txBody>
          <a:bodyPr rtlCol="0"/>
          <a:lstStyle/>
          <a:p>
            <a:pPr algn="ctr"/>
            <a:endParaRPr lang="zh-CN" altLang="en-US"/>
          </a:p>
        </p:txBody>
      </p:sp>
      <p:sp>
        <p:nvSpPr>
          <p:cNvPr id="90" name="textbox 90"/>
          <p:cNvSpPr/>
          <p:nvPr/>
        </p:nvSpPr>
        <p:spPr>
          <a:xfrm>
            <a:off x="511098" y="5682811"/>
            <a:ext cx="8390255" cy="7702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265170" algn="l" rtl="0" eaLnBrk="0">
              <a:lnSpc>
                <a:spcPts val="3105"/>
              </a:lnSpc>
            </a:pPr>
            <a:r>
              <a:rPr sz="2400" kern="0" spc="0" dirty="0">
                <a:solidFill>
                  <a:srgbClr val="C00000">
                    <a:alpha val="100000"/>
                  </a:srgbClr>
                </a:solidFill>
                <a:latin typeface="Cambria Math" panose="02040503050406030204"/>
                <a:ea typeface="Cambria Math" panose="02040503050406030204"/>
                <a:cs typeface="Cambria Math" panose="02040503050406030204"/>
              </a:rPr>
              <a:t>arg</a:t>
            </a:r>
            <a:r>
              <a:rPr sz="2400" kern="0" spc="4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n</a:t>
            </a:r>
            <a:r>
              <a:rPr sz="2400" kern="0" spc="11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E</a:t>
            </a:r>
            <a:r>
              <a:rPr sz="2400" kern="0" spc="-490" dirty="0">
                <a:solidFill>
                  <a:srgbClr val="C00000">
                    <a:alpha val="100000"/>
                  </a:srgbClr>
                </a:solidFill>
                <a:latin typeface="Cambria Math" panose="02040503050406030204"/>
                <a:ea typeface="Cambria Math" panose="02040503050406030204"/>
                <a:cs typeface="Cambria Math" panose="02040503050406030204"/>
              </a:rPr>
              <a:t> </a:t>
            </a:r>
            <a:r>
              <a:rPr sz="1700" kern="0" spc="0" dirty="0">
                <a:solidFill>
                  <a:srgbClr val="C00000">
                    <a:alpha val="100000"/>
                  </a:srgbClr>
                </a:solidFill>
                <a:latin typeface="Cambria Math" panose="02040503050406030204"/>
                <a:ea typeface="Cambria Math" panose="02040503050406030204"/>
                <a:cs typeface="Cambria Math" panose="02040503050406030204"/>
              </a:rPr>
              <a:t>x</a:t>
            </a:r>
            <a:r>
              <a:rPr sz="1700" kern="0" spc="110" dirty="0">
                <a:solidFill>
                  <a:srgbClr val="C00000">
                    <a:alpha val="100000"/>
                  </a:srgbClr>
                </a:solidFill>
                <a:latin typeface="Cambria Math" panose="02040503050406030204"/>
                <a:ea typeface="Cambria Math" panose="02040503050406030204"/>
                <a:cs typeface="Cambria Math" panose="02040503050406030204"/>
              </a:rPr>
              <a:t>~</a:t>
            </a:r>
            <a:r>
              <a:rPr sz="1700" kern="0" spc="0" dirty="0">
                <a:solidFill>
                  <a:srgbClr val="C00000">
                    <a:alpha val="100000"/>
                  </a:srgbClr>
                </a:solidFill>
                <a:latin typeface="Cambria Math" panose="02040503050406030204"/>
                <a:ea typeface="Cambria Math" panose="02040503050406030204"/>
                <a:cs typeface="Cambria Math" panose="02040503050406030204"/>
              </a:rPr>
              <a:t>S</a:t>
            </a:r>
            <a:r>
              <a:rPr sz="2400" kern="0" spc="0" dirty="0">
                <a:solidFill>
                  <a:srgbClr val="C00000">
                    <a:alpha val="100000"/>
                  </a:srgbClr>
                </a:solidFill>
                <a:latin typeface="Cambria Math" panose="02040503050406030204"/>
                <a:ea typeface="Cambria Math" panose="02040503050406030204"/>
                <a:cs typeface="Cambria Math" panose="02040503050406030204"/>
              </a:rPr>
              <a:t>L</a:t>
            </a:r>
            <a:r>
              <a:rPr sz="2400" kern="0" spc="110" dirty="0">
                <a:solidFill>
                  <a:srgbClr val="C00000">
                    <a:alpha val="100000"/>
                  </a:srgbClr>
                </a:solidFill>
                <a:latin typeface="Cambria Math" panose="02040503050406030204"/>
                <a:ea typeface="Cambria Math" panose="02040503050406030204"/>
                <a:cs typeface="Cambria Math" panose="02040503050406030204"/>
              </a:rPr>
              <a:t>(</a:t>
            </a:r>
            <a:r>
              <a:rPr sz="2400" kern="0" spc="0" dirty="0">
                <a:solidFill>
                  <a:srgbClr val="C00000">
                    <a:alpha val="100000"/>
                  </a:srgbClr>
                </a:solidFill>
                <a:latin typeface="Cambria Math" panose="02040503050406030204"/>
                <a:ea typeface="Cambria Math" panose="02040503050406030204"/>
                <a:cs typeface="Cambria Math" panose="02040503050406030204"/>
              </a:rPr>
              <a:t>f</a:t>
            </a:r>
            <a:r>
              <a:rPr sz="2400" kern="0" spc="110" dirty="0">
                <a:solidFill>
                  <a:srgbClr val="C00000">
                    <a:alpha val="100000"/>
                  </a:srgbClr>
                </a:solidFill>
                <a:latin typeface="Cambria Math" panose="02040503050406030204"/>
                <a:ea typeface="Cambria Math" panose="02040503050406030204"/>
                <a:cs typeface="Cambria Math" panose="02040503050406030204"/>
              </a:rPr>
              <a:t>  </a:t>
            </a:r>
            <a:r>
              <a:rPr lang="en-US" sz="2400" kern="0" spc="11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x</a:t>
            </a:r>
            <a:r>
              <a:rPr lang="en-US" sz="2400" kern="0" spc="0" dirty="0">
                <a:solidFill>
                  <a:srgbClr val="C00000">
                    <a:alpha val="100000"/>
                  </a:srgbClr>
                </a:solidFill>
                <a:latin typeface="Cambria Math" panose="02040503050406030204"/>
                <a:ea typeface="Cambria Math" panose="02040503050406030204"/>
                <a:cs typeface="Cambria Math" panose="02040503050406030204"/>
              </a:rPr>
              <a:t> </a:t>
            </a:r>
            <a:r>
              <a:rPr sz="2400" kern="0" spc="110" dirty="0">
                <a:solidFill>
                  <a:srgbClr val="C00000">
                    <a:alpha val="100000"/>
                  </a:srgbClr>
                </a:solidFill>
                <a:latin typeface="Cambria Math" panose="02040503050406030204"/>
                <a:ea typeface="Cambria Math" panose="02040503050406030204"/>
                <a:cs typeface="Cambria Math" panose="02040503050406030204"/>
              </a:rPr>
              <a:t>+</a:t>
            </a:r>
            <a:r>
              <a:rPr lang="en-US" sz="2400" kern="0" spc="110" dirty="0">
                <a:solidFill>
                  <a:srgbClr val="C00000">
                    <a:alpha val="100000"/>
                  </a:srgbClr>
                </a:solidFill>
                <a:latin typeface="Cambria Math" panose="02040503050406030204"/>
                <a:ea typeface="Cambria Math" panose="02040503050406030204"/>
                <a:cs typeface="Cambria Math" panose="02040503050406030204"/>
              </a:rPr>
              <a:t> </a:t>
            </a:r>
            <a:r>
              <a:rPr sz="2400" kern="0" spc="110" dirty="0">
                <a:solidFill>
                  <a:srgbClr val="C00000">
                    <a:alpha val="100000"/>
                  </a:srgbClr>
                </a:solidFill>
                <a:latin typeface="Cambria Math" panose="02040503050406030204"/>
                <a:ea typeface="Cambria Math" panose="02040503050406030204"/>
                <a:cs typeface="Cambria Math" panose="02040503050406030204"/>
              </a:rPr>
              <a:t>δ  ,</a:t>
            </a:r>
            <a:r>
              <a:rPr sz="2400" kern="0" spc="-140" dirty="0">
                <a:solidFill>
                  <a:srgbClr val="C00000">
                    <a:alpha val="100000"/>
                  </a:srgbClr>
                </a:solidFill>
                <a:latin typeface="Cambria Math" panose="02040503050406030204"/>
                <a:ea typeface="Cambria Math" panose="02040503050406030204"/>
                <a:cs typeface="Cambria Math" panose="02040503050406030204"/>
              </a:rPr>
              <a:t> </a:t>
            </a:r>
            <a:r>
              <a:rPr sz="3600" kern="0" spc="0" baseline="14000" dirty="0">
                <a:solidFill>
                  <a:srgbClr val="C00000">
                    <a:alpha val="100000"/>
                  </a:srgbClr>
                </a:solidFill>
                <a:latin typeface="Cambria Math" panose="02040503050406030204"/>
                <a:ea typeface="Cambria Math" panose="02040503050406030204"/>
                <a:cs typeface="Cambria Math" panose="02040503050406030204"/>
              </a:rPr>
              <a:t>Y</a:t>
            </a:r>
            <a:r>
              <a:rPr sz="2600" kern="0" spc="0" baseline="20000" dirty="0">
                <a:solidFill>
                  <a:srgbClr val="C00000">
                    <a:alpha val="100000"/>
                  </a:srgbClr>
                </a:solidFill>
                <a:latin typeface="Cambria Math" panose="02040503050406030204"/>
                <a:ea typeface="Cambria Math" panose="02040503050406030204"/>
                <a:cs typeface="Cambria Math" panose="02040503050406030204"/>
              </a:rPr>
              <a:t>I</a:t>
            </a:r>
            <a:r>
              <a:rPr sz="3600" kern="0" spc="110" baseline="14000" dirty="0">
                <a:solidFill>
                  <a:srgbClr val="C00000">
                    <a:alpha val="100000"/>
                  </a:srgbClr>
                </a:solidFill>
                <a:latin typeface="Cambria Math" panose="02040503050406030204"/>
                <a:ea typeface="Cambria Math" panose="02040503050406030204"/>
                <a:cs typeface="Cambria Math" panose="02040503050406030204"/>
              </a:rPr>
              <a:t>)</a:t>
            </a:r>
            <a:r>
              <a:rPr sz="2300" kern="0" spc="70" dirty="0">
                <a:solidFill>
                  <a:srgbClr val="C00000">
                    <a:alpha val="100000"/>
                  </a:srgbClr>
                </a:solidFill>
                <a:latin typeface="Cambria Math" panose="02040503050406030204"/>
                <a:ea typeface="Cambria Math" panose="02040503050406030204"/>
                <a:cs typeface="Cambria Math" panose="02040503050406030204"/>
              </a:rPr>
              <a:t>     </a:t>
            </a:r>
            <a:r>
              <a:rPr sz="2400" kern="0" spc="110" dirty="0">
                <a:solidFill>
                  <a:srgbClr val="C00000">
                    <a:alpha val="100000"/>
                  </a:srgbClr>
                </a:solidFill>
                <a:latin typeface="Cambria Math" panose="02040503050406030204"/>
                <a:ea typeface="Cambria Math" panose="02040503050406030204"/>
                <a:cs typeface="Cambria Math" panose="02040503050406030204"/>
              </a:rPr>
              <a:t>(2)</a:t>
            </a:r>
            <a:endParaRPr sz="2400" dirty="0">
              <a:latin typeface="Cambria Math" panose="02040503050406030204"/>
              <a:ea typeface="Cambria Math" panose="02040503050406030204"/>
              <a:cs typeface="Cambria Math" panose="02040503050406030204"/>
            </a:endParaRPr>
          </a:p>
          <a:p>
            <a:pPr algn="l" rtl="0" eaLnBrk="0">
              <a:lnSpc>
                <a:spcPct val="100000"/>
              </a:lnSpc>
            </a:pPr>
            <a:endParaRPr sz="800" dirty="0">
              <a:latin typeface="Arial" panose="020B0604020202020204"/>
              <a:ea typeface="Arial" panose="020B0604020202020204"/>
              <a:cs typeface="Arial" panose="020B0604020202020204"/>
            </a:endParaRPr>
          </a:p>
          <a:p>
            <a:pPr marL="12700" algn="l" rtl="0" eaLnBrk="0">
              <a:lnSpc>
                <a:spcPct val="83000"/>
              </a:lnSpc>
              <a:spcBef>
                <a:spcPts val="5"/>
              </a:spcBef>
            </a:pPr>
            <a:r>
              <a:rPr sz="1800" kern="0" spc="0" dirty="0">
                <a:solidFill>
                  <a:srgbClr val="C00000">
                    <a:alpha val="100000"/>
                  </a:srgbClr>
                </a:solidFill>
                <a:latin typeface="Cambria Math" panose="02040503050406030204"/>
                <a:ea typeface="Cambria Math" panose="02040503050406030204"/>
                <a:cs typeface="Cambria Math" panose="02040503050406030204"/>
              </a:rPr>
              <a:t>S</a:t>
            </a:r>
            <a:r>
              <a:rPr sz="1800" kern="0" spc="20" dirty="0">
                <a:solidFill>
                  <a:srgbClr val="C00000">
                    <a:alpha val="100000"/>
                  </a:srgbClr>
                </a:solidFill>
                <a:latin typeface="Cambria Math" panose="02040503050406030204"/>
                <a:ea typeface="Cambria Math" panose="02040503050406030204"/>
                <a:cs typeface="Cambria Math" panose="020405030504060302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represents</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similar</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distribution</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of</a:t>
            </a:r>
            <a:r>
              <a:rPr sz="18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audio</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inputs</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and</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C00000">
                    <a:alpha val="100000"/>
                  </a:srgbClr>
                </a:solidFill>
                <a:latin typeface="Cambria Math" panose="02040503050406030204"/>
                <a:ea typeface="Cambria Math" panose="02040503050406030204"/>
                <a:cs typeface="Cambria Math" panose="02040503050406030204"/>
              </a:rPr>
              <a:t>x</a:t>
            </a:r>
            <a:r>
              <a:rPr sz="1800" kern="0" spc="170" dirty="0">
                <a:solidFill>
                  <a:srgbClr val="C00000">
                    <a:alpha val="100000"/>
                  </a:srgbClr>
                </a:solidFill>
                <a:latin typeface="Cambria Math" panose="02040503050406030204"/>
                <a:ea typeface="Cambria Math" panose="02040503050406030204"/>
                <a:cs typeface="Cambria Math" panose="020405030504060302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is</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randomly</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sampled</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from</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Cambria Math" panose="02040503050406030204"/>
                <a:ea typeface="Cambria Math" panose="02040503050406030204"/>
                <a:cs typeface="Cambria Math" panose="02040503050406030204"/>
              </a:rPr>
              <a:t>S</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
        <p:nvSpPr>
          <p:cNvPr id="92" name="textbox 92"/>
          <p:cNvSpPr/>
          <p:nvPr/>
        </p:nvSpPr>
        <p:spPr>
          <a:xfrm>
            <a:off x="4462732" y="5977287"/>
            <a:ext cx="144779" cy="247650"/>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86000"/>
              </a:lnSpc>
            </a:pPr>
            <a:r>
              <a:rPr sz="1700" kern="0" spc="30" dirty="0">
                <a:solidFill>
                  <a:srgbClr val="C00000">
                    <a:alpha val="100000"/>
                  </a:srgbClr>
                </a:solidFill>
                <a:latin typeface="Cambria Math" panose="02040503050406030204"/>
                <a:ea typeface="Cambria Math" panose="02040503050406030204"/>
                <a:cs typeface="Cambria Math" panose="02040503050406030204"/>
              </a:rPr>
              <a:t>δ</a:t>
            </a:r>
            <a:endParaRPr sz="1700" dirty="0">
              <a:latin typeface="Cambria Math" panose="02040503050406030204"/>
              <a:ea typeface="Cambria Math" panose="02040503050406030204"/>
              <a:cs typeface="Cambria Math" panose="02040503050406030204"/>
            </a:endParaRPr>
          </a:p>
        </p:txBody>
      </p:sp>
      <p:sp>
        <p:nvSpPr>
          <p:cNvPr id="94" name="textbox 94"/>
          <p:cNvSpPr/>
          <p:nvPr/>
        </p:nvSpPr>
        <p:spPr>
          <a:xfrm>
            <a:off x="4304043" y="5729848"/>
            <a:ext cx="351790" cy="32956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3000"/>
              </a:lnSpc>
            </a:pPr>
            <a:r>
              <a:rPr sz="2400" kern="0" spc="-60" dirty="0">
                <a:solidFill>
                  <a:srgbClr val="C00000">
                    <a:alpha val="100000"/>
                  </a:srgbClr>
                </a:solidFill>
                <a:latin typeface="Cambria Math" panose="02040503050406030204"/>
                <a:ea typeface="Cambria Math" panose="02040503050406030204"/>
                <a:cs typeface="Cambria Math" panose="02040503050406030204"/>
              </a:rPr>
              <a:t>mi</a:t>
            </a:r>
            <a:endParaRPr sz="2400" dirty="0">
              <a:latin typeface="Cambria Math" panose="02040503050406030204"/>
              <a:ea typeface="Cambria Math" panose="02040503050406030204"/>
              <a:cs typeface="Cambria Math" panose="02040503050406030204"/>
            </a:endParaRPr>
          </a:p>
        </p:txBody>
      </p:sp>
      <p:sp>
        <p:nvSpPr>
          <p:cNvPr id="96" name="textbox 96"/>
          <p:cNvSpPr/>
          <p:nvPr/>
        </p:nvSpPr>
        <p:spPr>
          <a:xfrm>
            <a:off x="7027164" y="4710683"/>
            <a:ext cx="2135504" cy="678815"/>
          </a:xfrm>
          <a:prstGeom prst="roundRect">
            <a:avLst>
              <a:gd name="adj" fmla="val 18198"/>
            </a:avLst>
          </a:prstGeom>
          <a:solidFill>
            <a:srgbClr val="D9D9D9">
              <a:alpha val="100000"/>
            </a:srgbClr>
          </a:solidFill>
          <a:ln w="12700" cap="flat">
            <a:solidFill>
              <a:srgbClr val="BFBFBF"/>
            </a:solidFill>
            <a:prstDash val="solid"/>
            <a:miter lim="0"/>
          </a:ln>
        </p:spPr>
        <p:txBody>
          <a:bodyPr vert="horz" wrap="square" lIns="0" tIns="0" rIns="0" bIns="0"/>
          <a:lstStyle/>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92710" algn="l" rtl="0" eaLnBrk="0">
              <a:lnSpc>
                <a:spcPct val="78000"/>
              </a:lnSpc>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Background n</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oise</a:t>
            </a:r>
            <a:endParaRPr sz="2000" dirty="0">
              <a:latin typeface="Times New Roman" panose="02020603050405020304"/>
              <a:ea typeface="Times New Roman" panose="02020603050405020304"/>
              <a:cs typeface="Times New Roman" panose="02020603050405020304"/>
            </a:endParaRPr>
          </a:p>
        </p:txBody>
      </p:sp>
      <p:sp>
        <p:nvSpPr>
          <p:cNvPr id="98" name="textbox 98"/>
          <p:cNvSpPr/>
          <p:nvPr/>
        </p:nvSpPr>
        <p:spPr>
          <a:xfrm>
            <a:off x="472236" y="2828696"/>
            <a:ext cx="4814570" cy="306070"/>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1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Transferabilit</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y in Black-box</a:t>
            </a:r>
            <a:r>
              <a:rPr sz="2400" b="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ASRs</a:t>
            </a:r>
            <a:endParaRPr sz="2400" dirty="0">
              <a:latin typeface="Times New Roman" panose="02020603050405020304"/>
              <a:ea typeface="Times New Roman" panose="02020603050405020304"/>
              <a:cs typeface="Times New Roman" panose="02020603050405020304"/>
            </a:endParaRPr>
          </a:p>
        </p:txBody>
      </p:sp>
      <p:sp>
        <p:nvSpPr>
          <p:cNvPr id="100" name="textbox 100"/>
          <p:cNvSpPr/>
          <p:nvPr/>
        </p:nvSpPr>
        <p:spPr>
          <a:xfrm>
            <a:off x="9668256" y="3928871"/>
            <a:ext cx="1676400" cy="680084"/>
          </a:xfrm>
          <a:prstGeom prst="roundRect">
            <a:avLst>
              <a:gd name="adj" fmla="val 18195"/>
            </a:avLst>
          </a:prstGeom>
          <a:solidFill>
            <a:srgbClr val="D9D9D9">
              <a:alpha val="100000"/>
            </a:srgbClr>
          </a:solidFill>
          <a:ln w="12700" cap="flat">
            <a:solidFill>
              <a:srgbClr val="BFBFBF"/>
            </a:solidFill>
            <a:prstDash val="solid"/>
            <a:miter lim="0"/>
          </a:ln>
        </p:spPr>
        <p:txBody>
          <a:bodyPr vert="horz" wrap="square" lIns="0" tIns="0" rIns="0" bIns="0"/>
          <a:lstStyle/>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79705" algn="l" rtl="0" eaLnBrk="0">
              <a:lnSpc>
                <a:spcPct val="78000"/>
              </a:lnSpc>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Speech rat</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es</a:t>
            </a:r>
            <a:endParaRPr sz="2000" dirty="0">
              <a:latin typeface="Times New Roman" panose="02020603050405020304"/>
              <a:ea typeface="Times New Roman" panose="02020603050405020304"/>
              <a:cs typeface="Times New Roman" panose="02020603050405020304"/>
            </a:endParaRPr>
          </a:p>
        </p:txBody>
      </p:sp>
      <p:sp>
        <p:nvSpPr>
          <p:cNvPr id="102" name="textbox 102"/>
          <p:cNvSpPr/>
          <p:nvPr/>
        </p:nvSpPr>
        <p:spPr>
          <a:xfrm>
            <a:off x="6608064" y="3913632"/>
            <a:ext cx="1268094" cy="680084"/>
          </a:xfrm>
          <a:prstGeom prst="roundRect">
            <a:avLst>
              <a:gd name="adj" fmla="val 18195"/>
            </a:avLst>
          </a:prstGeom>
          <a:solidFill>
            <a:srgbClr val="DADADA">
              <a:alpha val="100000"/>
            </a:srgbClr>
          </a:solidFill>
          <a:ln w="12700" cap="flat">
            <a:solidFill>
              <a:srgbClr val="BFBFBF"/>
            </a:solidFill>
            <a:prstDash val="solid"/>
            <a:miter lim="0"/>
          </a:ln>
        </p:spPr>
        <p:txBody>
          <a:bodyPr vert="horz" wrap="square" lIns="0" tIns="0" rIns="0" bIns="0"/>
          <a:lstStyle/>
          <a:p>
            <a:pPr algn="l" rtl="0" eaLnBrk="0">
              <a:lnSpc>
                <a:spcPct val="146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56845" algn="l" rtl="0" eaLnBrk="0">
              <a:lnSpc>
                <a:spcPct val="71000"/>
              </a:lnSpc>
            </a:pPr>
            <a:r>
              <a:rPr sz="2000" kern="0" spc="-40" dirty="0">
                <a:solidFill>
                  <a:srgbClr val="000000">
                    <a:alpha val="100000"/>
                  </a:srgbClr>
                </a:solidFill>
                <a:latin typeface="Times New Roman" panose="02020603050405020304"/>
                <a:ea typeface="Times New Roman" panose="02020603050405020304"/>
                <a:cs typeface="Times New Roman" panose="02020603050405020304"/>
              </a:rPr>
              <a:t>Volumes</a:t>
            </a:r>
            <a:endParaRPr sz="2000" dirty="0">
              <a:latin typeface="Times New Roman" panose="02020603050405020304"/>
              <a:ea typeface="Times New Roman" panose="02020603050405020304"/>
              <a:cs typeface="Times New Roman" panose="02020603050405020304"/>
            </a:endParaRPr>
          </a:p>
        </p:txBody>
      </p:sp>
      <p:sp>
        <p:nvSpPr>
          <p:cNvPr id="104" name="textbox 104"/>
          <p:cNvSpPr/>
          <p:nvPr/>
        </p:nvSpPr>
        <p:spPr>
          <a:xfrm>
            <a:off x="9354311" y="4701540"/>
            <a:ext cx="1264919" cy="680084"/>
          </a:xfrm>
          <a:prstGeom prst="roundRect">
            <a:avLst>
              <a:gd name="adj" fmla="val 18195"/>
            </a:avLst>
          </a:prstGeom>
          <a:solidFill>
            <a:srgbClr val="D9D9D9">
              <a:alpha val="100000"/>
            </a:srgbClr>
          </a:solidFill>
          <a:ln w="12700" cap="flat">
            <a:solidFill>
              <a:srgbClr val="BFBFBF"/>
            </a:solidFill>
            <a:prstDash val="solid"/>
            <a:miter lim="0"/>
          </a:ln>
        </p:spPr>
        <p:txBody>
          <a:bodyPr vert="horz" wrap="square" lIns="0" tIns="0" rIns="0" bIns="0"/>
          <a:lstStyle/>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370840" algn="l" rtl="0" eaLnBrk="0">
              <a:lnSpc>
                <a:spcPts val="310"/>
              </a:lnSpc>
              <a:spcBef>
                <a:spcPts val="0"/>
              </a:spcBef>
            </a:pPr>
            <a:r>
              <a:rPr sz="20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p:txBody>
      </p:sp>
      <p:sp>
        <p:nvSpPr>
          <p:cNvPr id="106" name="textbox 106"/>
          <p:cNvSpPr/>
          <p:nvPr/>
        </p:nvSpPr>
        <p:spPr>
          <a:xfrm>
            <a:off x="8141207" y="3913632"/>
            <a:ext cx="1264919" cy="680084"/>
          </a:xfrm>
          <a:prstGeom prst="roundRect">
            <a:avLst>
              <a:gd name="adj" fmla="val 18195"/>
            </a:avLst>
          </a:prstGeom>
          <a:solidFill>
            <a:srgbClr val="D9D9D9">
              <a:alpha val="100000"/>
            </a:srgbClr>
          </a:solidFill>
          <a:ln w="12700" cap="flat">
            <a:solidFill>
              <a:srgbClr val="BFBFBF"/>
            </a:solidFill>
            <a:prstDash val="solid"/>
            <a:miter lim="0"/>
          </a:ln>
        </p:spPr>
        <p:txBody>
          <a:bodyPr vert="horz" wrap="square" lIns="0" tIns="0" rIns="0" bIns="0"/>
          <a:lstStyle/>
          <a:p>
            <a:pPr algn="l" rtl="0" eaLnBrk="0">
              <a:lnSpc>
                <a:spcPct val="149000"/>
              </a:lnSpc>
            </a:pPr>
            <a:endParaRPr sz="1000" dirty="0">
              <a:latin typeface="Arial" panose="020B0604020202020204"/>
              <a:ea typeface="Arial" panose="020B0604020202020204"/>
              <a:cs typeface="Arial" panose="020B0604020202020204"/>
            </a:endParaRPr>
          </a:p>
          <a:p>
            <a:pPr marL="189865" algn="l" rtl="0" eaLnBrk="0">
              <a:lnSpc>
                <a:spcPct val="69000"/>
              </a:lnSpc>
              <a:spcBef>
                <a:spcPts val="5"/>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Accents</a:t>
            </a:r>
            <a:endParaRPr sz="2000" dirty="0">
              <a:latin typeface="Times New Roman" panose="02020603050405020304"/>
              <a:ea typeface="Times New Roman" panose="02020603050405020304"/>
              <a:cs typeface="Times New Roman" panose="02020603050405020304"/>
            </a:endParaRPr>
          </a:p>
        </p:txBody>
      </p:sp>
      <p:sp>
        <p:nvSpPr>
          <p:cNvPr id="108" name="textbox 108"/>
          <p:cNvSpPr/>
          <p:nvPr/>
        </p:nvSpPr>
        <p:spPr>
          <a:xfrm>
            <a:off x="283530" y="257443"/>
            <a:ext cx="2552064" cy="34988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79000"/>
              </a:lnSpc>
            </a:pPr>
            <a:r>
              <a:rPr sz="2700" b="1" i="1" kern="0" spc="50" dirty="0">
                <a:solidFill>
                  <a:srgbClr val="000000">
                    <a:alpha val="100000"/>
                  </a:srgbClr>
                </a:solidFill>
                <a:latin typeface="Times New Roman" panose="02020603050405020304"/>
                <a:ea typeface="Times New Roman" panose="02020603050405020304"/>
                <a:cs typeface="Times New Roman" panose="02020603050405020304"/>
              </a:rPr>
              <a:t>LaserAdv </a:t>
            </a:r>
            <a:r>
              <a:rPr sz="2700" b="1" kern="0" spc="50" dirty="0">
                <a:solidFill>
                  <a:srgbClr val="000000">
                    <a:alpha val="100000"/>
                  </a:srgbClr>
                </a:solidFill>
                <a:latin typeface="Times New Roman" panose="02020603050405020304"/>
                <a:ea typeface="Times New Roman" panose="02020603050405020304"/>
                <a:cs typeface="Times New Roman" panose="02020603050405020304"/>
              </a:rPr>
              <a:t>Design</a:t>
            </a:r>
            <a:endParaRPr sz="2700" dirty="0">
              <a:latin typeface="Times New Roman" panose="02020603050405020304"/>
              <a:ea typeface="Times New Roman" panose="02020603050405020304"/>
              <a:cs typeface="Times New Roman" panose="02020603050405020304"/>
            </a:endParaRPr>
          </a:p>
        </p:txBody>
      </p:sp>
      <p:pic>
        <p:nvPicPr>
          <p:cNvPr id="110" name="picture 110"/>
          <p:cNvPicPr>
            <a:picLocks noChangeAspect="1"/>
          </p:cNvPicPr>
          <p:nvPr/>
        </p:nvPicPr>
        <p:blipFill>
          <a:blip r:embed="rId1"/>
          <a:stretch>
            <a:fillRect/>
          </a:stretch>
        </p:blipFill>
        <p:spPr>
          <a:xfrm rot="21600000">
            <a:off x="8409726" y="164199"/>
            <a:ext cx="1462592" cy="467336"/>
          </a:xfrm>
          <a:prstGeom prst="rect">
            <a:avLst/>
          </a:prstGeom>
        </p:spPr>
      </p:pic>
      <p:sp>
        <p:nvSpPr>
          <p:cNvPr id="112" name="path 112"/>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114" name="textbox 114"/>
          <p:cNvSpPr/>
          <p:nvPr/>
        </p:nvSpPr>
        <p:spPr>
          <a:xfrm>
            <a:off x="11170717" y="6454546"/>
            <a:ext cx="104139"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5</a:t>
            </a:r>
            <a:endParaRPr sz="1200" dirty="0">
              <a:latin typeface="等线" panose="02010600030101010101" charset="-122"/>
              <a:ea typeface="等线" panose="02010600030101010101" charset="-122"/>
              <a:cs typeface="等线" panose="02010600030101010101" charset="-122"/>
            </a:endParaRPr>
          </a:p>
        </p:txBody>
      </p:sp>
      <p:pic>
        <p:nvPicPr>
          <p:cNvPr id="2" name="图片 1"/>
          <p:cNvPicPr>
            <a:picLocks noChangeAspect="1"/>
          </p:cNvPicPr>
          <p:nvPr/>
        </p:nvPicPr>
        <p:blipFill>
          <a:blip r:embed="rId2"/>
          <a:stretch>
            <a:fillRect/>
          </a:stretch>
        </p:blipFill>
        <p:spPr>
          <a:xfrm>
            <a:off x="3499485" y="1521460"/>
            <a:ext cx="4910455" cy="587375"/>
          </a:xfrm>
          <a:prstGeom prst="rect">
            <a:avLst/>
          </a:prstGeom>
        </p:spPr>
      </p:pic>
      <p:pic>
        <p:nvPicPr>
          <p:cNvPr id="3" name="图片 2"/>
          <p:cNvPicPr>
            <a:picLocks noChangeAspect="1"/>
          </p:cNvPicPr>
          <p:nvPr/>
        </p:nvPicPr>
        <p:blipFill>
          <a:blip r:embed="rId3"/>
          <a:stretch>
            <a:fillRect/>
          </a:stretch>
        </p:blipFill>
        <p:spPr>
          <a:xfrm>
            <a:off x="3780155" y="5671185"/>
            <a:ext cx="4743450" cy="595630"/>
          </a:xfrm>
          <a:prstGeom prst="rect">
            <a:avLst/>
          </a:prstGeom>
        </p:spPr>
      </p:pic>
      <p:pic>
        <p:nvPicPr>
          <p:cNvPr id="4" name="图片 3"/>
          <p:cNvPicPr>
            <a:picLocks noChangeAspect="1"/>
          </p:cNvPicPr>
          <p:nvPr/>
        </p:nvPicPr>
        <p:blipFill>
          <a:blip r:embed="rId4"/>
          <a:stretch>
            <a:fillRect/>
          </a:stretch>
        </p:blipFill>
        <p:spPr>
          <a:xfrm>
            <a:off x="422275" y="6200775"/>
            <a:ext cx="264160" cy="254000"/>
          </a:xfrm>
          <a:prstGeom prst="rect">
            <a:avLst/>
          </a:prstGeom>
        </p:spPr>
      </p:pic>
      <p:pic>
        <p:nvPicPr>
          <p:cNvPr id="5" name="图片 4"/>
          <p:cNvPicPr>
            <a:picLocks noChangeAspect="1"/>
          </p:cNvPicPr>
          <p:nvPr/>
        </p:nvPicPr>
        <p:blipFill>
          <a:blip r:embed="rId5"/>
          <a:stretch>
            <a:fillRect/>
          </a:stretch>
        </p:blipFill>
        <p:spPr>
          <a:xfrm>
            <a:off x="6014720" y="6205220"/>
            <a:ext cx="174625" cy="267335"/>
          </a:xfrm>
          <a:prstGeom prst="rect">
            <a:avLst/>
          </a:prstGeom>
        </p:spPr>
      </p:pic>
      <p:pic>
        <p:nvPicPr>
          <p:cNvPr id="6" name="图片 5"/>
          <p:cNvPicPr>
            <a:picLocks noChangeAspect="1"/>
          </p:cNvPicPr>
          <p:nvPr/>
        </p:nvPicPr>
        <p:blipFill>
          <a:blip r:embed="rId6"/>
          <a:stretch>
            <a:fillRect/>
          </a:stretch>
        </p:blipFill>
        <p:spPr>
          <a:xfrm>
            <a:off x="472440" y="2105025"/>
            <a:ext cx="473710" cy="4133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6"/>
          <p:cNvSpPr/>
          <p:nvPr/>
        </p:nvSpPr>
        <p:spPr>
          <a:xfrm>
            <a:off x="399288" y="1578864"/>
            <a:ext cx="5520054" cy="3208020"/>
          </a:xfrm>
          <a:prstGeom prst="roundRect">
            <a:avLst>
              <a:gd name="adj" fmla="val 16995"/>
            </a:avLst>
          </a:prstGeom>
          <a:solidFill>
            <a:srgbClr val="F2F2F2">
              <a:alpha val="100000"/>
            </a:srgbClr>
          </a:solidFill>
          <a:ln w="12700" cap="flat">
            <a:solidFill>
              <a:srgbClr val="BFBFBF"/>
            </a:solidFill>
            <a:prstDash val="solid"/>
            <a:miter lim="0"/>
          </a:ln>
        </p:spPr>
        <p:txBody>
          <a:bodyPr vert="horz" wrap="square" lIns="0" tIns="0" rIns="0" bIns="0"/>
          <a:lstStyle/>
          <a:p>
            <a:pPr algn="l" rtl="0" eaLnBrk="0">
              <a:lnSpc>
                <a:spcPct val="115000"/>
              </a:lnSpc>
            </a:pPr>
            <a:endParaRPr sz="500" dirty="0">
              <a:latin typeface="Arial" panose="020B0604020202020204"/>
              <a:ea typeface="Arial" panose="020B0604020202020204"/>
              <a:cs typeface="Arial" panose="020B0604020202020204"/>
            </a:endParaRPr>
          </a:p>
          <a:p>
            <a:pPr marL="1419860" algn="l" rtl="0" eaLnBrk="0">
              <a:lnSpc>
                <a:spcPct val="77000"/>
              </a:lnSpc>
              <a:spcBef>
                <a:spcPts val="5"/>
              </a:spcBef>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Time</a:t>
            </a:r>
            <a:r>
              <a:rPr sz="2400" b="1"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Independent</a:t>
            </a:r>
            <a:endParaRPr sz="2400" dirty="0">
              <a:latin typeface="Times New Roman" panose="02020603050405020304"/>
              <a:ea typeface="Times New Roman" panose="02020603050405020304"/>
              <a:cs typeface="Times New Roman" panose="02020603050405020304"/>
            </a:endParaRPr>
          </a:p>
        </p:txBody>
      </p:sp>
      <p:sp>
        <p:nvSpPr>
          <p:cNvPr id="118" name="textbox 118"/>
          <p:cNvSpPr/>
          <p:nvPr/>
        </p:nvSpPr>
        <p:spPr>
          <a:xfrm>
            <a:off x="6202679" y="1578864"/>
            <a:ext cx="5520054" cy="3208020"/>
          </a:xfrm>
          <a:prstGeom prst="roundRect">
            <a:avLst>
              <a:gd name="adj" fmla="val 16995"/>
            </a:avLst>
          </a:prstGeom>
          <a:solidFill>
            <a:srgbClr val="F2F2F2">
              <a:alpha val="100000"/>
            </a:srgbClr>
          </a:solidFill>
          <a:ln w="12700" cap="flat">
            <a:solidFill>
              <a:srgbClr val="BFBFBF"/>
            </a:solidFill>
            <a:prstDash val="solid"/>
            <a:miter lim="0"/>
          </a:ln>
        </p:spPr>
        <p:txBody>
          <a:bodyPr vert="horz" wrap="square" lIns="0" tIns="0" rIns="0" bIns="0"/>
          <a:lstStyle/>
          <a:p>
            <a:pPr algn="l" rtl="0" eaLnBrk="0">
              <a:lnSpc>
                <a:spcPct val="115000"/>
              </a:lnSpc>
            </a:pPr>
            <a:endParaRPr sz="500" dirty="0">
              <a:latin typeface="Arial" panose="020B0604020202020204"/>
              <a:ea typeface="Arial" panose="020B0604020202020204"/>
              <a:cs typeface="Arial" panose="020B0604020202020204"/>
            </a:endParaRPr>
          </a:p>
          <a:p>
            <a:pPr marL="1327785" algn="l" rtl="0" eaLnBrk="0">
              <a:lnSpc>
                <a:spcPct val="77000"/>
              </a:lnSpc>
              <a:spcBef>
                <a:spcPts val="5"/>
              </a:spcBef>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Content</a:t>
            </a:r>
            <a:r>
              <a:rPr sz="2400" b="1"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Independent</a:t>
            </a:r>
            <a:endParaRPr sz="2400" dirty="0">
              <a:latin typeface="Times New Roman" panose="02020603050405020304"/>
              <a:ea typeface="Times New Roman" panose="02020603050405020304"/>
              <a:cs typeface="Times New Roman" panose="02020603050405020304"/>
            </a:endParaRPr>
          </a:p>
        </p:txBody>
      </p:sp>
      <p:sp>
        <p:nvSpPr>
          <p:cNvPr id="120" name="textbox 120"/>
          <p:cNvSpPr/>
          <p:nvPr/>
        </p:nvSpPr>
        <p:spPr>
          <a:xfrm>
            <a:off x="196240" y="5075691"/>
            <a:ext cx="11804015" cy="152146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2580640" algn="l" rtl="0" eaLnBrk="0">
              <a:lnSpc>
                <a:spcPts val="3125"/>
              </a:lnSpc>
            </a:pPr>
            <a:r>
              <a:rPr sz="24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arg</a:t>
            </a:r>
            <a:r>
              <a:rPr sz="2400" kern="0" spc="12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3600" kern="0" spc="0" baseline="5000" dirty="0">
                <a:solidFill>
                  <a:srgbClr val="C00000">
                    <a:alpha val="100000"/>
                  </a:srgbClr>
                </a:solidFill>
                <a:latin typeface="微软雅黑" panose="020B0503020204020204" charset="-122"/>
                <a:ea typeface="微软雅黑" panose="020B0503020204020204" charset="-122"/>
                <a:cs typeface="微软雅黑" panose="020B0503020204020204" charset="-122"/>
              </a:rPr>
              <a:t>n</a:t>
            </a:r>
            <a:r>
              <a:rPr sz="23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3600" kern="0" spc="0" baseline="5000" dirty="0">
                <a:solidFill>
                  <a:srgbClr val="C00000">
                    <a:alpha val="100000"/>
                  </a:srgbClr>
                </a:solidFill>
                <a:latin typeface="微软雅黑" panose="020B0503020204020204" charset="-122"/>
                <a:ea typeface="微软雅黑" panose="020B0503020204020204" charset="-122"/>
                <a:cs typeface="微软雅黑" panose="020B0503020204020204" charset="-122"/>
              </a:rPr>
              <a:t>E</a:t>
            </a:r>
            <a:r>
              <a:rPr sz="2600" kern="0" spc="20" baseline="7000" dirty="0">
                <a:solidFill>
                  <a:srgbClr val="C00000">
                    <a:alpha val="100000"/>
                  </a:srgbClr>
                </a:solidFill>
                <a:latin typeface="微软雅黑" panose="020B0503020204020204" charset="-122"/>
                <a:ea typeface="微软雅黑" panose="020B0503020204020204" charset="-122"/>
                <a:cs typeface="微软雅黑" panose="020B0503020204020204" charset="-122"/>
              </a:rPr>
              <a:t>τ~丁</a:t>
            </a:r>
            <a:r>
              <a:rPr sz="2600" kern="0" spc="20" baseline="-5000" dirty="0">
                <a:solidFill>
                  <a:srgbClr val="C00000">
                    <a:alpha val="100000"/>
                  </a:srgbClr>
                </a:solidFill>
                <a:latin typeface="微软雅黑" panose="020B0503020204020204" charset="-122"/>
                <a:ea typeface="微软雅黑" panose="020B0503020204020204" charset="-122"/>
                <a:cs typeface="微软雅黑" panose="020B0503020204020204" charset="-122"/>
              </a:rPr>
              <a:t>,x~{s,</a:t>
            </a:r>
            <a:r>
              <a:rPr sz="17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D}</a:t>
            </a:r>
            <a:r>
              <a:rPr sz="24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L(</a:t>
            </a:r>
            <a:r>
              <a:rPr sz="24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f</a:t>
            </a:r>
            <a:r>
              <a:rPr sz="2400" kern="0" spc="41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x</a:t>
            </a:r>
            <a:r>
              <a:rPr sz="24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 . i + δ(t </a:t>
            </a:r>
            <a:r>
              <a:rPr sz="3600" kern="0" spc="20" baseline="9000" dirty="0">
                <a:solidFill>
                  <a:srgbClr val="C00000">
                    <a:alpha val="100000"/>
                  </a:srgbClr>
                </a:solidFill>
                <a:latin typeface="微软雅黑" panose="020B0503020204020204" charset="-122"/>
                <a:ea typeface="微软雅黑" panose="020B0503020204020204" charset="-122"/>
                <a:cs typeface="微软雅黑" panose="020B0503020204020204" charset="-122"/>
              </a:rPr>
              <a:t>—</a:t>
            </a:r>
            <a:r>
              <a:rPr sz="23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τ)</a:t>
            </a:r>
            <a:r>
              <a:rPr sz="2400" kern="0" spc="31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a:t>
            </a:r>
            <a:r>
              <a:rPr sz="2400" kern="0" spc="-31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3600" kern="0" spc="0" baseline="15000" dirty="0">
                <a:solidFill>
                  <a:srgbClr val="C00000">
                    <a:alpha val="100000"/>
                  </a:srgbClr>
                </a:solidFill>
                <a:latin typeface="微软雅黑" panose="020B0503020204020204" charset="-122"/>
                <a:ea typeface="微软雅黑" panose="020B0503020204020204" charset="-122"/>
                <a:cs typeface="微软雅黑" panose="020B0503020204020204" charset="-122"/>
              </a:rPr>
              <a:t>Y</a:t>
            </a:r>
            <a:r>
              <a:rPr sz="2600" kern="0" spc="0" baseline="21000" dirty="0">
                <a:solidFill>
                  <a:srgbClr val="C00000">
                    <a:alpha val="100000"/>
                  </a:srgbClr>
                </a:solidFill>
                <a:latin typeface="微软雅黑" panose="020B0503020204020204" charset="-122"/>
                <a:ea typeface="微软雅黑" panose="020B0503020204020204" charset="-122"/>
                <a:cs typeface="微软雅黑" panose="020B0503020204020204" charset="-122"/>
              </a:rPr>
              <a:t>I</a:t>
            </a:r>
            <a:r>
              <a:rPr sz="3600" kern="0" spc="20" baseline="15000" dirty="0">
                <a:solidFill>
                  <a:srgbClr val="C00000">
                    <a:alpha val="100000"/>
                  </a:srgbClr>
                </a:solidFill>
                <a:latin typeface="微软雅黑" panose="020B0503020204020204" charset="-122"/>
                <a:ea typeface="微软雅黑" panose="020B0503020204020204" charset="-122"/>
                <a:cs typeface="微软雅黑" panose="020B0503020204020204" charset="-122"/>
              </a:rPr>
              <a:t>)</a:t>
            </a:r>
            <a:r>
              <a:rPr sz="2300" kern="0" spc="2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300" kern="0" spc="1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C00000">
                    <a:alpha val="100000"/>
                  </a:srgbClr>
                </a:solidFill>
                <a:latin typeface="微软雅黑" panose="020B0503020204020204" charset="-122"/>
                <a:ea typeface="微软雅黑" panose="020B0503020204020204" charset="-122"/>
                <a:cs typeface="微软雅黑" panose="020B0503020204020204" charset="-122"/>
              </a:rPr>
              <a:t>(3)</a:t>
            </a:r>
            <a:endParaRPr sz="2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marL="12700" indent="1905" algn="l" rtl="0" eaLnBrk="0">
              <a:lnSpc>
                <a:spcPct val="106000"/>
              </a:lnSpc>
              <a:spcBef>
                <a:spcPts val="0"/>
              </a:spcBef>
            </a:pPr>
            <a:r>
              <a:rPr sz="1800" kern="0" spc="-120" dirty="0">
                <a:solidFill>
                  <a:srgbClr val="000000">
                    <a:alpha val="100000"/>
                  </a:srgbClr>
                </a:solidFill>
                <a:latin typeface="Times New Roman" panose="02020603050405020304"/>
                <a:ea typeface="Times New Roman" panose="02020603050405020304"/>
                <a:cs typeface="Times New Roman" panose="02020603050405020304"/>
              </a:rPr>
              <a:t>Let</a:t>
            </a:r>
            <a:r>
              <a:rPr sz="18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20" dirty="0">
                <a:solidFill>
                  <a:srgbClr val="C00000">
                    <a:alpha val="100000"/>
                  </a:srgbClr>
                </a:solidFill>
                <a:latin typeface="微软雅黑" panose="020B0503020204020204" charset="-122"/>
                <a:ea typeface="微软雅黑" panose="020B0503020204020204" charset="-122"/>
                <a:cs typeface="微软雅黑" panose="020B0503020204020204" charset="-122"/>
              </a:rPr>
              <a:t>丁</a:t>
            </a:r>
            <a:r>
              <a:rPr sz="1800" kern="0" spc="16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18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{kd</a:t>
            </a:r>
            <a:r>
              <a:rPr sz="18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I k</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N, </a:t>
            </a:r>
            <a:r>
              <a:rPr sz="18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sz="1800" kern="0" spc="4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k</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130" baseline="-44000" dirty="0">
                <a:solidFill>
                  <a:srgbClr val="000000">
                    <a:alpha val="100000"/>
                  </a:srgbClr>
                </a:solidFill>
                <a:latin typeface="微软雅黑" panose="020B0503020204020204" charset="-122"/>
                <a:ea typeface="微软雅黑" panose="020B0503020204020204" charset="-122"/>
                <a:cs typeface="微软雅黑" panose="020B0503020204020204" charset="-122"/>
              </a:rPr>
              <a:t>d</a:t>
            </a:r>
            <a:r>
              <a:rPr sz="13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 where</a:t>
            </a:r>
            <a:r>
              <a:rPr sz="18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d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is the number of sample points, which</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can be</a:t>
            </a:r>
            <a:r>
              <a:rPr sz="18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set</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to</a:t>
            </a:r>
            <a:r>
              <a:rPr sz="18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greate</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r</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than</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20. </a:t>
            </a:r>
            <a:r>
              <a:rPr sz="1800" kern="0" spc="-10" dirty="0">
                <a:solidFill>
                  <a:srgbClr val="C00000">
                    <a:alpha val="100000"/>
                  </a:srgbClr>
                </a:solidFill>
                <a:latin typeface="微软雅黑" panose="020B0503020204020204" charset="-122"/>
                <a:ea typeface="微软雅黑" panose="020B0503020204020204" charset="-122"/>
                <a:cs typeface="微软雅黑" panose="020B0503020204020204" charset="-122"/>
              </a:rPr>
              <a:t>D</a:t>
            </a:r>
            <a:r>
              <a:rPr sz="1800" kern="0" spc="-10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represents</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distribution</a:t>
            </a:r>
            <a:r>
              <a:rPr sz="18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of audio</a:t>
            </a:r>
            <a:r>
              <a:rPr sz="18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inpu</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ts</a:t>
            </a:r>
            <a:r>
              <a:rPr sz="18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x.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Parameter</a:t>
            </a:r>
            <a:r>
              <a:rPr sz="18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C00000">
                    <a:alpha val="100000"/>
                  </a:srgbClr>
                </a:solidFill>
                <a:latin typeface="微软雅黑" panose="020B0503020204020204" charset="-122"/>
                <a:ea typeface="微软雅黑" panose="020B0503020204020204" charset="-122"/>
                <a:cs typeface="微软雅黑" panose="020B0503020204020204" charset="-122"/>
              </a:rPr>
              <a:t>i</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18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which</a:t>
            </a:r>
            <a:r>
              <a:rPr sz="18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is</a:t>
            </a:r>
            <a:r>
              <a:rPr sz="18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adjusted</a:t>
            </a:r>
            <a:r>
              <a:rPr sz="18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between</a:t>
            </a:r>
            <a:r>
              <a:rPr sz="18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0.1</a:t>
            </a:r>
            <a:r>
              <a:rPr sz="18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and  1,</a:t>
            </a:r>
            <a:r>
              <a:rPr sz="18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is</a:t>
            </a:r>
            <a:r>
              <a:rPr sz="18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specifically</a:t>
            </a:r>
            <a:r>
              <a:rPr sz="18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designed</a:t>
            </a:r>
            <a:r>
              <a:rPr sz="18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to</a:t>
            </a:r>
            <a:r>
              <a:rPr sz="18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normalize</a:t>
            </a:r>
            <a:r>
              <a:rPr sz="18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and</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adjust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volume</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of</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audio</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inputs</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within</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dataset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
        <p:nvSpPr>
          <p:cNvPr id="122" name="textbox 122"/>
          <p:cNvSpPr/>
          <p:nvPr/>
        </p:nvSpPr>
        <p:spPr>
          <a:xfrm>
            <a:off x="3462734" y="5371965"/>
            <a:ext cx="144779" cy="260984"/>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algn="r" rtl="0" eaLnBrk="0">
              <a:lnSpc>
                <a:spcPct val="91000"/>
              </a:lnSpc>
            </a:pPr>
            <a:r>
              <a:rPr sz="1600" u="sng" kern="0" spc="-90" dirty="0">
                <a:solidFill>
                  <a:srgbClr val="C00000">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δ</a:t>
            </a:r>
            <a:endParaRPr sz="1600" dirty="0">
              <a:latin typeface="微软雅黑" panose="020B0503020204020204" charset="-122"/>
              <a:ea typeface="微软雅黑" panose="020B0503020204020204" charset="-122"/>
              <a:cs typeface="微软雅黑" panose="020B0503020204020204" charset="-122"/>
            </a:endParaRPr>
          </a:p>
        </p:txBody>
      </p:sp>
      <p:sp>
        <p:nvSpPr>
          <p:cNvPr id="124" name="textbox 124"/>
          <p:cNvSpPr/>
          <p:nvPr/>
        </p:nvSpPr>
        <p:spPr>
          <a:xfrm>
            <a:off x="3357384" y="5123535"/>
            <a:ext cx="351790" cy="34353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87000"/>
              </a:lnSpc>
            </a:pPr>
            <a:r>
              <a:rPr sz="2300" u="sng" kern="0" spc="-110" dirty="0">
                <a:solidFill>
                  <a:srgbClr val="C00000">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m</a:t>
            </a:r>
            <a:r>
              <a:rPr sz="2300" kern="0" spc="-110" dirty="0">
                <a:solidFill>
                  <a:srgbClr val="C00000">
                    <a:alpha val="100000"/>
                  </a:srgbClr>
                </a:solidFill>
                <a:latin typeface="微软雅黑" panose="020B0503020204020204" charset="-122"/>
                <a:ea typeface="微软雅黑" panose="020B0503020204020204" charset="-122"/>
                <a:cs typeface="微软雅黑" panose="020B0503020204020204" charset="-122"/>
              </a:rPr>
              <a:t>i</a:t>
            </a:r>
            <a:endParaRPr sz="2300" dirty="0">
              <a:latin typeface="微软雅黑" panose="020B0503020204020204" charset="-122"/>
              <a:ea typeface="微软雅黑" panose="020B0503020204020204" charset="-122"/>
              <a:cs typeface="微软雅黑" panose="020B0503020204020204" charset="-122"/>
            </a:endParaRPr>
          </a:p>
        </p:txBody>
      </p:sp>
      <p:sp>
        <p:nvSpPr>
          <p:cNvPr id="126" name="rect 126"/>
          <p:cNvSpPr/>
          <p:nvPr/>
        </p:nvSpPr>
        <p:spPr>
          <a:xfrm>
            <a:off x="6338061" y="2240026"/>
            <a:ext cx="5249164" cy="2390139"/>
          </a:xfrm>
          <a:prstGeom prst="rect">
            <a:avLst/>
          </a:prstGeom>
          <a:solidFill>
            <a:srgbClr val="D7D7D7">
              <a:alpha val="100000"/>
            </a:srgbClr>
          </a:solidFill>
          <a:ln w="0" cap="flat">
            <a:noFill/>
            <a:prstDash val="solid"/>
            <a:miter lim="0"/>
          </a:ln>
        </p:spPr>
        <p:txBody>
          <a:bodyPr rtlCol="0"/>
          <a:lstStyle/>
          <a:p>
            <a:pPr algn="ctr"/>
            <a:endParaRPr lang="zh-CN" altLang="en-US"/>
          </a:p>
        </p:txBody>
      </p:sp>
      <p:sp>
        <p:nvSpPr>
          <p:cNvPr id="128" name="rect 128"/>
          <p:cNvSpPr/>
          <p:nvPr/>
        </p:nvSpPr>
        <p:spPr>
          <a:xfrm>
            <a:off x="534669" y="2240026"/>
            <a:ext cx="5249163" cy="2390139"/>
          </a:xfrm>
          <a:prstGeom prst="rect">
            <a:avLst/>
          </a:prstGeom>
          <a:solidFill>
            <a:srgbClr val="D5D5D5">
              <a:alpha val="100000"/>
            </a:srgbClr>
          </a:solidFill>
          <a:ln w="0" cap="flat">
            <a:noFill/>
            <a:prstDash val="solid"/>
            <a:miter lim="0"/>
          </a:ln>
        </p:spPr>
        <p:txBody>
          <a:bodyPr rtlCol="0"/>
          <a:lstStyle/>
          <a:p>
            <a:pPr algn="ctr"/>
            <a:endParaRPr lang="zh-CN" altLang="en-US"/>
          </a:p>
        </p:txBody>
      </p:sp>
      <p:sp>
        <p:nvSpPr>
          <p:cNvPr id="130" name="textbox 130"/>
          <p:cNvSpPr/>
          <p:nvPr/>
        </p:nvSpPr>
        <p:spPr>
          <a:xfrm>
            <a:off x="757902" y="2832137"/>
            <a:ext cx="4827904" cy="1266189"/>
          </a:xfrm>
          <a:prstGeom prst="rect">
            <a:avLst/>
          </a:prstGeom>
          <a:noFill/>
          <a:ln w="0" cap="flat">
            <a:noFill/>
            <a:prstDash val="solid"/>
            <a:miter lim="0"/>
          </a:ln>
        </p:spPr>
        <p:txBody>
          <a:bodyPr vert="horz" wrap="square" lIns="0" tIns="0" rIns="0" bIns="0"/>
          <a:lstStyle/>
          <a:p>
            <a:pPr algn="l" rtl="0" eaLnBrk="0">
              <a:lnSpc>
                <a:spcPct val="64000"/>
              </a:lnSpc>
            </a:pPr>
            <a:endParaRPr sz="100" dirty="0">
              <a:latin typeface="Arial" panose="020B0604020202020204"/>
              <a:ea typeface="Arial" panose="020B0604020202020204"/>
              <a:cs typeface="Arial" panose="020B0604020202020204"/>
            </a:endParaRPr>
          </a:p>
          <a:p>
            <a:pPr marL="334645" indent="-322580" algn="l" rtl="0" eaLnBrk="0">
              <a:lnSpc>
                <a:spcPct val="102000"/>
              </a:lnSpc>
              <a:tabLst>
                <a:tab pos="19240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Randomly</a:t>
            </a:r>
            <a:r>
              <a:rPr sz="2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choose</a:t>
            </a:r>
            <a:r>
              <a:rPr sz="2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time</a:t>
            </a:r>
            <a:r>
              <a:rPr sz="2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delay</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τ</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uniformly</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within</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the</a:t>
            </a:r>
            <a:r>
              <a:rPr sz="20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range</a:t>
            </a:r>
            <a:r>
              <a:rPr sz="20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from</a:t>
            </a:r>
            <a:r>
              <a:rPr sz="20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to</a:t>
            </a:r>
            <a:r>
              <a:rPr sz="20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N</a:t>
            </a:r>
            <a:r>
              <a:rPr sz="2000" kern="0" spc="4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r>
              <a:rPr sz="20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70" dirty="0">
                <a:solidFill>
                  <a:srgbClr val="000000">
                    <a:alpha val="100000"/>
                  </a:srgbClr>
                </a:solidFill>
                <a:latin typeface="Times New Roman" panose="02020603050405020304"/>
                <a:ea typeface="Times New Roman" panose="02020603050405020304"/>
                <a:cs typeface="Times New Roman" panose="02020603050405020304"/>
              </a:rPr>
              <a:t>to</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compute</a:t>
            </a:r>
            <a:r>
              <a:rPr sz="20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th</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0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gradient   at   each   iteration,</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where </a:t>
            </a:r>
            <a:r>
              <a:rPr sz="2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and </a:t>
            </a:r>
            <a:r>
              <a:rPr sz="2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N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are the length</a:t>
            </a:r>
            <a:r>
              <a:rPr sz="2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of</a:t>
            </a:r>
            <a:r>
              <a:rPr sz="20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δ</a:t>
            </a:r>
            <a:r>
              <a:rPr sz="20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and</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x</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p:txBody>
      </p:sp>
      <p:pic>
        <p:nvPicPr>
          <p:cNvPr id="132" name="picture 132"/>
          <p:cNvPicPr>
            <a:picLocks noChangeAspect="1"/>
          </p:cNvPicPr>
          <p:nvPr/>
        </p:nvPicPr>
        <p:blipFill>
          <a:blip r:embed="rId1"/>
          <a:stretch>
            <a:fillRect/>
          </a:stretch>
        </p:blipFill>
        <p:spPr>
          <a:xfrm rot="21600000">
            <a:off x="770602" y="2844837"/>
            <a:ext cx="180917" cy="187032"/>
          </a:xfrm>
          <a:prstGeom prst="rect">
            <a:avLst/>
          </a:prstGeom>
        </p:spPr>
      </p:pic>
      <p:sp>
        <p:nvSpPr>
          <p:cNvPr id="134" name="textbox 134"/>
          <p:cNvSpPr/>
          <p:nvPr/>
        </p:nvSpPr>
        <p:spPr>
          <a:xfrm>
            <a:off x="6879457" y="3582062"/>
            <a:ext cx="3872229" cy="588009"/>
          </a:xfrm>
          <a:prstGeom prst="rect">
            <a:avLst/>
          </a:prstGeom>
          <a:noFill/>
          <a:ln w="0" cap="flat">
            <a:noFill/>
            <a:prstDash val="solid"/>
            <a:miter lim="0"/>
          </a:ln>
        </p:spPr>
        <p:txBody>
          <a:bodyPr vert="horz" wrap="square" lIns="0" tIns="0" rIns="0" bIns="0"/>
          <a:lstStyle/>
          <a:p>
            <a:pPr algn="l" rtl="0" eaLnBrk="0">
              <a:lnSpc>
                <a:spcPct val="15000"/>
              </a:lnSpc>
            </a:pPr>
            <a:endParaRPr sz="100" dirty="0">
              <a:latin typeface="Arial" panose="020B0604020202020204"/>
              <a:ea typeface="Arial" panose="020B0604020202020204"/>
              <a:cs typeface="Arial" panose="020B0604020202020204"/>
            </a:endParaRPr>
          </a:p>
          <a:p>
            <a:pPr marL="22225" indent="-10160" algn="l" rtl="0" eaLnBrk="0">
              <a:lnSpc>
                <a:spcPct val="94000"/>
              </a:lnSpc>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Normalize</a:t>
            </a:r>
            <a:r>
              <a:rPr sz="20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an</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d</a:t>
            </a:r>
            <a:r>
              <a:rPr sz="20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adjust</a:t>
            </a:r>
            <a:r>
              <a:rPr sz="20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0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volume</a:t>
            </a:r>
            <a:r>
              <a:rPr sz="20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o</a:t>
            </a:r>
            <a:r>
              <a:rPr sz="2000" kern="0" spc="100" dirty="0">
                <a:solidFill>
                  <a:srgbClr val="000000">
                    <a:alpha val="100000"/>
                  </a:srgbClr>
                </a:solidFill>
                <a:latin typeface="Times New Roman" panose="02020603050405020304"/>
                <a:ea typeface="Times New Roman" panose="02020603050405020304"/>
                <a:cs typeface="Times New Roman" panose="02020603050405020304"/>
              </a:rPr>
              <a:t>f</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inputs within 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he dataset.</a:t>
            </a:r>
            <a:endParaRPr sz="2000" dirty="0">
              <a:latin typeface="Times New Roman" panose="02020603050405020304"/>
              <a:ea typeface="Times New Roman" panose="02020603050405020304"/>
              <a:cs typeface="Times New Roman" panose="02020603050405020304"/>
            </a:endParaRPr>
          </a:p>
        </p:txBody>
      </p:sp>
      <p:sp>
        <p:nvSpPr>
          <p:cNvPr id="136" name="path 136"/>
          <p:cNvSpPr/>
          <p:nvPr/>
        </p:nvSpPr>
        <p:spPr>
          <a:xfrm>
            <a:off x="534669" y="4221226"/>
            <a:ext cx="5249163" cy="408940"/>
          </a:xfrm>
          <a:custGeom>
            <a:avLst/>
            <a:gdLst/>
            <a:ahLst/>
            <a:cxnLst/>
            <a:rect l="0" t="0" r="0" b="0"/>
            <a:pathLst>
              <a:path w="8266" h="644">
                <a:moveTo>
                  <a:pt x="8256" y="10"/>
                </a:moveTo>
                <a:cubicBezTo>
                  <a:pt x="8256" y="354"/>
                  <a:pt x="7976" y="634"/>
                  <a:pt x="7632" y="634"/>
                </a:cubicBezTo>
                <a:moveTo>
                  <a:pt x="634" y="634"/>
                </a:moveTo>
                <a:cubicBezTo>
                  <a:pt x="289" y="634"/>
                  <a:pt x="10" y="354"/>
                  <a:pt x="10" y="10"/>
                </a:cubicBezTo>
              </a:path>
            </a:pathLst>
          </a:custGeom>
          <a:noFill/>
          <a:ln w="12700" cap="flat">
            <a:solidFill>
              <a:srgbClr val="BFBFBF"/>
            </a:solidFill>
            <a:prstDash val="solid"/>
            <a:miter lim="1000000"/>
          </a:ln>
        </p:spPr>
        <p:txBody>
          <a:bodyPr rtlCol="0"/>
          <a:lstStyle/>
          <a:p>
            <a:pPr algn="ctr"/>
            <a:endParaRPr lang="zh-CN" altLang="en-US"/>
          </a:p>
        </p:txBody>
      </p:sp>
      <p:sp>
        <p:nvSpPr>
          <p:cNvPr id="138" name="textbox 138"/>
          <p:cNvSpPr/>
          <p:nvPr/>
        </p:nvSpPr>
        <p:spPr>
          <a:xfrm>
            <a:off x="6891164" y="2769898"/>
            <a:ext cx="3849370" cy="586105"/>
          </a:xfrm>
          <a:prstGeom prst="rect">
            <a:avLst/>
          </a:prstGeom>
          <a:noFill/>
          <a:ln w="0" cap="flat">
            <a:noFill/>
            <a:prstDash val="solid"/>
            <a:miter lim="0"/>
          </a:ln>
        </p:spPr>
        <p:txBody>
          <a:bodyPr vert="horz" wrap="square" lIns="0" tIns="262" rIns="0" bIns="0"/>
          <a:lstStyle/>
          <a:p>
            <a:pPr marL="12700" algn="l" rtl="0" eaLnBrk="0">
              <a:lnSpc>
                <a:spcPct val="94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Generate</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perturbations</a:t>
            </a:r>
            <a:r>
              <a:rPr sz="20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across</a:t>
            </a:r>
            <a:r>
              <a:rPr sz="20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a:t>
            </a:r>
            <a:r>
              <a:rPr sz="20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wide</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of</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audio</a:t>
            </a:r>
            <a:r>
              <a:rPr sz="20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inputs</a:t>
            </a:r>
            <a:r>
              <a:rPr sz="2000"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p:txBody>
      </p:sp>
      <p:sp>
        <p:nvSpPr>
          <p:cNvPr id="140" name="textbox 140"/>
          <p:cNvSpPr/>
          <p:nvPr/>
        </p:nvSpPr>
        <p:spPr>
          <a:xfrm>
            <a:off x="504571" y="1115463"/>
            <a:ext cx="4427220" cy="305434"/>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1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Time and Content Ind</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ependent</a:t>
            </a:r>
            <a:endParaRPr sz="2400" dirty="0">
              <a:latin typeface="Times New Roman" panose="02020603050405020304"/>
              <a:ea typeface="Times New Roman" panose="02020603050405020304"/>
              <a:cs typeface="Times New Roman" panose="02020603050405020304"/>
            </a:endParaRPr>
          </a:p>
        </p:txBody>
      </p:sp>
      <p:sp>
        <p:nvSpPr>
          <p:cNvPr id="142" name="textbox 142"/>
          <p:cNvSpPr/>
          <p:nvPr/>
        </p:nvSpPr>
        <p:spPr>
          <a:xfrm>
            <a:off x="283530" y="257443"/>
            <a:ext cx="2552064" cy="34988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79000"/>
              </a:lnSpc>
            </a:pPr>
            <a:r>
              <a:rPr sz="2700" b="1" i="1" kern="0" spc="50" dirty="0">
                <a:solidFill>
                  <a:srgbClr val="000000">
                    <a:alpha val="100000"/>
                  </a:srgbClr>
                </a:solidFill>
                <a:latin typeface="Times New Roman" panose="02020603050405020304"/>
                <a:ea typeface="Times New Roman" panose="02020603050405020304"/>
                <a:cs typeface="Times New Roman" panose="02020603050405020304"/>
              </a:rPr>
              <a:t>LaserAdv </a:t>
            </a:r>
            <a:r>
              <a:rPr sz="2700" b="1" kern="0" spc="50" dirty="0">
                <a:solidFill>
                  <a:srgbClr val="000000">
                    <a:alpha val="100000"/>
                  </a:srgbClr>
                </a:solidFill>
                <a:latin typeface="Times New Roman" panose="02020603050405020304"/>
                <a:ea typeface="Times New Roman" panose="02020603050405020304"/>
                <a:cs typeface="Times New Roman" panose="02020603050405020304"/>
              </a:rPr>
              <a:t>Design</a:t>
            </a:r>
            <a:endParaRPr sz="2700" dirty="0">
              <a:latin typeface="Times New Roman" panose="02020603050405020304"/>
              <a:ea typeface="Times New Roman" panose="02020603050405020304"/>
              <a:cs typeface="Times New Roman" panose="02020603050405020304"/>
            </a:endParaRPr>
          </a:p>
        </p:txBody>
      </p:sp>
      <p:pic>
        <p:nvPicPr>
          <p:cNvPr id="144" name="picture 144"/>
          <p:cNvPicPr>
            <a:picLocks noChangeAspect="1"/>
          </p:cNvPicPr>
          <p:nvPr/>
        </p:nvPicPr>
        <p:blipFill>
          <a:blip r:embed="rId2"/>
          <a:stretch>
            <a:fillRect/>
          </a:stretch>
        </p:blipFill>
        <p:spPr>
          <a:xfrm rot="21600000">
            <a:off x="8409726" y="164199"/>
            <a:ext cx="1462592" cy="467336"/>
          </a:xfrm>
          <a:prstGeom prst="rect">
            <a:avLst/>
          </a:prstGeom>
        </p:spPr>
      </p:pic>
      <p:sp>
        <p:nvSpPr>
          <p:cNvPr id="146" name="textbox 146"/>
          <p:cNvSpPr/>
          <p:nvPr/>
        </p:nvSpPr>
        <p:spPr>
          <a:xfrm>
            <a:off x="10798304" y="2769898"/>
            <a:ext cx="589280" cy="106997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8000"/>
              </a:lnSpc>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range</a:t>
            </a:r>
            <a:endParaRPr sz="2000" dirty="0">
              <a:latin typeface="Times New Roman" panose="02020603050405020304"/>
              <a:ea typeface="Times New Roman" panose="02020603050405020304"/>
              <a:cs typeface="Times New Roman" panose="020206030504050203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2159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audio</a:t>
            </a:r>
            <a:endParaRPr sz="2000" dirty="0">
              <a:latin typeface="Times New Roman" panose="02020603050405020304"/>
              <a:ea typeface="Times New Roman" panose="02020603050405020304"/>
              <a:cs typeface="Times New Roman" panose="02020603050405020304"/>
            </a:endParaRPr>
          </a:p>
        </p:txBody>
      </p:sp>
      <p:sp>
        <p:nvSpPr>
          <p:cNvPr id="148" name="path 148"/>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150" name="path 150"/>
          <p:cNvSpPr/>
          <p:nvPr/>
        </p:nvSpPr>
        <p:spPr>
          <a:xfrm>
            <a:off x="6338061" y="2240026"/>
            <a:ext cx="408940" cy="408940"/>
          </a:xfrm>
          <a:custGeom>
            <a:avLst/>
            <a:gdLst/>
            <a:ahLst/>
            <a:cxnLst/>
            <a:rect l="0" t="0" r="0" b="0"/>
            <a:pathLst>
              <a:path w="644" h="644">
                <a:moveTo>
                  <a:pt x="10" y="634"/>
                </a:moveTo>
                <a:cubicBezTo>
                  <a:pt x="10" y="289"/>
                  <a:pt x="289" y="10"/>
                  <a:pt x="634" y="10"/>
                </a:cubicBezTo>
              </a:path>
            </a:pathLst>
          </a:custGeom>
          <a:noFill/>
          <a:ln w="12700" cap="flat">
            <a:solidFill>
              <a:srgbClr val="BFBFBF"/>
            </a:solidFill>
            <a:prstDash val="solid"/>
            <a:miter lim="1000000"/>
          </a:ln>
        </p:spPr>
        <p:txBody>
          <a:bodyPr rtlCol="0"/>
          <a:lstStyle/>
          <a:p>
            <a:pPr algn="ctr"/>
            <a:endParaRPr lang="zh-CN" altLang="en-US"/>
          </a:p>
        </p:txBody>
      </p:sp>
      <p:sp>
        <p:nvSpPr>
          <p:cNvPr id="152" name="path 152"/>
          <p:cNvSpPr/>
          <p:nvPr/>
        </p:nvSpPr>
        <p:spPr>
          <a:xfrm>
            <a:off x="6338061" y="4221226"/>
            <a:ext cx="408940" cy="408940"/>
          </a:xfrm>
          <a:custGeom>
            <a:avLst/>
            <a:gdLst/>
            <a:ahLst/>
            <a:cxnLst/>
            <a:rect l="0" t="0" r="0" b="0"/>
            <a:pathLst>
              <a:path w="644" h="644">
                <a:moveTo>
                  <a:pt x="634" y="634"/>
                </a:moveTo>
                <a:cubicBezTo>
                  <a:pt x="289" y="634"/>
                  <a:pt x="10" y="354"/>
                  <a:pt x="10" y="10"/>
                </a:cubicBezTo>
              </a:path>
            </a:pathLst>
          </a:custGeom>
          <a:noFill/>
          <a:ln w="12700" cap="flat">
            <a:solidFill>
              <a:srgbClr val="BFBFBF"/>
            </a:solidFill>
            <a:prstDash val="solid"/>
            <a:miter lim="1000000"/>
          </a:ln>
        </p:spPr>
        <p:txBody>
          <a:bodyPr rtlCol="0"/>
          <a:lstStyle/>
          <a:p>
            <a:pPr algn="ctr"/>
            <a:endParaRPr lang="zh-CN" altLang="en-US"/>
          </a:p>
        </p:txBody>
      </p:sp>
      <p:sp>
        <p:nvSpPr>
          <p:cNvPr id="154" name="path 154"/>
          <p:cNvSpPr/>
          <p:nvPr/>
        </p:nvSpPr>
        <p:spPr>
          <a:xfrm>
            <a:off x="11178285" y="2240026"/>
            <a:ext cx="408940" cy="408940"/>
          </a:xfrm>
          <a:custGeom>
            <a:avLst/>
            <a:gdLst/>
            <a:ahLst/>
            <a:cxnLst/>
            <a:rect l="0" t="0" r="0" b="0"/>
            <a:pathLst>
              <a:path w="644" h="644">
                <a:moveTo>
                  <a:pt x="10" y="10"/>
                </a:moveTo>
                <a:cubicBezTo>
                  <a:pt x="354" y="10"/>
                  <a:pt x="634" y="289"/>
                  <a:pt x="634" y="634"/>
                </a:cubicBezTo>
              </a:path>
            </a:pathLst>
          </a:custGeom>
          <a:noFill/>
          <a:ln w="12700" cap="flat">
            <a:solidFill>
              <a:srgbClr val="BFBFBF"/>
            </a:solidFill>
            <a:prstDash val="solid"/>
            <a:miter lim="1000000"/>
          </a:ln>
        </p:spPr>
        <p:txBody>
          <a:bodyPr rtlCol="0"/>
          <a:lstStyle/>
          <a:p>
            <a:pPr algn="ctr"/>
            <a:endParaRPr lang="zh-CN" altLang="en-US"/>
          </a:p>
        </p:txBody>
      </p:sp>
      <p:sp>
        <p:nvSpPr>
          <p:cNvPr id="156" name="path 156"/>
          <p:cNvSpPr/>
          <p:nvPr/>
        </p:nvSpPr>
        <p:spPr>
          <a:xfrm>
            <a:off x="11178285" y="4221226"/>
            <a:ext cx="408940" cy="408940"/>
          </a:xfrm>
          <a:custGeom>
            <a:avLst/>
            <a:gdLst/>
            <a:ahLst/>
            <a:cxnLst/>
            <a:rect l="0" t="0" r="0" b="0"/>
            <a:pathLst>
              <a:path w="644" h="644">
                <a:moveTo>
                  <a:pt x="634" y="10"/>
                </a:moveTo>
                <a:cubicBezTo>
                  <a:pt x="634" y="354"/>
                  <a:pt x="354" y="634"/>
                  <a:pt x="10" y="634"/>
                </a:cubicBezTo>
              </a:path>
            </a:pathLst>
          </a:custGeom>
          <a:noFill/>
          <a:ln w="12700" cap="flat">
            <a:solidFill>
              <a:srgbClr val="BFBFBF"/>
            </a:solidFill>
            <a:prstDash val="solid"/>
            <a:miter lim="1000000"/>
          </a:ln>
        </p:spPr>
        <p:txBody>
          <a:bodyPr rtlCol="0"/>
          <a:lstStyle/>
          <a:p>
            <a:pPr algn="ctr"/>
            <a:endParaRPr lang="zh-CN" altLang="en-US"/>
          </a:p>
        </p:txBody>
      </p:sp>
      <p:sp>
        <p:nvSpPr>
          <p:cNvPr id="158" name="path 158"/>
          <p:cNvSpPr/>
          <p:nvPr/>
        </p:nvSpPr>
        <p:spPr>
          <a:xfrm>
            <a:off x="534669" y="2240026"/>
            <a:ext cx="408940" cy="408940"/>
          </a:xfrm>
          <a:custGeom>
            <a:avLst/>
            <a:gdLst/>
            <a:ahLst/>
            <a:cxnLst/>
            <a:rect l="0" t="0" r="0" b="0"/>
            <a:pathLst>
              <a:path w="644" h="644">
                <a:moveTo>
                  <a:pt x="10" y="634"/>
                </a:moveTo>
                <a:cubicBezTo>
                  <a:pt x="10" y="289"/>
                  <a:pt x="289" y="10"/>
                  <a:pt x="634" y="10"/>
                </a:cubicBezTo>
              </a:path>
            </a:pathLst>
          </a:custGeom>
          <a:noFill/>
          <a:ln w="12700" cap="flat">
            <a:solidFill>
              <a:srgbClr val="BFBFBF"/>
            </a:solidFill>
            <a:prstDash val="solid"/>
            <a:miter lim="1000000"/>
          </a:ln>
        </p:spPr>
        <p:txBody>
          <a:bodyPr rtlCol="0"/>
          <a:lstStyle/>
          <a:p>
            <a:pPr algn="ctr"/>
            <a:endParaRPr lang="zh-CN" altLang="en-US"/>
          </a:p>
        </p:txBody>
      </p:sp>
      <p:sp>
        <p:nvSpPr>
          <p:cNvPr id="160" name="path 160"/>
          <p:cNvSpPr/>
          <p:nvPr/>
        </p:nvSpPr>
        <p:spPr>
          <a:xfrm>
            <a:off x="5374894" y="2240026"/>
            <a:ext cx="408939" cy="408940"/>
          </a:xfrm>
          <a:custGeom>
            <a:avLst/>
            <a:gdLst/>
            <a:ahLst/>
            <a:cxnLst/>
            <a:rect l="0" t="0" r="0" b="0"/>
            <a:pathLst>
              <a:path w="643" h="644">
                <a:moveTo>
                  <a:pt x="10" y="10"/>
                </a:moveTo>
                <a:cubicBezTo>
                  <a:pt x="354" y="10"/>
                  <a:pt x="633" y="289"/>
                  <a:pt x="633" y="634"/>
                </a:cubicBezTo>
              </a:path>
            </a:pathLst>
          </a:custGeom>
          <a:noFill/>
          <a:ln w="12700" cap="flat">
            <a:solidFill>
              <a:srgbClr val="BFBFBF"/>
            </a:solidFill>
            <a:prstDash val="solid"/>
            <a:miter lim="1000000"/>
          </a:ln>
        </p:spPr>
        <p:txBody>
          <a:bodyPr rtlCol="0"/>
          <a:lstStyle/>
          <a:p>
            <a:pPr algn="ctr"/>
            <a:endParaRPr lang="zh-CN" altLang="en-US"/>
          </a:p>
        </p:txBody>
      </p:sp>
      <p:sp>
        <p:nvSpPr>
          <p:cNvPr id="162" name="textbox 162"/>
          <p:cNvSpPr/>
          <p:nvPr/>
        </p:nvSpPr>
        <p:spPr>
          <a:xfrm>
            <a:off x="6560990" y="3572136"/>
            <a:ext cx="206375" cy="311784"/>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4000"/>
              </a:lnSpc>
              <a:tabLst>
                <a:tab pos="192405" algn="l"/>
              </a:tabLst>
            </a:pPr>
            <a:r>
              <a:rPr sz="2000" kern="0" spc="0" dirty="0">
                <a:solidFill>
                  <a:srgbClr val="000000">
                    <a:alpha val="100000"/>
                  </a:srgbClr>
                </a:solidFill>
                <a:latin typeface="Wingdings" panose="05000000000000000000"/>
                <a:ea typeface="Wingdings" panose="05000000000000000000"/>
                <a:cs typeface="Wingdings" panose="05000000000000000000"/>
              </a:rPr>
              <a:t>	</a:t>
            </a:r>
            <a:endParaRPr sz="2000" dirty="0">
              <a:latin typeface="Wingdings" panose="05000000000000000000"/>
              <a:ea typeface="Wingdings" panose="05000000000000000000"/>
              <a:cs typeface="Wingdings" panose="05000000000000000000"/>
            </a:endParaRPr>
          </a:p>
        </p:txBody>
      </p:sp>
      <p:pic>
        <p:nvPicPr>
          <p:cNvPr id="164" name="picture 164"/>
          <p:cNvPicPr>
            <a:picLocks noChangeAspect="1"/>
          </p:cNvPicPr>
          <p:nvPr/>
        </p:nvPicPr>
        <p:blipFill>
          <a:blip r:embed="rId3"/>
          <a:stretch>
            <a:fillRect/>
          </a:stretch>
        </p:blipFill>
        <p:spPr>
          <a:xfrm rot="21600000">
            <a:off x="6573690" y="3584836"/>
            <a:ext cx="180700" cy="186808"/>
          </a:xfrm>
          <a:prstGeom prst="rect">
            <a:avLst/>
          </a:prstGeom>
        </p:spPr>
      </p:pic>
      <p:sp>
        <p:nvSpPr>
          <p:cNvPr id="166" name="textbox 166"/>
          <p:cNvSpPr/>
          <p:nvPr/>
        </p:nvSpPr>
        <p:spPr>
          <a:xfrm>
            <a:off x="6560990" y="2759464"/>
            <a:ext cx="206375" cy="311784"/>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4000"/>
              </a:lnSpc>
              <a:tabLst>
                <a:tab pos="192405" algn="l"/>
              </a:tabLst>
            </a:pPr>
            <a:r>
              <a:rPr sz="2000" kern="0" spc="0" dirty="0">
                <a:solidFill>
                  <a:srgbClr val="000000">
                    <a:alpha val="100000"/>
                  </a:srgbClr>
                </a:solidFill>
                <a:latin typeface="Wingdings" panose="05000000000000000000"/>
                <a:ea typeface="Wingdings" panose="05000000000000000000"/>
                <a:cs typeface="Wingdings" panose="05000000000000000000"/>
              </a:rPr>
              <a:t>	</a:t>
            </a:r>
            <a:endParaRPr sz="2000" dirty="0">
              <a:latin typeface="Wingdings" panose="05000000000000000000"/>
              <a:ea typeface="Wingdings" panose="05000000000000000000"/>
              <a:cs typeface="Wingdings" panose="05000000000000000000"/>
            </a:endParaRPr>
          </a:p>
        </p:txBody>
      </p:sp>
      <p:pic>
        <p:nvPicPr>
          <p:cNvPr id="168" name="picture 168"/>
          <p:cNvPicPr>
            <a:picLocks noChangeAspect="1"/>
          </p:cNvPicPr>
          <p:nvPr/>
        </p:nvPicPr>
        <p:blipFill>
          <a:blip r:embed="rId4"/>
          <a:stretch>
            <a:fillRect/>
          </a:stretch>
        </p:blipFill>
        <p:spPr>
          <a:xfrm rot="21600000">
            <a:off x="6573690" y="2772164"/>
            <a:ext cx="180700" cy="186808"/>
          </a:xfrm>
          <a:prstGeom prst="rect">
            <a:avLst/>
          </a:prstGeom>
        </p:spPr>
      </p:pic>
      <p:sp>
        <p:nvSpPr>
          <p:cNvPr id="170" name="textbox 170"/>
          <p:cNvSpPr/>
          <p:nvPr/>
        </p:nvSpPr>
        <p:spPr>
          <a:xfrm>
            <a:off x="3369426" y="5663255"/>
            <a:ext cx="168275" cy="1333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845"/>
              </a:lnSpc>
            </a:pPr>
            <a:r>
              <a:rPr sz="12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endParaRPr sz="1200" dirty="0">
              <a:latin typeface="微软雅黑" panose="020B0503020204020204" charset="-122"/>
              <a:ea typeface="微软雅黑" panose="020B0503020204020204" charset="-122"/>
              <a:cs typeface="微软雅黑" panose="020B0503020204020204" charset="-122"/>
            </a:endParaRPr>
          </a:p>
        </p:txBody>
      </p:sp>
      <p:sp>
        <p:nvSpPr>
          <p:cNvPr id="172" name="textbox 172"/>
          <p:cNvSpPr/>
          <p:nvPr/>
        </p:nvSpPr>
        <p:spPr>
          <a:xfrm>
            <a:off x="11171479" y="6454546"/>
            <a:ext cx="102870"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6</a:t>
            </a:r>
            <a:endParaRPr sz="1200" dirty="0">
              <a:latin typeface="等线" panose="02010600030101010101" charset="-122"/>
              <a:ea typeface="等线" panose="02010600030101010101" charset="-122"/>
              <a:cs typeface="等线" panose="02010600030101010101" charset="-122"/>
            </a:endParaRPr>
          </a:p>
        </p:txBody>
      </p:sp>
      <p:pic>
        <p:nvPicPr>
          <p:cNvPr id="2" name="图片 1"/>
          <p:cNvPicPr>
            <a:picLocks noChangeAspect="1"/>
          </p:cNvPicPr>
          <p:nvPr/>
        </p:nvPicPr>
        <p:blipFill>
          <a:blip r:embed="rId5"/>
          <a:stretch>
            <a:fillRect/>
          </a:stretch>
        </p:blipFill>
        <p:spPr>
          <a:xfrm>
            <a:off x="2609850" y="4998720"/>
            <a:ext cx="6031865" cy="667385"/>
          </a:xfrm>
          <a:prstGeom prst="rect">
            <a:avLst/>
          </a:prstGeom>
        </p:spPr>
      </p:pic>
      <p:pic>
        <p:nvPicPr>
          <p:cNvPr id="3" name="图片 2"/>
          <p:cNvPicPr>
            <a:picLocks noChangeAspect="1"/>
          </p:cNvPicPr>
          <p:nvPr/>
        </p:nvPicPr>
        <p:blipFill>
          <a:blip r:embed="rId6"/>
          <a:stretch>
            <a:fillRect/>
          </a:stretch>
        </p:blipFill>
        <p:spPr>
          <a:xfrm>
            <a:off x="523240" y="5728335"/>
            <a:ext cx="315595" cy="315595"/>
          </a:xfrm>
          <a:prstGeom prst="rect">
            <a:avLst/>
          </a:prstGeom>
        </p:spPr>
      </p:pic>
      <p:pic>
        <p:nvPicPr>
          <p:cNvPr id="4" name="图片 3"/>
          <p:cNvPicPr>
            <a:picLocks noChangeAspect="1"/>
          </p:cNvPicPr>
          <p:nvPr/>
        </p:nvPicPr>
        <p:blipFill>
          <a:blip r:embed="rId7"/>
          <a:stretch>
            <a:fillRect/>
          </a:stretch>
        </p:blipFill>
        <p:spPr>
          <a:xfrm>
            <a:off x="4328160" y="5717540"/>
            <a:ext cx="242570" cy="297815"/>
          </a:xfrm>
          <a:prstGeom prst="rect">
            <a:avLst/>
          </a:prstGeom>
        </p:spPr>
      </p:pic>
      <p:pic>
        <p:nvPicPr>
          <p:cNvPr id="6" name="图片 5"/>
          <p:cNvPicPr>
            <a:picLocks noChangeAspect="1"/>
          </p:cNvPicPr>
          <p:nvPr/>
        </p:nvPicPr>
        <p:blipFill>
          <a:blip r:embed="rId8"/>
          <a:stretch>
            <a:fillRect/>
          </a:stretch>
        </p:blipFill>
        <p:spPr>
          <a:xfrm>
            <a:off x="4321175" y="6014085"/>
            <a:ext cx="249555" cy="2838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ct 174"/>
          <p:cNvSpPr/>
          <p:nvPr/>
        </p:nvSpPr>
        <p:spPr>
          <a:xfrm>
            <a:off x="6216395" y="2714244"/>
            <a:ext cx="5666231" cy="3043427"/>
          </a:xfrm>
          <a:prstGeom prst="rect">
            <a:avLst/>
          </a:prstGeom>
          <a:solidFill>
            <a:srgbClr val="D9D9D9">
              <a:alpha val="100000"/>
            </a:srgbClr>
          </a:solidFill>
          <a:ln w="0" cap="flat">
            <a:noFill/>
            <a:prstDash val="solid"/>
            <a:miter lim="0"/>
          </a:ln>
        </p:spPr>
        <p:txBody>
          <a:bodyPr rtlCol="0"/>
          <a:lstStyle/>
          <a:p>
            <a:pPr algn="ctr"/>
            <a:endParaRPr lang="zh-CN" altLang="en-US"/>
          </a:p>
        </p:txBody>
      </p:sp>
      <p:sp>
        <p:nvSpPr>
          <p:cNvPr id="176" name="textbox 176"/>
          <p:cNvSpPr/>
          <p:nvPr/>
        </p:nvSpPr>
        <p:spPr>
          <a:xfrm>
            <a:off x="6203695" y="2701544"/>
            <a:ext cx="5692140" cy="3068954"/>
          </a:xfrm>
          <a:prstGeom prst="roundRect">
            <a:avLst>
              <a:gd name="adj" fmla="val 17012"/>
            </a:avLst>
          </a:prstGeom>
          <a:noFill/>
          <a:ln w="12700" cap="flat">
            <a:solidFill>
              <a:srgbClr val="BFBFBF"/>
            </a:solidFill>
            <a:prstDash val="solid"/>
            <a:miter lim="0"/>
          </a:ln>
        </p:spPr>
        <p:txBody>
          <a:bodyPr vert="horz" wrap="square" lIns="0" tIns="0" rIns="0" bIns="0"/>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1285" algn="l" rtl="0" eaLnBrk="0">
              <a:lnSpc>
                <a:spcPct val="81000"/>
              </a:lnSpc>
              <a:tabLst>
                <a:tab pos="301625" algn="l"/>
              </a:tabLst>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Impose certain constraints on the a</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mplitude</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marL="452120" indent="-330835" algn="l" rtl="0" eaLnBrk="0">
              <a:lnSpc>
                <a:spcPct val="96000"/>
              </a:lnSpc>
              <a:spcBef>
                <a:spcPts val="1760"/>
              </a:spcBef>
              <a:tabLst>
                <a:tab pos="30162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Parameter</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Cambria Math" panose="02040503050406030204"/>
                <a:ea typeface="Cambria Math" panose="02040503050406030204"/>
                <a:cs typeface="Cambria Math" panose="02040503050406030204"/>
              </a:rPr>
              <a:t>b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is   determined</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by</a:t>
            </a:r>
            <a:r>
              <a:rPr sz="20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the</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devic</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e’s</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frequency r</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esponse.</a:t>
            </a:r>
            <a:endParaRPr sz="2000" dirty="0">
              <a:latin typeface="Times New Roman" panose="02020603050405020304"/>
              <a:ea typeface="Times New Roman" panose="02020603050405020304"/>
              <a:cs typeface="Times New Roman" panose="02020603050405020304"/>
            </a:endParaRPr>
          </a:p>
          <a:p>
            <a:pPr algn="l" rtl="0" eaLnBrk="0">
              <a:lnSpc>
                <a:spcPct val="105000"/>
              </a:lnSpc>
            </a:pPr>
            <a:endParaRPr sz="1400" dirty="0">
              <a:latin typeface="Arial" panose="020B0604020202020204"/>
              <a:ea typeface="Arial" panose="020B0604020202020204"/>
              <a:cs typeface="Arial" panose="020B0604020202020204"/>
            </a:endParaRPr>
          </a:p>
          <a:p>
            <a:pPr algn="l" rtl="0" eaLnBrk="0">
              <a:lnSpc>
                <a:spcPct val="11000"/>
              </a:lnSpc>
            </a:pPr>
            <a:endParaRPr sz="100" dirty="0">
              <a:latin typeface="Arial" panose="020B0604020202020204"/>
              <a:ea typeface="Arial" panose="020B0604020202020204"/>
              <a:cs typeface="Arial" panose="020B0604020202020204"/>
            </a:endParaRPr>
          </a:p>
          <a:p>
            <a:pPr marL="445135" indent="-323850" algn="l" rtl="0" eaLnBrk="0">
              <a:lnSpc>
                <a:spcPct val="101000"/>
              </a:lnSpc>
              <a:tabLst>
                <a:tab pos="30162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 lower bound</a:t>
            </a:r>
            <a:r>
              <a:rPr sz="20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C00000">
                    <a:alpha val="100000"/>
                  </a:srgbClr>
                </a:solidFill>
                <a:latin typeface="Cambria Math" panose="02040503050406030204"/>
                <a:ea typeface="Cambria Math" panose="02040503050406030204"/>
                <a:cs typeface="Cambria Math" panose="02040503050406030204"/>
              </a:rPr>
              <a:t>a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on</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0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per</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turbation,</a:t>
            </a:r>
            <a:r>
              <a:rPr sz="2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avoiding</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overly  stringent  constraints</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that  could  hinder</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the generation proce</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ss.</a:t>
            </a:r>
            <a:endParaRPr sz="2000" dirty="0">
              <a:latin typeface="Times New Roman" panose="02020603050405020304"/>
              <a:ea typeface="Times New Roman" panose="02020603050405020304"/>
              <a:cs typeface="Times New Roman" panose="02020603050405020304"/>
            </a:endParaRPr>
          </a:p>
        </p:txBody>
      </p:sp>
      <p:pic>
        <p:nvPicPr>
          <p:cNvPr id="178" name="picture 178"/>
          <p:cNvPicPr>
            <a:picLocks noChangeAspect="1"/>
          </p:cNvPicPr>
          <p:nvPr/>
        </p:nvPicPr>
        <p:blipFill>
          <a:blip r:embed="rId1"/>
          <a:stretch>
            <a:fillRect/>
          </a:stretch>
        </p:blipFill>
        <p:spPr>
          <a:xfrm rot="21600000">
            <a:off x="6477931" y="4462026"/>
            <a:ext cx="180700" cy="186808"/>
          </a:xfrm>
          <a:prstGeom prst="rect">
            <a:avLst/>
          </a:prstGeom>
        </p:spPr>
      </p:pic>
      <p:pic>
        <p:nvPicPr>
          <p:cNvPr id="180" name="picture 180"/>
          <p:cNvPicPr>
            <a:picLocks noChangeAspect="1"/>
          </p:cNvPicPr>
          <p:nvPr/>
        </p:nvPicPr>
        <p:blipFill>
          <a:blip r:embed="rId2"/>
          <a:stretch>
            <a:fillRect/>
          </a:stretch>
        </p:blipFill>
        <p:spPr>
          <a:xfrm rot="21600000">
            <a:off x="6477956" y="3647605"/>
            <a:ext cx="180917" cy="187032"/>
          </a:xfrm>
          <a:prstGeom prst="rect">
            <a:avLst/>
          </a:prstGeom>
        </p:spPr>
      </p:pic>
      <p:pic>
        <p:nvPicPr>
          <p:cNvPr id="182" name="picture 182"/>
          <p:cNvPicPr>
            <a:picLocks noChangeAspect="1"/>
          </p:cNvPicPr>
          <p:nvPr/>
        </p:nvPicPr>
        <p:blipFill>
          <a:blip r:embed="rId3"/>
          <a:stretch>
            <a:fillRect/>
          </a:stretch>
        </p:blipFill>
        <p:spPr>
          <a:xfrm rot="21600000">
            <a:off x="6477931" y="3166245"/>
            <a:ext cx="180700" cy="186808"/>
          </a:xfrm>
          <a:prstGeom prst="rect">
            <a:avLst/>
          </a:prstGeom>
        </p:spPr>
      </p:pic>
      <p:sp>
        <p:nvSpPr>
          <p:cNvPr id="184" name="textbox 184"/>
          <p:cNvSpPr/>
          <p:nvPr/>
        </p:nvSpPr>
        <p:spPr>
          <a:xfrm>
            <a:off x="216408" y="2717291"/>
            <a:ext cx="4924425" cy="3043554"/>
          </a:xfrm>
          <a:prstGeom prst="roundRect">
            <a:avLst>
              <a:gd name="adj" fmla="val 17013"/>
            </a:avLst>
          </a:prstGeom>
          <a:solidFill>
            <a:srgbClr val="F2F2F2">
              <a:alpha val="100000"/>
            </a:srgbClr>
          </a:solidFill>
          <a:ln w="12700" cap="flat">
            <a:solidFill>
              <a:srgbClr val="BFBFBF"/>
            </a:solidFill>
            <a:prstDash val="solid"/>
            <a:miter lim="0"/>
          </a:ln>
        </p:spPr>
        <p:txBody>
          <a:bodyPr vert="horz" wrap="square" lIns="0" tIns="0" rIns="0" bIns="0"/>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439420" indent="-330200" algn="l" rtl="0" eaLnBrk="0">
              <a:lnSpc>
                <a:spcPct val="94000"/>
              </a:lnSpc>
              <a:tabLst>
                <a:tab pos="28892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Some devices w</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ith MEMS microphones</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are </a:t>
            </a:r>
            <a:r>
              <a:rPr sz="2000" kern="0" spc="0" dirty="0">
                <a:solidFill>
                  <a:srgbClr val="C00000">
                    <a:alpha val="100000"/>
                  </a:srgbClr>
                </a:solidFill>
                <a:latin typeface="Times New Roman" panose="02020603050405020304"/>
                <a:ea typeface="Times New Roman" panose="02020603050405020304"/>
                <a:cs typeface="Times New Roman" panose="02020603050405020304"/>
              </a:rPr>
              <a:t>insensiti</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ve to lasers</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437515" indent="-328295" algn="l" rtl="0" eaLnBrk="0">
              <a:lnSpc>
                <a:spcPct val="94000"/>
              </a:lnSpc>
              <a:spcBef>
                <a:spcPts val="5"/>
              </a:spcBef>
              <a:tabLst>
                <a:tab pos="288925" algn="l"/>
              </a:tabLst>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Receive</a:t>
            </a:r>
            <a:r>
              <a:rPr sz="2000" kern="0" spc="4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only</a:t>
            </a:r>
            <a:r>
              <a:rPr sz="2000" kern="0" spc="4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a:t>
            </a:r>
            <a:r>
              <a:rPr sz="2000" kern="0" spc="4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low</a:t>
            </a:r>
            <a:r>
              <a:rPr sz="2000" kern="0" spc="49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intensity</a:t>
            </a:r>
            <a:r>
              <a:rPr sz="2000" kern="0" spc="49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of</a:t>
            </a:r>
            <a:r>
              <a:rPr sz="20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la</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ser-</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induced adversarial pert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urbations.</a:t>
            </a:r>
            <a:endParaRPr sz="2000" dirty="0">
              <a:latin typeface="Times New Roman" panose="02020603050405020304"/>
              <a:ea typeface="Times New Roman" panose="02020603050405020304"/>
              <a:cs typeface="Times New Roman" panose="02020603050405020304"/>
            </a:endParaRPr>
          </a:p>
        </p:txBody>
      </p:sp>
      <p:pic>
        <p:nvPicPr>
          <p:cNvPr id="186" name="picture 186"/>
          <p:cNvPicPr>
            <a:picLocks noChangeAspect="1"/>
          </p:cNvPicPr>
          <p:nvPr/>
        </p:nvPicPr>
        <p:blipFill>
          <a:blip r:embed="rId4"/>
          <a:stretch>
            <a:fillRect/>
          </a:stretch>
        </p:blipFill>
        <p:spPr>
          <a:xfrm rot="21600000">
            <a:off x="477359" y="4388493"/>
            <a:ext cx="180700" cy="186808"/>
          </a:xfrm>
          <a:prstGeom prst="rect">
            <a:avLst/>
          </a:prstGeom>
        </p:spPr>
      </p:pic>
      <p:pic>
        <p:nvPicPr>
          <p:cNvPr id="188" name="picture 188"/>
          <p:cNvPicPr>
            <a:picLocks noChangeAspect="1"/>
          </p:cNvPicPr>
          <p:nvPr/>
        </p:nvPicPr>
        <p:blipFill>
          <a:blip r:embed="rId5"/>
          <a:stretch>
            <a:fillRect/>
          </a:stretch>
        </p:blipFill>
        <p:spPr>
          <a:xfrm rot="21600000">
            <a:off x="477359" y="3575947"/>
            <a:ext cx="180700" cy="186808"/>
          </a:xfrm>
          <a:prstGeom prst="rect">
            <a:avLst/>
          </a:prstGeom>
        </p:spPr>
      </p:pic>
      <p:sp>
        <p:nvSpPr>
          <p:cNvPr id="190" name="textbox 190"/>
          <p:cNvSpPr/>
          <p:nvPr/>
        </p:nvSpPr>
        <p:spPr>
          <a:xfrm>
            <a:off x="504571" y="1115463"/>
            <a:ext cx="4796154" cy="983614"/>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0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Physical</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Adversarial Perturbation</a:t>
            </a:r>
            <a:endParaRPr sz="2400" dirty="0">
              <a:latin typeface="Times New Roman" panose="02020603050405020304"/>
              <a:ea typeface="Times New Roman" panose="02020603050405020304"/>
              <a:cs typeface="Times New Roman" panose="02020603050405020304"/>
            </a:endParaRPr>
          </a:p>
          <a:p>
            <a:pPr algn="l" rtl="0" eaLnBrk="0">
              <a:lnSpc>
                <a:spcPct val="190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476250" algn="l" rtl="0" eaLnBrk="0">
              <a:lnSpc>
                <a:spcPct val="81000"/>
              </a:lnSpc>
              <a:tabLst>
                <a:tab pos="692150" algn="l"/>
              </a:tabLst>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Dealing</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with</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Low</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Sensitivity</a:t>
            </a:r>
            <a:endParaRPr sz="2400" dirty="0">
              <a:latin typeface="Times New Roman" panose="02020603050405020304"/>
              <a:ea typeface="Times New Roman" panose="02020603050405020304"/>
              <a:cs typeface="Times New Roman" panose="02020603050405020304"/>
            </a:endParaRPr>
          </a:p>
        </p:txBody>
      </p:sp>
      <p:pic>
        <p:nvPicPr>
          <p:cNvPr id="192" name="picture 192"/>
          <p:cNvPicPr>
            <a:picLocks noChangeAspect="1"/>
          </p:cNvPicPr>
          <p:nvPr/>
        </p:nvPicPr>
        <p:blipFill>
          <a:blip r:embed="rId6"/>
          <a:stretch>
            <a:fillRect/>
          </a:stretch>
        </p:blipFill>
        <p:spPr>
          <a:xfrm rot="21600000">
            <a:off x="981455" y="1791005"/>
            <a:ext cx="216408" cy="223723"/>
          </a:xfrm>
          <a:prstGeom prst="rect">
            <a:avLst/>
          </a:prstGeom>
        </p:spPr>
      </p:pic>
      <p:sp>
        <p:nvSpPr>
          <p:cNvPr id="194" name="textbox 194"/>
          <p:cNvSpPr/>
          <p:nvPr/>
        </p:nvSpPr>
        <p:spPr>
          <a:xfrm>
            <a:off x="283530" y="257443"/>
            <a:ext cx="2552064" cy="34988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79000"/>
              </a:lnSpc>
            </a:pPr>
            <a:r>
              <a:rPr sz="2700" b="1" i="1" kern="0" spc="50" dirty="0">
                <a:solidFill>
                  <a:srgbClr val="000000">
                    <a:alpha val="100000"/>
                  </a:srgbClr>
                </a:solidFill>
                <a:latin typeface="Times New Roman" panose="02020603050405020304"/>
                <a:ea typeface="Times New Roman" panose="02020603050405020304"/>
                <a:cs typeface="Times New Roman" panose="02020603050405020304"/>
              </a:rPr>
              <a:t>LaserAdv </a:t>
            </a:r>
            <a:r>
              <a:rPr sz="2700" b="1" kern="0" spc="50" dirty="0">
                <a:solidFill>
                  <a:srgbClr val="000000">
                    <a:alpha val="100000"/>
                  </a:srgbClr>
                </a:solidFill>
                <a:latin typeface="Times New Roman" panose="02020603050405020304"/>
                <a:ea typeface="Times New Roman" panose="02020603050405020304"/>
                <a:cs typeface="Times New Roman" panose="02020603050405020304"/>
              </a:rPr>
              <a:t>Design</a:t>
            </a:r>
            <a:endParaRPr sz="2700" dirty="0">
              <a:latin typeface="Times New Roman" panose="02020603050405020304"/>
              <a:ea typeface="Times New Roman" panose="02020603050405020304"/>
              <a:cs typeface="Times New Roman" panose="02020603050405020304"/>
            </a:endParaRPr>
          </a:p>
        </p:txBody>
      </p:sp>
      <p:pic>
        <p:nvPicPr>
          <p:cNvPr id="196" name="picture 196"/>
          <p:cNvPicPr>
            <a:picLocks noChangeAspect="1"/>
          </p:cNvPicPr>
          <p:nvPr/>
        </p:nvPicPr>
        <p:blipFill>
          <a:blip r:embed="rId7"/>
          <a:stretch>
            <a:fillRect/>
          </a:stretch>
        </p:blipFill>
        <p:spPr>
          <a:xfrm rot="21600000">
            <a:off x="8409726" y="164199"/>
            <a:ext cx="1462592" cy="467336"/>
          </a:xfrm>
          <a:prstGeom prst="rect">
            <a:avLst/>
          </a:prstGeom>
        </p:spPr>
      </p:pic>
      <p:pic>
        <p:nvPicPr>
          <p:cNvPr id="198" name="picture 198"/>
          <p:cNvPicPr>
            <a:picLocks noChangeAspect="1"/>
          </p:cNvPicPr>
          <p:nvPr/>
        </p:nvPicPr>
        <p:blipFill>
          <a:blip r:embed="rId8"/>
          <a:stretch>
            <a:fillRect/>
          </a:stretch>
        </p:blipFill>
        <p:spPr>
          <a:xfrm rot="21600000">
            <a:off x="5282345" y="3830642"/>
            <a:ext cx="795205" cy="610985"/>
          </a:xfrm>
          <a:prstGeom prst="rect">
            <a:avLst/>
          </a:prstGeom>
        </p:spPr>
      </p:pic>
      <p:sp>
        <p:nvSpPr>
          <p:cNvPr id="200" name="path 200"/>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202" name="textbox 202"/>
          <p:cNvSpPr/>
          <p:nvPr/>
        </p:nvSpPr>
        <p:spPr>
          <a:xfrm>
            <a:off x="11171935" y="6454546"/>
            <a:ext cx="102870"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7</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extbox 204"/>
          <p:cNvSpPr/>
          <p:nvPr/>
        </p:nvSpPr>
        <p:spPr>
          <a:xfrm>
            <a:off x="504571" y="1115463"/>
            <a:ext cx="10880725" cy="1811654"/>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0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Physical</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Adversarial Perturbation</a:t>
            </a:r>
            <a:endParaRPr sz="2400" dirty="0">
              <a:latin typeface="Times New Roman" panose="02020603050405020304"/>
              <a:ea typeface="Times New Roman" panose="02020603050405020304"/>
              <a:cs typeface="Times New Roman" panose="02020603050405020304"/>
            </a:endParaRPr>
          </a:p>
          <a:p>
            <a:pPr algn="l" rtl="0" eaLnBrk="0">
              <a:lnSpc>
                <a:spcPct val="170000"/>
              </a:lnSpc>
            </a:pPr>
            <a:endParaRPr sz="1000" dirty="0">
              <a:latin typeface="Arial" panose="020B0604020202020204"/>
              <a:ea typeface="Arial" panose="020B0604020202020204"/>
              <a:cs typeface="Arial" panose="020B0604020202020204"/>
            </a:endParaRPr>
          </a:p>
          <a:p>
            <a:pPr marL="476250" algn="l" rtl="0" eaLnBrk="0">
              <a:lnSpc>
                <a:spcPct val="81000"/>
              </a:lnSpc>
              <a:spcBef>
                <a:spcPts val="725"/>
              </a:spcBef>
              <a:tabLst>
                <a:tab pos="692150" algn="l"/>
              </a:tabLst>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Dealing</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with</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FSF</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Channel</a:t>
            </a:r>
            <a:endParaRPr sz="2400" dirty="0">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460375" indent="-6350" algn="l" rtl="0" eaLnBrk="0">
              <a:lnSpc>
                <a:spcPct val="103000"/>
              </a:lnSpc>
              <a:spcBef>
                <a:spcPts val="5"/>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We</a:t>
            </a:r>
            <a:r>
              <a:rPr sz="20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propose</a:t>
            </a:r>
            <a:r>
              <a:rPr sz="20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a:t>
            </a:r>
            <a:r>
              <a:rPr sz="20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Selective</a:t>
            </a:r>
            <a:r>
              <a:rPr sz="2000" kern="0" spc="24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Amplitude</a:t>
            </a:r>
            <a:r>
              <a:rPr sz="2000" kern="0" spc="26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Enhancement</a:t>
            </a:r>
            <a:r>
              <a:rPr sz="2000" kern="0" spc="24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method</a:t>
            </a:r>
            <a:r>
              <a:rPr sz="2000" kern="0" spc="20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based</a:t>
            </a:r>
            <a:r>
              <a:rPr sz="2000" kern="0" spc="28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on</a:t>
            </a:r>
            <a:r>
              <a:rPr sz="2000" kern="0" spc="28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Time-Frequency</a:t>
            </a:r>
            <a:r>
              <a:rPr sz="2000" kern="0" spc="26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Interconver</a:t>
            </a:r>
            <a:r>
              <a:rPr sz="2000" kern="0" spc="-20" dirty="0">
                <a:solidFill>
                  <a:srgbClr val="C00000">
                    <a:alpha val="100000"/>
                  </a:srgbClr>
                </a:solidFill>
                <a:latin typeface="Times New Roman" panose="02020603050405020304"/>
                <a:ea typeface="Times New Roman" panose="02020603050405020304"/>
                <a:cs typeface="Times New Roman" panose="02020603050405020304"/>
              </a:rPr>
              <a:t>sion</a:t>
            </a:r>
            <a:r>
              <a:rPr sz="2000" kern="0" spc="0" dirty="0">
                <a:solidFill>
                  <a:srgbClr val="C00000">
                    <a:alpha val="100000"/>
                  </a:srgbClr>
                </a:solidFill>
                <a:latin typeface="Times New Roman" panose="02020603050405020304"/>
                <a:ea typeface="Times New Roman" panose="02020603050405020304"/>
                <a:cs typeface="Times New Roman" panose="02020603050405020304"/>
              </a:rPr>
              <a:t> </a:t>
            </a:r>
            <a:r>
              <a:rPr sz="2000" b="1" kern="0" spc="0" dirty="0">
                <a:solidFill>
                  <a:srgbClr val="C00000">
                    <a:alpha val="100000"/>
                  </a:srgbClr>
                </a:solidFill>
                <a:latin typeface="Times New Roman" panose="02020603050405020304"/>
                <a:ea typeface="Times New Roman" panose="02020603050405020304"/>
                <a:cs typeface="Times New Roman" panose="02020603050405020304"/>
              </a:rPr>
              <a:t>(SAE-TFI)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aimed at compensating for the attenuation of</a:t>
            </a:r>
            <a:r>
              <a:rPr sz="2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high-frequency components.</a:t>
            </a:r>
            <a:endParaRPr sz="2000" dirty="0">
              <a:latin typeface="Times New Roman" panose="02020603050405020304"/>
              <a:ea typeface="Times New Roman" panose="02020603050405020304"/>
              <a:cs typeface="Times New Roman" panose="02020603050405020304"/>
            </a:endParaRPr>
          </a:p>
        </p:txBody>
      </p:sp>
      <p:pic>
        <p:nvPicPr>
          <p:cNvPr id="206" name="picture 206"/>
          <p:cNvPicPr>
            <a:picLocks noChangeAspect="1"/>
          </p:cNvPicPr>
          <p:nvPr/>
        </p:nvPicPr>
        <p:blipFill>
          <a:blip r:embed="rId1"/>
          <a:stretch>
            <a:fillRect/>
          </a:stretch>
        </p:blipFill>
        <p:spPr>
          <a:xfrm rot="21600000">
            <a:off x="981455" y="1761159"/>
            <a:ext cx="216408" cy="223723"/>
          </a:xfrm>
          <a:prstGeom prst="rect">
            <a:avLst/>
          </a:prstGeom>
        </p:spPr>
      </p:pic>
      <p:pic>
        <p:nvPicPr>
          <p:cNvPr id="208" name="picture 208"/>
          <p:cNvPicPr>
            <a:picLocks noChangeAspect="1"/>
          </p:cNvPicPr>
          <p:nvPr/>
        </p:nvPicPr>
        <p:blipFill>
          <a:blip r:embed="rId2"/>
          <a:stretch>
            <a:fillRect/>
          </a:stretch>
        </p:blipFill>
        <p:spPr>
          <a:xfrm rot="21600000">
            <a:off x="1005586" y="3796029"/>
            <a:ext cx="10014711" cy="1399540"/>
          </a:xfrm>
          <a:prstGeom prst="rect">
            <a:avLst/>
          </a:prstGeom>
        </p:spPr>
      </p:pic>
      <p:sp>
        <p:nvSpPr>
          <p:cNvPr id="210" name="textbox 210"/>
          <p:cNvSpPr/>
          <p:nvPr/>
        </p:nvSpPr>
        <p:spPr>
          <a:xfrm>
            <a:off x="7979164" y="3874645"/>
            <a:ext cx="1985010" cy="45974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5000"/>
              </a:lnSpc>
              <a:tabLst>
                <a:tab pos="568325" algn="l"/>
              </a:tabLst>
            </a:pPr>
            <a:r>
              <a:rPr sz="2000" kern="0" spc="0" dirty="0">
                <a:solidFill>
                  <a:srgbClr val="000000">
                    <a:alpha val="100000"/>
                  </a:srgbClr>
                </a:solidFill>
                <a:latin typeface="Arial Unicode MS"/>
                <a:ea typeface="Arial Unicode MS"/>
                <a:cs typeface="Arial Unicode MS"/>
              </a:rPr>
              <a:t>	</a:t>
            </a:r>
            <a:endParaRPr sz="2000" dirty="0">
              <a:latin typeface="Arial Unicode MS"/>
              <a:ea typeface="Arial Unicode MS"/>
              <a:cs typeface="Arial Unicode MS"/>
            </a:endParaRPr>
          </a:p>
          <a:p>
            <a:pPr algn="r" rtl="0" eaLnBrk="0">
              <a:lnSpc>
                <a:spcPts val="1140"/>
              </a:lnSpc>
            </a:pPr>
            <a:r>
              <a:rPr sz="1800" b="1" i="1" kern="0" spc="20" dirty="0">
                <a:solidFill>
                  <a:srgbClr val="000000">
                    <a:alpha val="100000"/>
                  </a:srgbClr>
                </a:solidFill>
                <a:latin typeface="Times New Roman" panose="02020603050405020304"/>
                <a:ea typeface="Times New Roman" panose="02020603050405020304"/>
                <a:cs typeface="Times New Roman" panose="02020603050405020304"/>
              </a:rPr>
              <a:t>iSTFT</a:t>
            </a:r>
            <a:endParaRPr sz="1800" dirty="0">
              <a:latin typeface="Times New Roman" panose="02020603050405020304"/>
              <a:ea typeface="Times New Roman" panose="02020603050405020304"/>
              <a:cs typeface="Times New Roman" panose="02020603050405020304"/>
            </a:endParaRPr>
          </a:p>
        </p:txBody>
      </p:sp>
      <p:sp>
        <p:nvSpPr>
          <p:cNvPr id="212" name="textbox 212"/>
          <p:cNvSpPr/>
          <p:nvPr/>
        </p:nvSpPr>
        <p:spPr>
          <a:xfrm>
            <a:off x="7979164" y="3919873"/>
            <a:ext cx="581659" cy="26987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0000"/>
              </a:lnSpc>
            </a:pPr>
            <a:r>
              <a:rPr sz="2000" kern="0" spc="110" dirty="0">
                <a:solidFill>
                  <a:srgbClr val="000000">
                    <a:alpha val="100000"/>
                  </a:srgbClr>
                </a:solidFill>
                <a:latin typeface="Cambria Math" panose="02040503050406030204"/>
                <a:ea typeface="Cambria Math" panose="02040503050406030204"/>
                <a:cs typeface="Cambria Math" panose="02040503050406030204"/>
              </a:rPr>
              <a:t>Amp</a:t>
            </a:r>
            <a:endParaRPr sz="2000" dirty="0">
              <a:latin typeface="Cambria Math" panose="02040503050406030204"/>
              <a:ea typeface="Cambria Math" panose="02040503050406030204"/>
              <a:cs typeface="Cambria Math" panose="02040503050406030204"/>
            </a:endParaRPr>
          </a:p>
        </p:txBody>
      </p:sp>
      <p:sp>
        <p:nvSpPr>
          <p:cNvPr id="214" name="textbox 214"/>
          <p:cNvSpPr/>
          <p:nvPr/>
        </p:nvSpPr>
        <p:spPr>
          <a:xfrm>
            <a:off x="8026654" y="3874645"/>
            <a:ext cx="485140" cy="2698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920"/>
              </a:lnSpc>
              <a:tabLst>
                <a:tab pos="471805" algn="l"/>
              </a:tabLst>
            </a:pPr>
            <a:r>
              <a:rPr sz="2000" kern="0" spc="0" dirty="0">
                <a:solidFill>
                  <a:srgbClr val="000000">
                    <a:alpha val="100000"/>
                  </a:srgbClr>
                </a:solidFill>
                <a:latin typeface="Arial Unicode MS"/>
                <a:ea typeface="Arial Unicode MS"/>
                <a:cs typeface="Arial Unicode MS"/>
              </a:rPr>
              <a:t>	</a:t>
            </a:r>
            <a:endParaRPr sz="2000" dirty="0">
              <a:latin typeface="Arial Unicode MS"/>
              <a:ea typeface="Arial Unicode MS"/>
              <a:cs typeface="Arial Unicode MS"/>
            </a:endParaRPr>
          </a:p>
        </p:txBody>
      </p:sp>
      <p:pic>
        <p:nvPicPr>
          <p:cNvPr id="216" name="picture 216"/>
          <p:cNvPicPr>
            <a:picLocks noChangeAspect="1"/>
          </p:cNvPicPr>
          <p:nvPr/>
        </p:nvPicPr>
        <p:blipFill>
          <a:blip r:embed="rId3"/>
          <a:stretch>
            <a:fillRect/>
          </a:stretch>
        </p:blipFill>
        <p:spPr>
          <a:xfrm rot="21600000">
            <a:off x="8039354" y="3887345"/>
            <a:ext cx="459427" cy="243937"/>
          </a:xfrm>
          <a:prstGeom prst="rect">
            <a:avLst/>
          </a:prstGeom>
        </p:spPr>
      </p:pic>
      <p:sp>
        <p:nvSpPr>
          <p:cNvPr id="218" name="textbox 218"/>
          <p:cNvSpPr/>
          <p:nvPr/>
        </p:nvSpPr>
        <p:spPr>
          <a:xfrm>
            <a:off x="283530" y="257443"/>
            <a:ext cx="2552064" cy="34988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79000"/>
              </a:lnSpc>
            </a:pPr>
            <a:r>
              <a:rPr sz="2700" b="1" i="1" kern="0" spc="50" dirty="0">
                <a:solidFill>
                  <a:srgbClr val="000000">
                    <a:alpha val="100000"/>
                  </a:srgbClr>
                </a:solidFill>
                <a:latin typeface="Times New Roman" panose="02020603050405020304"/>
                <a:ea typeface="Times New Roman" panose="02020603050405020304"/>
                <a:cs typeface="Times New Roman" panose="02020603050405020304"/>
              </a:rPr>
              <a:t>LaserAdv </a:t>
            </a:r>
            <a:r>
              <a:rPr sz="2700" b="1" kern="0" spc="50" dirty="0">
                <a:solidFill>
                  <a:srgbClr val="000000">
                    <a:alpha val="100000"/>
                  </a:srgbClr>
                </a:solidFill>
                <a:latin typeface="Times New Roman" panose="02020603050405020304"/>
                <a:ea typeface="Times New Roman" panose="02020603050405020304"/>
                <a:cs typeface="Times New Roman" panose="02020603050405020304"/>
              </a:rPr>
              <a:t>Design</a:t>
            </a:r>
            <a:endParaRPr sz="2700" dirty="0">
              <a:latin typeface="Times New Roman" panose="02020603050405020304"/>
              <a:ea typeface="Times New Roman" panose="02020603050405020304"/>
              <a:cs typeface="Times New Roman" panose="02020603050405020304"/>
            </a:endParaRPr>
          </a:p>
        </p:txBody>
      </p:sp>
      <p:sp>
        <p:nvSpPr>
          <p:cNvPr id="220" name="textbox 220"/>
          <p:cNvSpPr/>
          <p:nvPr/>
        </p:nvSpPr>
        <p:spPr>
          <a:xfrm>
            <a:off x="6344841" y="3802303"/>
            <a:ext cx="1357630" cy="626744"/>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353695" algn="l" rtl="0" eaLnBrk="0">
              <a:lnSpc>
                <a:spcPct val="69000"/>
              </a:lnSpc>
            </a:pPr>
            <a:r>
              <a:rPr sz="1800" b="1" i="1" kern="0" spc="10" dirty="0">
                <a:solidFill>
                  <a:srgbClr val="000000">
                    <a:alpha val="100000"/>
                  </a:srgbClr>
                </a:solidFill>
                <a:latin typeface="Times New Roman" panose="02020603050405020304"/>
                <a:ea typeface="Times New Roman" panose="02020603050405020304"/>
                <a:cs typeface="Times New Roman" panose="02020603050405020304"/>
              </a:rPr>
              <a:t>Linear</a:t>
            </a:r>
            <a:endParaRPr sz="1800" dirty="0">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marL="12700" algn="l" rtl="0" eaLnBrk="0">
              <a:lnSpc>
                <a:spcPct val="69000"/>
              </a:lnSpc>
              <a:spcBef>
                <a:spcPts val="5"/>
              </a:spcBef>
            </a:pPr>
            <a:r>
              <a:rPr sz="1800" b="1" i="1" kern="0" spc="0" dirty="0">
                <a:solidFill>
                  <a:srgbClr val="000000">
                    <a:alpha val="100000"/>
                  </a:srgbClr>
                </a:solidFill>
                <a:latin typeface="Times New Roman" panose="02020603050405020304"/>
                <a:ea typeface="Times New Roman" panose="02020603050405020304"/>
                <a:cs typeface="Times New Roman" panose="02020603050405020304"/>
              </a:rPr>
              <a:t>Enhancement</a:t>
            </a:r>
            <a:endParaRPr sz="1800" dirty="0">
              <a:latin typeface="Times New Roman" panose="02020603050405020304"/>
              <a:ea typeface="Times New Roman" panose="02020603050405020304"/>
              <a:cs typeface="Times New Roman" panose="02020603050405020304"/>
            </a:endParaRPr>
          </a:p>
        </p:txBody>
      </p:sp>
      <p:pic>
        <p:nvPicPr>
          <p:cNvPr id="222" name="picture 222"/>
          <p:cNvPicPr>
            <a:picLocks noChangeAspect="1"/>
          </p:cNvPicPr>
          <p:nvPr/>
        </p:nvPicPr>
        <p:blipFill>
          <a:blip r:embed="rId4"/>
          <a:stretch>
            <a:fillRect/>
          </a:stretch>
        </p:blipFill>
        <p:spPr>
          <a:xfrm rot="21600000">
            <a:off x="8409726" y="164199"/>
            <a:ext cx="1462592" cy="467336"/>
          </a:xfrm>
          <a:prstGeom prst="rect">
            <a:avLst/>
          </a:prstGeom>
        </p:spPr>
      </p:pic>
      <p:sp>
        <p:nvSpPr>
          <p:cNvPr id="224" name="textbox 224"/>
          <p:cNvSpPr/>
          <p:nvPr/>
        </p:nvSpPr>
        <p:spPr>
          <a:xfrm>
            <a:off x="3080275" y="4193244"/>
            <a:ext cx="1174750" cy="607059"/>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75000"/>
              </a:lnSpc>
            </a:pP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Frequency</a:t>
            </a:r>
            <a:endParaRPr sz="2000" dirty="0">
              <a:latin typeface="Times New Roman" panose="02020603050405020304"/>
              <a:ea typeface="Times New Roman" panose="02020603050405020304"/>
              <a:cs typeface="Times New Roman" panose="02020603050405020304"/>
            </a:endParaRPr>
          </a:p>
          <a:p>
            <a:pPr marL="156210" algn="l" rtl="0" eaLnBrk="0">
              <a:lnSpc>
                <a:spcPts val="2785"/>
              </a:lnSpc>
            </a:pP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Domain</a:t>
            </a:r>
            <a:endParaRPr sz="2000" dirty="0">
              <a:latin typeface="Times New Roman" panose="02020603050405020304"/>
              <a:ea typeface="Times New Roman" panose="02020603050405020304"/>
              <a:cs typeface="Times New Roman" panose="02020603050405020304"/>
            </a:endParaRPr>
          </a:p>
        </p:txBody>
      </p:sp>
      <p:sp>
        <p:nvSpPr>
          <p:cNvPr id="226" name="textbox 226"/>
          <p:cNvSpPr/>
          <p:nvPr/>
        </p:nvSpPr>
        <p:spPr>
          <a:xfrm>
            <a:off x="5426468" y="3994488"/>
            <a:ext cx="656590" cy="10623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58420" algn="l" rtl="0" eaLnBrk="0">
              <a:lnSpc>
                <a:spcPct val="77000"/>
              </a:lnSpc>
            </a:pP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Amp</a:t>
            </a:r>
            <a:endParaRPr sz="2000" dirty="0">
              <a:latin typeface="Times New Roman" panose="02020603050405020304"/>
              <a:ea typeface="Times New Roman" panose="02020603050405020304"/>
              <a:cs typeface="Times New Roman" panose="020206030504050203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12700" algn="l" rtl="0" eaLnBrk="0">
              <a:lnSpc>
                <a:spcPct val="68000"/>
              </a:lnSpc>
              <a:spcBef>
                <a:spcPts val="5"/>
              </a:spcBef>
            </a:pPr>
            <a:r>
              <a:rPr sz="2000" b="1" kern="0" spc="-20" dirty="0">
                <a:solidFill>
                  <a:srgbClr val="000000">
                    <a:alpha val="100000"/>
                  </a:srgbClr>
                </a:solidFill>
                <a:latin typeface="Times New Roman" panose="02020603050405020304"/>
                <a:ea typeface="Times New Roman" panose="02020603050405020304"/>
                <a:cs typeface="Times New Roman" panose="02020603050405020304"/>
              </a:rPr>
              <a:t>Phase</a:t>
            </a:r>
            <a:endParaRPr sz="2000" dirty="0">
              <a:latin typeface="Times New Roman" panose="02020603050405020304"/>
              <a:ea typeface="Times New Roman" panose="02020603050405020304"/>
              <a:cs typeface="Times New Roman" panose="02020603050405020304"/>
            </a:endParaRPr>
          </a:p>
        </p:txBody>
      </p:sp>
      <p:sp>
        <p:nvSpPr>
          <p:cNvPr id="228" name="path 228"/>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230" name="textbox 230"/>
          <p:cNvSpPr/>
          <p:nvPr/>
        </p:nvSpPr>
        <p:spPr>
          <a:xfrm>
            <a:off x="2121941" y="4178096"/>
            <a:ext cx="608330" cy="21526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69000"/>
              </a:lnSpc>
            </a:pPr>
            <a:r>
              <a:rPr sz="1800" b="1" i="1" kern="0" spc="40" dirty="0">
                <a:solidFill>
                  <a:srgbClr val="000000">
                    <a:alpha val="100000"/>
                  </a:srgbClr>
                </a:solidFill>
                <a:latin typeface="Times New Roman" panose="02020603050405020304"/>
                <a:ea typeface="Times New Roman" panose="02020603050405020304"/>
                <a:cs typeface="Times New Roman" panose="02020603050405020304"/>
              </a:rPr>
              <a:t>STFT</a:t>
            </a:r>
            <a:endParaRPr sz="1800" dirty="0">
              <a:latin typeface="Times New Roman" panose="02020603050405020304"/>
              <a:ea typeface="Times New Roman" panose="02020603050405020304"/>
              <a:cs typeface="Times New Roman" panose="02020603050405020304"/>
            </a:endParaRPr>
          </a:p>
        </p:txBody>
      </p:sp>
      <p:sp>
        <p:nvSpPr>
          <p:cNvPr id="232" name="textbox 232"/>
          <p:cNvSpPr/>
          <p:nvPr/>
        </p:nvSpPr>
        <p:spPr>
          <a:xfrm>
            <a:off x="10437621" y="4232150"/>
            <a:ext cx="170179" cy="33718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450"/>
              </a:lnSpc>
              <a:tabLst>
                <a:tab pos="156845" algn="l"/>
              </a:tabLst>
            </a:pPr>
            <a:r>
              <a:rPr sz="2000" kern="0" spc="0" dirty="0">
                <a:solidFill>
                  <a:srgbClr val="000000">
                    <a:alpha val="100000"/>
                  </a:srgbClr>
                </a:solidFill>
                <a:latin typeface="Arial Unicode MS"/>
                <a:ea typeface="Arial Unicode MS"/>
                <a:cs typeface="Arial Unicode MS"/>
              </a:rPr>
              <a:t>	</a:t>
            </a:r>
            <a:endParaRPr sz="2000" dirty="0">
              <a:latin typeface="Arial Unicode MS"/>
              <a:ea typeface="Arial Unicode MS"/>
              <a:cs typeface="Arial Unicode MS"/>
            </a:endParaRPr>
          </a:p>
        </p:txBody>
      </p:sp>
      <p:sp>
        <p:nvSpPr>
          <p:cNvPr id="234" name="textbox 234"/>
          <p:cNvSpPr/>
          <p:nvPr/>
        </p:nvSpPr>
        <p:spPr>
          <a:xfrm>
            <a:off x="10447059" y="4288539"/>
            <a:ext cx="161289" cy="280670"/>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84000"/>
              </a:lnSpc>
            </a:pPr>
            <a:r>
              <a:rPr sz="2000" kern="0" spc="0" dirty="0">
                <a:solidFill>
                  <a:srgbClr val="C00000">
                    <a:alpha val="100000"/>
                  </a:srgbClr>
                </a:solidFill>
                <a:latin typeface="Cambria Math" panose="02040503050406030204"/>
                <a:ea typeface="Cambria Math" panose="02040503050406030204"/>
                <a:cs typeface="Cambria Math" panose="02040503050406030204"/>
              </a:rPr>
              <a:t>δ</a:t>
            </a:r>
            <a:endParaRPr sz="2000" dirty="0">
              <a:latin typeface="Cambria Math" panose="02040503050406030204"/>
              <a:ea typeface="Cambria Math" panose="02040503050406030204"/>
              <a:cs typeface="Cambria Math" panose="02040503050406030204"/>
            </a:endParaRPr>
          </a:p>
        </p:txBody>
      </p:sp>
      <p:sp>
        <p:nvSpPr>
          <p:cNvPr id="236" name="textbox 236"/>
          <p:cNvSpPr/>
          <p:nvPr/>
        </p:nvSpPr>
        <p:spPr>
          <a:xfrm>
            <a:off x="10437621" y="4232150"/>
            <a:ext cx="167004" cy="28067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005"/>
              </a:lnSpc>
              <a:tabLst>
                <a:tab pos="153670" algn="l"/>
              </a:tabLst>
            </a:pPr>
            <a:r>
              <a:rPr sz="2000" kern="0" spc="0" dirty="0">
                <a:solidFill>
                  <a:srgbClr val="000000">
                    <a:alpha val="100000"/>
                  </a:srgbClr>
                </a:solidFill>
                <a:latin typeface="Arial Unicode MS"/>
                <a:ea typeface="Arial Unicode MS"/>
                <a:cs typeface="Arial Unicode MS"/>
              </a:rPr>
              <a:t>	</a:t>
            </a:r>
            <a:endParaRPr sz="2000" dirty="0">
              <a:latin typeface="Arial Unicode MS"/>
              <a:ea typeface="Arial Unicode MS"/>
              <a:cs typeface="Arial Unicode MS"/>
            </a:endParaRPr>
          </a:p>
        </p:txBody>
      </p:sp>
      <p:pic>
        <p:nvPicPr>
          <p:cNvPr id="238" name="picture 238"/>
          <p:cNvPicPr>
            <a:picLocks noChangeAspect="1"/>
          </p:cNvPicPr>
          <p:nvPr/>
        </p:nvPicPr>
        <p:blipFill>
          <a:blip r:embed="rId5"/>
          <a:stretch>
            <a:fillRect/>
          </a:stretch>
        </p:blipFill>
        <p:spPr>
          <a:xfrm rot="21600000">
            <a:off x="10450321" y="4244850"/>
            <a:ext cx="141420" cy="254812"/>
          </a:xfrm>
          <a:prstGeom prst="rect">
            <a:avLst/>
          </a:prstGeom>
        </p:spPr>
      </p:pic>
      <p:sp>
        <p:nvSpPr>
          <p:cNvPr id="240" name="textbox 240"/>
          <p:cNvSpPr/>
          <p:nvPr/>
        </p:nvSpPr>
        <p:spPr>
          <a:xfrm>
            <a:off x="1368068" y="4261597"/>
            <a:ext cx="160654" cy="280034"/>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a:ea typeface="Arial" panose="020B0604020202020204"/>
              <a:cs typeface="Arial" panose="020B0604020202020204"/>
            </a:endParaRPr>
          </a:p>
          <a:p>
            <a:pPr marL="12700" algn="l" rtl="0" eaLnBrk="0">
              <a:lnSpc>
                <a:spcPct val="84000"/>
              </a:lnSpc>
            </a:pPr>
            <a:r>
              <a:rPr sz="2000" kern="0" spc="0" dirty="0">
                <a:solidFill>
                  <a:srgbClr val="C00000">
                    <a:alpha val="100000"/>
                  </a:srgbClr>
                </a:solidFill>
                <a:latin typeface="Cambria Math" panose="02040503050406030204"/>
                <a:ea typeface="Cambria Math" panose="02040503050406030204"/>
                <a:cs typeface="Cambria Math" panose="02040503050406030204"/>
              </a:rPr>
              <a:t>δ</a:t>
            </a:r>
            <a:endParaRPr sz="2000" dirty="0">
              <a:latin typeface="Cambria Math" panose="02040503050406030204"/>
              <a:ea typeface="Cambria Math" panose="02040503050406030204"/>
              <a:cs typeface="Cambria Math" panose="02040503050406030204"/>
            </a:endParaRPr>
          </a:p>
        </p:txBody>
      </p:sp>
      <p:sp>
        <p:nvSpPr>
          <p:cNvPr id="242" name="textbox 242"/>
          <p:cNvSpPr/>
          <p:nvPr/>
        </p:nvSpPr>
        <p:spPr>
          <a:xfrm>
            <a:off x="11170717" y="6454546"/>
            <a:ext cx="104139"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8</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244"/>
          <p:cNvSpPr/>
          <p:nvPr/>
        </p:nvSpPr>
        <p:spPr>
          <a:xfrm>
            <a:off x="458266" y="2991611"/>
            <a:ext cx="11226800" cy="3208654"/>
          </a:xfrm>
          <a:prstGeom prst="rect">
            <a:avLst/>
          </a:prstGeom>
          <a:solidFill>
            <a:srgbClr val="FFFFFF">
              <a:alpha val="94901"/>
            </a:srgbClr>
          </a:solidFill>
          <a:ln w="0" cap="flat">
            <a:noFill/>
            <a:prstDash val="solid"/>
            <a:miter lim="0"/>
          </a:ln>
        </p:spPr>
        <p:txBody>
          <a:bodyPr vert="horz" wrap="square" lIns="0" tIns="0" rIns="0" bIns="0"/>
          <a:lstStyle/>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566545" algn="l" rtl="0" eaLnBrk="0">
              <a:lnSpc>
                <a:spcPts val="3275"/>
              </a:lnSpc>
            </a:pPr>
            <a:r>
              <a:rPr sz="3600" kern="0" spc="0" baseline="14000" dirty="0">
                <a:solidFill>
                  <a:srgbClr val="C00000">
                    <a:alpha val="100000"/>
                  </a:srgbClr>
                </a:solidFill>
                <a:latin typeface="Cambria Math" panose="02040503050406030204"/>
                <a:ea typeface="Cambria Math" panose="02040503050406030204"/>
                <a:cs typeface="Cambria Math" panose="02040503050406030204"/>
              </a:rPr>
              <a:t>arg</a:t>
            </a:r>
            <a:r>
              <a:rPr sz="2300" kern="0" spc="5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n</a:t>
            </a:r>
            <a:r>
              <a:rPr sz="2400" kern="0" spc="50" dirty="0">
                <a:solidFill>
                  <a:srgbClr val="C00000">
                    <a:alpha val="100000"/>
                  </a:srgbClr>
                </a:solidFill>
                <a:latin typeface="Cambria Math" panose="02040503050406030204"/>
                <a:ea typeface="Cambria Math" panose="02040503050406030204"/>
                <a:cs typeface="Cambria Math" panose="02040503050406030204"/>
              </a:rPr>
              <a:t> </a:t>
            </a:r>
            <a:r>
              <a:rPr sz="2400" kern="0" spc="0" dirty="0">
                <a:solidFill>
                  <a:srgbClr val="C00000">
                    <a:alpha val="100000"/>
                  </a:srgbClr>
                </a:solidFill>
                <a:latin typeface="Cambria Math" panose="02040503050406030204"/>
                <a:ea typeface="Cambria Math" panose="02040503050406030204"/>
                <a:cs typeface="Cambria Math" panose="02040503050406030204"/>
              </a:rPr>
              <a:t>E</a:t>
            </a:r>
            <a:r>
              <a:rPr sz="2600" kern="0" spc="50" baseline="12000" dirty="0">
                <a:solidFill>
                  <a:srgbClr val="C00000">
                    <a:alpha val="100000"/>
                  </a:srgbClr>
                </a:solidFill>
                <a:latin typeface="Cambria Math" panose="02040503050406030204"/>
                <a:ea typeface="Cambria Math" panose="02040503050406030204"/>
                <a:cs typeface="Cambria Math" panose="02040503050406030204"/>
              </a:rPr>
              <a:t>τ~</a:t>
            </a:r>
            <a:r>
              <a:rPr sz="2600" kern="0" spc="50" baseline="12000" dirty="0">
                <a:solidFill>
                  <a:srgbClr val="C00000">
                    <a:alpha val="100000"/>
                  </a:srgbClr>
                </a:solidFill>
                <a:latin typeface="微软雅黑" panose="020B0503020204020204" charset="-122"/>
                <a:ea typeface="微软雅黑" panose="020B0503020204020204" charset="-122"/>
                <a:cs typeface="微软雅黑" panose="020B0503020204020204" charset="-122"/>
              </a:rPr>
              <a:t>丁</a:t>
            </a:r>
            <a:r>
              <a:rPr sz="2600" kern="0" spc="50" baseline="2000" dirty="0">
                <a:solidFill>
                  <a:srgbClr val="C00000">
                    <a:alpha val="100000"/>
                  </a:srgbClr>
                </a:solidFill>
                <a:latin typeface="Cambria Math" panose="02040503050406030204"/>
                <a:ea typeface="Cambria Math" panose="02040503050406030204"/>
                <a:cs typeface="Cambria Math" panose="02040503050406030204"/>
              </a:rPr>
              <a:t>,x~</a:t>
            </a:r>
            <a:r>
              <a:rPr sz="1600" kern="0" spc="50" dirty="0">
                <a:solidFill>
                  <a:srgbClr val="C00000">
                    <a:alpha val="100000"/>
                  </a:srgbClr>
                </a:solidFill>
                <a:latin typeface="Cambria Math" panose="02040503050406030204"/>
                <a:ea typeface="Cambria Math" panose="02040503050406030204"/>
                <a:cs typeface="Cambria Math" panose="02040503050406030204"/>
              </a:rPr>
              <a:t>  </a:t>
            </a:r>
            <a:r>
              <a:rPr sz="2600" kern="0" spc="50" baseline="2000" dirty="0">
                <a:solidFill>
                  <a:srgbClr val="C00000">
                    <a:alpha val="100000"/>
                  </a:srgbClr>
                </a:solidFill>
                <a:latin typeface="Cambria Math" panose="02040503050406030204"/>
                <a:ea typeface="Cambria Math" panose="02040503050406030204"/>
                <a:cs typeface="Cambria Math" panose="02040503050406030204"/>
              </a:rPr>
              <a:t>S,D</a:t>
            </a:r>
            <a:r>
              <a:rPr sz="1600" kern="0" spc="50" dirty="0">
                <a:solidFill>
                  <a:srgbClr val="C00000">
                    <a:alpha val="100000"/>
                  </a:srgbClr>
                </a:solidFill>
                <a:latin typeface="Cambria Math" panose="02040503050406030204"/>
                <a:ea typeface="Cambria Math" panose="02040503050406030204"/>
                <a:cs typeface="Cambria Math" panose="02040503050406030204"/>
              </a:rPr>
              <a:t>  </a:t>
            </a:r>
            <a:r>
              <a:rPr sz="2600" kern="0" spc="50" baseline="2000" dirty="0">
                <a:solidFill>
                  <a:srgbClr val="C00000">
                    <a:alpha val="100000"/>
                  </a:srgbClr>
                </a:solidFill>
                <a:latin typeface="Cambria Math" panose="02040503050406030204"/>
                <a:ea typeface="Cambria Math" panose="02040503050406030204"/>
                <a:cs typeface="Cambria Math" panose="02040503050406030204"/>
              </a:rPr>
              <a:t>,</a:t>
            </a:r>
            <a:r>
              <a:rPr sz="2600" kern="0" spc="50" baseline="-1000" dirty="0">
                <a:solidFill>
                  <a:srgbClr val="C00000">
                    <a:alpha val="100000"/>
                  </a:srgbClr>
                </a:solidFill>
                <a:latin typeface="Cambria Math" panose="02040503050406030204"/>
                <a:ea typeface="Cambria Math" panose="02040503050406030204"/>
                <a:cs typeface="Cambria Math" panose="02040503050406030204"/>
              </a:rPr>
              <a:t>h~{H</a:t>
            </a:r>
            <a:r>
              <a:rPr sz="2200" kern="0" spc="50" baseline="-1000" dirty="0">
                <a:solidFill>
                  <a:srgbClr val="C00000">
                    <a:alpha val="100000"/>
                  </a:srgbClr>
                </a:solidFill>
                <a:latin typeface="Cambria Math" panose="02040503050406030204"/>
                <a:ea typeface="Cambria Math" panose="02040503050406030204"/>
                <a:cs typeface="Cambria Math" panose="02040503050406030204"/>
              </a:rPr>
              <a:t>1</a:t>
            </a:r>
            <a:r>
              <a:rPr sz="2600" kern="0" spc="50" baseline="-1000" dirty="0">
                <a:solidFill>
                  <a:srgbClr val="C00000">
                    <a:alpha val="100000"/>
                  </a:srgbClr>
                </a:solidFill>
                <a:latin typeface="Cambria Math" panose="02040503050406030204"/>
                <a:ea typeface="Cambria Math" panose="02040503050406030204"/>
                <a:cs typeface="Cambria Math" panose="02040503050406030204"/>
              </a:rPr>
              <a:t>,</a:t>
            </a:r>
            <a:r>
              <a:rPr sz="1700" kern="0" spc="50" dirty="0">
                <a:solidFill>
                  <a:srgbClr val="C00000">
                    <a:alpha val="100000"/>
                  </a:srgbClr>
                </a:solidFill>
                <a:latin typeface="Cambria Math" panose="02040503050406030204"/>
                <a:ea typeface="Cambria Math" panose="02040503050406030204"/>
                <a:cs typeface="Cambria Math" panose="02040503050406030204"/>
              </a:rPr>
              <a:t>H</a:t>
            </a:r>
            <a:r>
              <a:rPr sz="1400" kern="0" spc="50" dirty="0">
                <a:solidFill>
                  <a:srgbClr val="C00000">
                    <a:alpha val="100000"/>
                  </a:srgbClr>
                </a:solidFill>
                <a:latin typeface="Cambria Math" panose="02040503050406030204"/>
                <a:ea typeface="Cambria Math" panose="02040503050406030204"/>
                <a:cs typeface="Cambria Math" panose="02040503050406030204"/>
              </a:rPr>
              <a:t>2</a:t>
            </a:r>
            <a:r>
              <a:rPr sz="1700" kern="0" spc="50" dirty="0">
                <a:solidFill>
                  <a:srgbClr val="C00000">
                    <a:alpha val="100000"/>
                  </a:srgbClr>
                </a:solidFill>
                <a:latin typeface="Cambria Math" panose="02040503050406030204"/>
                <a:ea typeface="Cambria Math" panose="02040503050406030204"/>
                <a:cs typeface="Cambria Math" panose="02040503050406030204"/>
              </a:rPr>
              <a:t>}</a:t>
            </a:r>
            <a:r>
              <a:rPr sz="2400" kern="0" spc="50" dirty="0">
                <a:solidFill>
                  <a:srgbClr val="C00000">
                    <a:alpha val="100000"/>
                  </a:srgbClr>
                </a:solidFill>
                <a:latin typeface="Cambria Math" panose="02040503050406030204"/>
                <a:ea typeface="Cambria Math" panose="02040503050406030204"/>
                <a:cs typeface="Cambria Math" panose="02040503050406030204"/>
              </a:rPr>
              <a:t>L(</a:t>
            </a:r>
            <a:r>
              <a:rPr sz="2400" kern="0" spc="0" dirty="0">
                <a:solidFill>
                  <a:srgbClr val="C00000">
                    <a:alpha val="100000"/>
                  </a:srgbClr>
                </a:solidFill>
                <a:latin typeface="Cambria Math" panose="02040503050406030204"/>
                <a:ea typeface="Cambria Math" panose="02040503050406030204"/>
                <a:cs typeface="Cambria Math" panose="02040503050406030204"/>
              </a:rPr>
              <a:t>f</a:t>
            </a:r>
            <a:r>
              <a:rPr sz="2400" kern="0" spc="50" dirty="0">
                <a:solidFill>
                  <a:srgbClr val="C00000">
                    <a:alpha val="100000"/>
                  </a:srgbClr>
                </a:solidFill>
                <a:latin typeface="Cambria Math" panose="02040503050406030204"/>
                <a:ea typeface="Cambria Math" panose="02040503050406030204"/>
                <a:cs typeface="Cambria Math" panose="02040503050406030204"/>
              </a:rPr>
              <a:t>  </a:t>
            </a:r>
            <a:r>
              <a:rPr sz="3600" kern="0" spc="0" baseline="14000" dirty="0">
                <a:solidFill>
                  <a:srgbClr val="C00000">
                    <a:alpha val="100000"/>
                  </a:srgbClr>
                </a:solidFill>
                <a:latin typeface="Cambria Math" panose="02040503050406030204"/>
                <a:ea typeface="Cambria Math" panose="02040503050406030204"/>
                <a:cs typeface="Cambria Math" panose="02040503050406030204"/>
              </a:rPr>
              <a:t>x</a:t>
            </a:r>
            <a:r>
              <a:rPr sz="2300" kern="0" spc="270" dirty="0">
                <a:solidFill>
                  <a:srgbClr val="C00000">
                    <a:alpha val="100000"/>
                  </a:srgbClr>
                </a:solidFill>
                <a:latin typeface="Cambria Math" panose="02040503050406030204"/>
                <a:ea typeface="Cambria Math" panose="02040503050406030204"/>
                <a:cs typeface="Cambria Math" panose="02040503050406030204"/>
              </a:rPr>
              <a:t> </a:t>
            </a:r>
            <a:r>
              <a:rPr sz="3600" kern="0" spc="50" baseline="14000" dirty="0">
                <a:solidFill>
                  <a:srgbClr val="C00000">
                    <a:alpha val="100000"/>
                  </a:srgbClr>
                </a:solidFill>
                <a:latin typeface="Cambria Math" panose="02040503050406030204"/>
                <a:ea typeface="Cambria Math" panose="02040503050406030204"/>
                <a:cs typeface="Cambria Math" panose="02040503050406030204"/>
              </a:rPr>
              <a:t>.</a:t>
            </a:r>
            <a:r>
              <a:rPr sz="2300" kern="0" spc="180" dirty="0">
                <a:solidFill>
                  <a:srgbClr val="C00000">
                    <a:alpha val="100000"/>
                  </a:srgbClr>
                </a:solidFill>
                <a:latin typeface="Cambria Math" panose="02040503050406030204"/>
                <a:ea typeface="Cambria Math" panose="02040503050406030204"/>
                <a:cs typeface="Cambria Math" panose="02040503050406030204"/>
              </a:rPr>
              <a:t> </a:t>
            </a:r>
            <a:r>
              <a:rPr sz="3600" kern="0" spc="50" baseline="14000" dirty="0">
                <a:solidFill>
                  <a:srgbClr val="C00000">
                    <a:alpha val="100000"/>
                  </a:srgbClr>
                </a:solidFill>
                <a:latin typeface="Cambria Math" panose="02040503050406030204"/>
                <a:ea typeface="Cambria Math" panose="02040503050406030204"/>
                <a:cs typeface="Cambria Math" panose="02040503050406030204"/>
              </a:rPr>
              <a:t>i</a:t>
            </a:r>
            <a:r>
              <a:rPr sz="2300" kern="0" spc="280" dirty="0">
                <a:solidFill>
                  <a:srgbClr val="C00000">
                    <a:alpha val="100000"/>
                  </a:srgbClr>
                </a:solidFill>
                <a:latin typeface="Cambria Math" panose="02040503050406030204"/>
                <a:ea typeface="Cambria Math" panose="02040503050406030204"/>
                <a:cs typeface="Cambria Math" panose="02040503050406030204"/>
              </a:rPr>
              <a:t> </a:t>
            </a:r>
            <a:r>
              <a:rPr sz="3600" kern="0" spc="50" baseline="14000" dirty="0">
                <a:solidFill>
                  <a:srgbClr val="C00000">
                    <a:alpha val="100000"/>
                  </a:srgbClr>
                </a:solidFill>
                <a:latin typeface="Cambria Math" panose="02040503050406030204"/>
                <a:ea typeface="Cambria Math" panose="02040503050406030204"/>
                <a:cs typeface="Cambria Math" panose="02040503050406030204"/>
              </a:rPr>
              <a:t>+</a:t>
            </a:r>
            <a:r>
              <a:rPr sz="2300" kern="0" spc="50" dirty="0">
                <a:solidFill>
                  <a:srgbClr val="C00000">
                    <a:alpha val="100000"/>
                  </a:srgbClr>
                </a:solidFill>
                <a:latin typeface="Cambria Math" panose="02040503050406030204"/>
                <a:ea typeface="Cambria Math" panose="02040503050406030204"/>
                <a:cs typeface="Cambria Math" panose="02040503050406030204"/>
              </a:rPr>
              <a:t> </a:t>
            </a:r>
            <a:r>
              <a:rPr sz="3600" kern="0" spc="50" baseline="14000" dirty="0">
                <a:solidFill>
                  <a:srgbClr val="C00000">
                    <a:alpha val="100000"/>
                  </a:srgbClr>
                </a:solidFill>
                <a:latin typeface="Cambria Math" panose="02040503050406030204"/>
                <a:ea typeface="Cambria Math" panose="02040503050406030204"/>
                <a:cs typeface="Cambria Math" panose="02040503050406030204"/>
              </a:rPr>
              <a:t>δ(t</a:t>
            </a:r>
            <a:r>
              <a:rPr sz="2300" kern="0" spc="250" dirty="0">
                <a:solidFill>
                  <a:srgbClr val="C00000">
                    <a:alpha val="100000"/>
                  </a:srgbClr>
                </a:solidFill>
                <a:latin typeface="Cambria Math" panose="02040503050406030204"/>
                <a:ea typeface="Cambria Math" panose="02040503050406030204"/>
                <a:cs typeface="Cambria Math" panose="02040503050406030204"/>
              </a:rPr>
              <a:t> </a:t>
            </a:r>
            <a:r>
              <a:rPr sz="3600" kern="0" spc="50" baseline="14000" dirty="0">
                <a:solidFill>
                  <a:srgbClr val="C00000">
                    <a:alpha val="100000"/>
                  </a:srgbClr>
                </a:solidFill>
                <a:latin typeface="Cambria Math" panose="02040503050406030204"/>
                <a:ea typeface="Cambria Math" panose="02040503050406030204"/>
                <a:cs typeface="Cambria Math" panose="02040503050406030204"/>
              </a:rPr>
              <a:t>—</a:t>
            </a:r>
            <a:r>
              <a:rPr sz="2300" kern="0" spc="50" dirty="0">
                <a:solidFill>
                  <a:srgbClr val="C00000">
                    <a:alpha val="100000"/>
                  </a:srgbClr>
                </a:solidFill>
                <a:latin typeface="Cambria Math" panose="02040503050406030204"/>
                <a:ea typeface="Cambria Math" panose="02040503050406030204"/>
                <a:cs typeface="Cambria Math" panose="02040503050406030204"/>
              </a:rPr>
              <a:t> </a:t>
            </a:r>
            <a:r>
              <a:rPr sz="3600" kern="0" spc="50" baseline="14000" dirty="0">
                <a:solidFill>
                  <a:srgbClr val="C00000">
                    <a:alpha val="100000"/>
                  </a:srgbClr>
                </a:solidFill>
                <a:latin typeface="Cambria Math" panose="02040503050406030204"/>
                <a:ea typeface="Cambria Math" panose="02040503050406030204"/>
                <a:cs typeface="Cambria Math" panose="02040503050406030204"/>
              </a:rPr>
              <a:t>τ)</a:t>
            </a:r>
            <a:r>
              <a:rPr sz="2300" kern="0" spc="50" dirty="0">
                <a:solidFill>
                  <a:srgbClr val="C00000">
                    <a:alpha val="100000"/>
                  </a:srgbClr>
                </a:solidFill>
                <a:latin typeface="Cambria Math" panose="02040503050406030204"/>
                <a:ea typeface="Cambria Math" panose="02040503050406030204"/>
                <a:cs typeface="Cambria Math" panose="02040503050406030204"/>
              </a:rPr>
              <a:t>  </a:t>
            </a:r>
            <a:r>
              <a:rPr sz="3600" kern="0" spc="40" baseline="14000" dirty="0">
                <a:solidFill>
                  <a:srgbClr val="C00000">
                    <a:alpha val="100000"/>
                  </a:srgbClr>
                </a:solidFill>
                <a:latin typeface="Cambria Math" panose="02040503050406030204"/>
                <a:ea typeface="Cambria Math" panose="02040503050406030204"/>
                <a:cs typeface="Cambria Math" panose="02040503050406030204"/>
              </a:rPr>
              <a:t>,</a:t>
            </a:r>
            <a:r>
              <a:rPr sz="2300" kern="0" spc="-110" dirty="0">
                <a:solidFill>
                  <a:srgbClr val="C00000">
                    <a:alpha val="100000"/>
                  </a:srgbClr>
                </a:solidFill>
                <a:latin typeface="Cambria Math" panose="02040503050406030204"/>
                <a:ea typeface="Cambria Math" panose="02040503050406030204"/>
                <a:cs typeface="Cambria Math" panose="02040503050406030204"/>
              </a:rPr>
              <a:t> </a:t>
            </a:r>
            <a:r>
              <a:rPr sz="3600" kern="0" spc="0" baseline="20000" dirty="0">
                <a:solidFill>
                  <a:srgbClr val="C00000">
                    <a:alpha val="100000"/>
                  </a:srgbClr>
                </a:solidFill>
                <a:latin typeface="Cambria Math" panose="02040503050406030204"/>
                <a:ea typeface="Cambria Math" panose="02040503050406030204"/>
                <a:cs typeface="Cambria Math" panose="02040503050406030204"/>
              </a:rPr>
              <a:t>Y</a:t>
            </a:r>
            <a:r>
              <a:rPr sz="2600" kern="0" spc="0" baseline="28000" dirty="0">
                <a:solidFill>
                  <a:srgbClr val="C00000">
                    <a:alpha val="100000"/>
                  </a:srgbClr>
                </a:solidFill>
                <a:latin typeface="Cambria Math" panose="02040503050406030204"/>
                <a:ea typeface="Cambria Math" panose="02040503050406030204"/>
                <a:cs typeface="Cambria Math" panose="02040503050406030204"/>
              </a:rPr>
              <a:t>I</a:t>
            </a:r>
            <a:r>
              <a:rPr sz="3600" kern="0" spc="40" baseline="20000" dirty="0">
                <a:solidFill>
                  <a:srgbClr val="C00000">
                    <a:alpha val="100000"/>
                  </a:srgbClr>
                </a:solidFill>
                <a:latin typeface="Cambria Math" panose="02040503050406030204"/>
                <a:ea typeface="Cambria Math" panose="02040503050406030204"/>
                <a:cs typeface="Cambria Math" panose="02040503050406030204"/>
              </a:rPr>
              <a:t>)</a:t>
            </a:r>
            <a:r>
              <a:rPr sz="2300" kern="0" spc="40" dirty="0">
                <a:solidFill>
                  <a:srgbClr val="C00000">
                    <a:alpha val="100000"/>
                  </a:srgbClr>
                </a:solidFill>
                <a:latin typeface="Cambria Math" panose="02040503050406030204"/>
                <a:ea typeface="Cambria Math" panose="02040503050406030204"/>
                <a:cs typeface="Cambria Math" panose="02040503050406030204"/>
              </a:rPr>
              <a:t>            </a:t>
            </a:r>
            <a:r>
              <a:rPr sz="3600" kern="0" spc="40" baseline="14000" dirty="0">
                <a:solidFill>
                  <a:srgbClr val="C00000">
                    <a:alpha val="100000"/>
                  </a:srgbClr>
                </a:solidFill>
                <a:latin typeface="Cambria Math" panose="02040503050406030204"/>
                <a:ea typeface="Cambria Math" panose="02040503050406030204"/>
                <a:cs typeface="Cambria Math" panose="02040503050406030204"/>
              </a:rPr>
              <a:t>(4)</a:t>
            </a:r>
            <a:endParaRPr sz="3600" baseline="14000" dirty="0">
              <a:latin typeface="Cambria Math" panose="02040503050406030204"/>
              <a:ea typeface="Cambria Math" panose="02040503050406030204"/>
              <a:cs typeface="Cambria Math" panose="02040503050406030204"/>
            </a:endParaRPr>
          </a:p>
          <a:p>
            <a:pPr marL="4255770" algn="l" rtl="0" eaLnBrk="0">
              <a:lnSpc>
                <a:spcPct val="80000"/>
              </a:lnSpc>
              <a:spcBef>
                <a:spcPts val="1160"/>
              </a:spcBef>
            </a:pPr>
            <a:r>
              <a:rPr sz="2400" kern="0" spc="-40" dirty="0">
                <a:solidFill>
                  <a:srgbClr val="C00000">
                    <a:alpha val="100000"/>
                  </a:srgbClr>
                </a:solidFill>
                <a:latin typeface="Cambria Math" panose="02040503050406030204"/>
                <a:ea typeface="Cambria Math" panose="02040503050406030204"/>
                <a:cs typeface="Cambria Math" panose="02040503050406030204"/>
              </a:rPr>
              <a:t>subject to</a:t>
            </a:r>
            <a:r>
              <a:rPr sz="2400" kern="0" spc="60" dirty="0">
                <a:solidFill>
                  <a:srgbClr val="C00000">
                    <a:alpha val="100000"/>
                  </a:srgbClr>
                </a:solidFill>
                <a:latin typeface="Cambria Math" panose="02040503050406030204"/>
                <a:ea typeface="Cambria Math" panose="02040503050406030204"/>
                <a:cs typeface="Cambria Math" panose="02040503050406030204"/>
              </a:rPr>
              <a:t>   </a:t>
            </a:r>
            <a:r>
              <a:rPr sz="2400" kern="0" spc="-40" dirty="0">
                <a:solidFill>
                  <a:srgbClr val="C00000">
                    <a:alpha val="100000"/>
                  </a:srgbClr>
                </a:solidFill>
                <a:latin typeface="Cambria Math" panose="02040503050406030204"/>
                <a:ea typeface="Cambria Math" panose="02040503050406030204"/>
                <a:cs typeface="Cambria Math" panose="02040503050406030204"/>
              </a:rPr>
              <a:t>a</a:t>
            </a:r>
            <a:r>
              <a:rPr sz="2400" kern="0" spc="390" dirty="0">
                <a:solidFill>
                  <a:srgbClr val="C00000">
                    <a:alpha val="100000"/>
                  </a:srgbClr>
                </a:solidFill>
                <a:latin typeface="Cambria Math" panose="02040503050406030204"/>
                <a:ea typeface="Cambria Math" panose="02040503050406030204"/>
                <a:cs typeface="Cambria Math" panose="02040503050406030204"/>
              </a:rPr>
              <a:t> </a:t>
            </a:r>
            <a:r>
              <a:rPr sz="2400" kern="0" spc="-40" dirty="0">
                <a:solidFill>
                  <a:srgbClr val="C00000">
                    <a:alpha val="100000"/>
                  </a:srgbClr>
                </a:solidFill>
                <a:latin typeface="Cambria Math" panose="02040503050406030204"/>
                <a:ea typeface="Cambria Math" panose="02040503050406030204"/>
                <a:cs typeface="Cambria Math" panose="02040503050406030204"/>
              </a:rPr>
              <a:t>≤</a:t>
            </a:r>
            <a:r>
              <a:rPr sz="2400" kern="0" spc="50" dirty="0">
                <a:solidFill>
                  <a:srgbClr val="C00000">
                    <a:alpha val="100000"/>
                  </a:srgbClr>
                </a:solidFill>
                <a:latin typeface="Cambria Math" panose="02040503050406030204"/>
                <a:ea typeface="Cambria Math" panose="02040503050406030204"/>
                <a:cs typeface="Cambria Math" panose="02040503050406030204"/>
              </a:rPr>
              <a:t>     </a:t>
            </a:r>
            <a:r>
              <a:rPr sz="2400" kern="0" spc="-40" dirty="0">
                <a:solidFill>
                  <a:srgbClr val="C00000">
                    <a:alpha val="100000"/>
                  </a:srgbClr>
                </a:solidFill>
                <a:latin typeface="Cambria Math" panose="02040503050406030204"/>
                <a:ea typeface="Cambria Math" panose="02040503050406030204"/>
                <a:cs typeface="Cambria Math" panose="02040503050406030204"/>
              </a:rPr>
              <a:t>≤</a:t>
            </a:r>
            <a:r>
              <a:rPr sz="2400" kern="0" spc="270" dirty="0">
                <a:solidFill>
                  <a:srgbClr val="C00000">
                    <a:alpha val="100000"/>
                  </a:srgbClr>
                </a:solidFill>
                <a:latin typeface="Cambria Math" panose="02040503050406030204"/>
                <a:ea typeface="Cambria Math" panose="02040503050406030204"/>
                <a:cs typeface="Cambria Math" panose="02040503050406030204"/>
              </a:rPr>
              <a:t> </a:t>
            </a:r>
            <a:r>
              <a:rPr sz="2400" kern="0" spc="-40" dirty="0">
                <a:solidFill>
                  <a:srgbClr val="C00000">
                    <a:alpha val="100000"/>
                  </a:srgbClr>
                </a:solidFill>
                <a:latin typeface="Cambria Math" panose="02040503050406030204"/>
                <a:ea typeface="Cambria Math" panose="02040503050406030204"/>
                <a:cs typeface="Cambria Math" panose="02040503050406030204"/>
              </a:rPr>
              <a:t>b</a:t>
            </a:r>
            <a:endParaRPr sz="2400" dirty="0">
              <a:latin typeface="Cambria Math" panose="02040503050406030204"/>
              <a:ea typeface="Cambria Math" panose="02040503050406030204"/>
              <a:cs typeface="Cambria Math" panose="02040503050406030204"/>
            </a:endParaRPr>
          </a:p>
          <a:p>
            <a:pPr algn="l" rtl="0" eaLnBrk="0">
              <a:lnSpc>
                <a:spcPct val="84000"/>
              </a:lnSpc>
              <a:spcBef>
                <a:spcPts val="1550"/>
              </a:spcBef>
            </a:pPr>
            <a:r>
              <a:rPr sz="1800" kern="0" spc="-10" dirty="0">
                <a:solidFill>
                  <a:srgbClr val="000000">
                    <a:alpha val="100000"/>
                  </a:srgbClr>
                </a:solidFill>
                <a:latin typeface="Times New Roman" panose="02020603050405020304"/>
                <a:ea typeface="Times New Roman" panose="02020603050405020304"/>
                <a:cs typeface="Times New Roman" panose="02020603050405020304"/>
              </a:rPr>
              <a:t>where     </a:t>
            </a:r>
            <a:r>
              <a:rPr sz="1800" kern="0" spc="-10" dirty="0">
                <a:solidFill>
                  <a:srgbClr val="C00000">
                    <a:alpha val="100000"/>
                  </a:srgbClr>
                </a:solidFill>
                <a:latin typeface="Cambria Math" panose="02040503050406030204"/>
                <a:ea typeface="Cambria Math" panose="02040503050406030204"/>
                <a:cs typeface="Cambria Math" panose="02040503050406030204"/>
              </a:rPr>
              <a:t>=</a:t>
            </a:r>
            <a:r>
              <a:rPr sz="1800" kern="0" spc="180" dirty="0">
                <a:solidFill>
                  <a:srgbClr val="C00000">
                    <a:alpha val="100000"/>
                  </a:srgbClr>
                </a:solidFill>
                <a:latin typeface="Cambria Math" panose="02040503050406030204"/>
                <a:ea typeface="Cambria Math" panose="02040503050406030204"/>
                <a:cs typeface="Cambria Math" panose="02040503050406030204"/>
              </a:rPr>
              <a:t> </a:t>
            </a:r>
            <a:r>
              <a:rPr sz="1800" kern="0" spc="-10" dirty="0">
                <a:solidFill>
                  <a:srgbClr val="C00000">
                    <a:alpha val="100000"/>
                  </a:srgbClr>
                </a:solidFill>
                <a:latin typeface="Cambria Math" panose="02040503050406030204"/>
                <a:ea typeface="Cambria Math" panose="02040503050406030204"/>
                <a:cs typeface="Cambria Math" panose="02040503050406030204"/>
              </a:rPr>
              <a:t>h⨂F  δ</a:t>
            </a:r>
            <a:r>
              <a:rPr sz="1800" kern="0" spc="50" dirty="0">
                <a:solidFill>
                  <a:srgbClr val="C00000">
                    <a:alpha val="100000"/>
                  </a:srgbClr>
                </a:solidFill>
                <a:latin typeface="Cambria Math" panose="02040503050406030204"/>
                <a:ea typeface="Cambria Math" panose="02040503050406030204"/>
                <a:cs typeface="Cambria Math" panose="02040503050406030204"/>
              </a:rPr>
              <a:t>  </a:t>
            </a:r>
            <a:r>
              <a:rPr sz="1800" kern="0" spc="-10" dirty="0">
                <a:solidFill>
                  <a:srgbClr val="C00000">
                    <a:alpha val="100000"/>
                  </a:srgbClr>
                </a:solidFill>
                <a:latin typeface="Cambria Math" panose="02040503050406030204"/>
                <a:ea typeface="Cambria Math" panose="02040503050406030204"/>
                <a:cs typeface="Cambria Math" panose="02040503050406030204"/>
              </a:rPr>
              <a:t>t</a:t>
            </a:r>
            <a:r>
              <a:rPr sz="1800" kern="0" spc="190" dirty="0">
                <a:solidFill>
                  <a:srgbClr val="C00000">
                    <a:alpha val="100000"/>
                  </a:srgbClr>
                </a:solidFill>
                <a:latin typeface="Cambria Math" panose="02040503050406030204"/>
                <a:ea typeface="Cambria Math" panose="02040503050406030204"/>
                <a:cs typeface="Cambria Math" panose="02040503050406030204"/>
              </a:rPr>
              <a:t> </a:t>
            </a:r>
            <a:r>
              <a:rPr sz="1800" kern="0" spc="-10" dirty="0">
                <a:solidFill>
                  <a:srgbClr val="C00000">
                    <a:alpha val="100000"/>
                  </a:srgbClr>
                </a:solidFill>
                <a:latin typeface="Cambria Math" panose="02040503050406030204"/>
                <a:ea typeface="Cambria Math" panose="02040503050406030204"/>
                <a:cs typeface="Cambria Math" panose="02040503050406030204"/>
              </a:rPr>
              <a:t>— τ      + n</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C00000">
                    <a:alpha val="100000"/>
                  </a:srgbClr>
                </a:solidFill>
                <a:latin typeface="Cambria Math" panose="02040503050406030204"/>
                <a:ea typeface="Cambria Math" panose="02040503050406030204"/>
                <a:cs typeface="Cambria Math" panose="02040503050406030204"/>
              </a:rPr>
              <a:t>a</a:t>
            </a:r>
            <a:r>
              <a:rPr sz="1800" kern="0" spc="100" dirty="0">
                <a:solidFill>
                  <a:srgbClr val="C00000">
                    <a:alpha val="100000"/>
                  </a:srgbClr>
                </a:solidFill>
                <a:latin typeface="Cambria Math" panose="02040503050406030204"/>
                <a:ea typeface="Cambria Math" panose="02040503050406030204"/>
                <a:cs typeface="Cambria Math" panose="020405030504060302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and</a:t>
            </a:r>
            <a:r>
              <a:rPr sz="18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C00000">
                    <a:alpha val="100000"/>
                  </a:srgbClr>
                </a:solidFill>
                <a:latin typeface="Cambria Math" panose="02040503050406030204"/>
                <a:ea typeface="Cambria Math" panose="02040503050406030204"/>
                <a:cs typeface="Cambria Math" panose="02040503050406030204"/>
              </a:rPr>
              <a:t>b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are</a:t>
            </a:r>
            <a:r>
              <a:rPr sz="18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parameters</a:t>
            </a:r>
            <a:r>
              <a:rPr sz="18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restricting</a:t>
            </a:r>
            <a:r>
              <a:rPr sz="18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the  amplit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ude</a:t>
            </a:r>
            <a:r>
              <a:rPr sz="1800" kern="0" spc="3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of the</a:t>
            </a:r>
            <a:r>
              <a:rPr sz="18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perturbation    ,  </a:t>
            </a:r>
            <a:r>
              <a:rPr sz="1800" kern="0" spc="-20" dirty="0">
                <a:solidFill>
                  <a:srgbClr val="C00000">
                    <a:alpha val="100000"/>
                  </a:srgbClr>
                </a:solidFill>
                <a:latin typeface="Cambria Math" panose="02040503050406030204"/>
                <a:ea typeface="Cambria Math" panose="02040503050406030204"/>
                <a:cs typeface="Cambria Math" panose="02040503050406030204"/>
              </a:rPr>
              <a:t>h  </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is</a:t>
            </a:r>
            <a:r>
              <a:rPr sz="18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room</a:t>
            </a:r>
            <a:endParaRPr sz="1800" dirty="0">
              <a:latin typeface="Times New Roman" panose="02020603050405020304"/>
              <a:ea typeface="Times New Roman" panose="02020603050405020304"/>
              <a:cs typeface="Times New Roman" panose="02020603050405020304"/>
            </a:endParaRPr>
          </a:p>
          <a:p>
            <a:pPr algn="l" rtl="0" eaLnBrk="0">
              <a:lnSpc>
                <a:spcPct val="108000"/>
              </a:lnSpc>
            </a:pPr>
            <a:endParaRPr sz="500" dirty="0">
              <a:latin typeface="Arial" panose="020B0604020202020204"/>
              <a:ea typeface="Arial" panose="020B0604020202020204"/>
              <a:cs typeface="Arial" panose="020B0604020202020204"/>
            </a:endParaRPr>
          </a:p>
          <a:p>
            <a:pPr indent="5080" algn="just" rtl="0" eaLnBrk="0">
              <a:lnSpc>
                <a:spcPct val="88000"/>
              </a:lnSpc>
              <a:spcBef>
                <a:spcPts val="5"/>
              </a:spcBef>
            </a:pPr>
            <a:r>
              <a:rPr sz="1800" kern="0" spc="0" dirty="0">
                <a:solidFill>
                  <a:srgbClr val="000000">
                    <a:alpha val="100000"/>
                  </a:srgbClr>
                </a:solidFill>
                <a:latin typeface="Times New Roman" panose="02020603050405020304"/>
                <a:ea typeface="Times New Roman" panose="02020603050405020304"/>
                <a:cs typeface="Times New Roman" panose="02020603050405020304"/>
              </a:rPr>
              <a:t>impulse</a:t>
            </a:r>
            <a:r>
              <a:rPr sz="18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res</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ponse</a:t>
            </a:r>
            <a:r>
              <a:rPr sz="1800" kern="0" spc="3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(RIR)</a:t>
            </a:r>
            <a:r>
              <a:rPr sz="1800" kern="0" spc="3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sampled</a:t>
            </a:r>
            <a:r>
              <a:rPr sz="18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from</a:t>
            </a:r>
            <a:r>
              <a:rPr sz="18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collected</a:t>
            </a:r>
            <a:r>
              <a:rPr sz="18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distribution</a:t>
            </a:r>
            <a:r>
              <a:rPr sz="18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baseline="-6000" dirty="0">
                <a:solidFill>
                  <a:srgbClr val="000000">
                    <a:alpha val="100000"/>
                  </a:srgbClr>
                </a:solidFill>
                <a:latin typeface="Cambria Math" panose="02040503050406030204"/>
                <a:ea typeface="Cambria Math" panose="02040503050406030204"/>
                <a:cs typeface="Cambria Math" panose="02040503050406030204"/>
              </a:rPr>
              <a:t>H</a:t>
            </a:r>
            <a:r>
              <a:rPr sz="2000" kern="0" spc="-10" baseline="-8000" dirty="0">
                <a:solidFill>
                  <a:srgbClr val="000000">
                    <a:alpha val="100000"/>
                  </a:srgbClr>
                </a:solidFill>
                <a:latin typeface="Cambria Math" panose="02040503050406030204"/>
                <a:ea typeface="Cambria Math" panose="02040503050406030204"/>
                <a:cs typeface="Cambria Math" panose="02040503050406030204"/>
              </a:rPr>
              <a:t>1</a:t>
            </a:r>
            <a:r>
              <a:rPr sz="1300" kern="0" spc="-10" dirty="0">
                <a:solidFill>
                  <a:srgbClr val="000000">
                    <a:alpha val="100000"/>
                  </a:srgbClr>
                </a:solidFill>
                <a:latin typeface="Cambria Math" panose="02040503050406030204"/>
                <a:ea typeface="Cambria Math" panose="02040503050406030204"/>
                <a:cs typeface="Cambria Math" panose="020405030504060302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and</a:t>
            </a:r>
            <a:r>
              <a:rPr sz="18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baseline="-6000" dirty="0">
                <a:solidFill>
                  <a:srgbClr val="000000">
                    <a:alpha val="100000"/>
                  </a:srgbClr>
                </a:solidFill>
                <a:latin typeface="Cambria Math" panose="02040503050406030204"/>
                <a:ea typeface="Cambria Math" panose="02040503050406030204"/>
                <a:cs typeface="Cambria Math" panose="02040503050406030204"/>
              </a:rPr>
              <a:t>H</a:t>
            </a:r>
            <a:r>
              <a:rPr sz="2000" kern="0" spc="-10" baseline="-8000" dirty="0">
                <a:solidFill>
                  <a:srgbClr val="000000">
                    <a:alpha val="100000"/>
                  </a:srgbClr>
                </a:solidFill>
                <a:latin typeface="Cambria Math" panose="02040503050406030204"/>
                <a:ea typeface="Cambria Math" panose="02040503050406030204"/>
                <a:cs typeface="Cambria Math" panose="02040503050406030204"/>
              </a:rPr>
              <a:t>2</a:t>
            </a:r>
            <a:r>
              <a:rPr sz="1300" kern="0" spc="-10" dirty="0">
                <a:solidFill>
                  <a:srgbClr val="000000">
                    <a:alpha val="100000"/>
                  </a:srgbClr>
                </a:solidFill>
                <a:latin typeface="Cambria Math" panose="02040503050406030204"/>
                <a:ea typeface="Cambria Math" panose="02040503050406030204"/>
                <a:cs typeface="Cambria Math" panose="020405030504060302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in</a:t>
            </a:r>
            <a:r>
              <a:rPr sz="18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the</a:t>
            </a:r>
            <a:r>
              <a:rPr sz="18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audible</a:t>
            </a:r>
            <a:r>
              <a:rPr sz="18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channel</a:t>
            </a:r>
            <a:r>
              <a:rPr sz="18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and</a:t>
            </a:r>
            <a:r>
              <a:rPr sz="18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laser</a:t>
            </a:r>
            <a:r>
              <a:rPr sz="18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channel,</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respectively. </a:t>
            </a:r>
            <a:r>
              <a:rPr sz="1800" kern="0" spc="0" dirty="0">
                <a:solidFill>
                  <a:srgbClr val="C00000">
                    <a:alpha val="100000"/>
                  </a:srgbClr>
                </a:solidFill>
                <a:latin typeface="Cambria Math" panose="02040503050406030204"/>
                <a:ea typeface="Cambria Math" panose="02040503050406030204"/>
                <a:cs typeface="Cambria Math" panose="02040503050406030204"/>
              </a:rPr>
              <a:t>n</a:t>
            </a:r>
            <a:r>
              <a:rPr sz="1800" kern="0" spc="210" dirty="0">
                <a:solidFill>
                  <a:srgbClr val="C00000">
                    <a:alpha val="100000"/>
                  </a:srgbClr>
                </a:solidFill>
                <a:latin typeface="Cambria Math" panose="02040503050406030204"/>
                <a:ea typeface="Cambria Math" panose="02040503050406030204"/>
                <a:cs typeface="Cambria Math" panose="020405030504060302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denotes the Gaussian white noise, and </a:t>
            </a:r>
            <a:r>
              <a:rPr sz="1800" kern="0" spc="0" dirty="0">
                <a:solidFill>
                  <a:srgbClr val="C00000">
                    <a:alpha val="100000"/>
                  </a:srgbClr>
                </a:solidFill>
                <a:latin typeface="Cambria Math" panose="02040503050406030204"/>
                <a:ea typeface="Cambria Math" panose="02040503050406030204"/>
                <a:cs typeface="Cambria Math" panose="02040503050406030204"/>
              </a:rPr>
              <a:t>F(·)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represents the band-pass filter.</a:t>
            </a:r>
            <a:endParaRPr sz="1800" dirty="0">
              <a:latin typeface="Times New Roman" panose="02020603050405020304"/>
              <a:ea typeface="Times New Roman" panose="02020603050405020304"/>
              <a:cs typeface="Times New Roman" panose="02020603050405020304"/>
            </a:endParaRPr>
          </a:p>
        </p:txBody>
      </p:sp>
      <p:sp>
        <p:nvSpPr>
          <p:cNvPr id="246" name="textbox 246"/>
          <p:cNvSpPr/>
          <p:nvPr/>
        </p:nvSpPr>
        <p:spPr>
          <a:xfrm>
            <a:off x="10102494" y="4429201"/>
            <a:ext cx="112395" cy="228600"/>
          </a:xfrm>
          <a:prstGeom prst="rect">
            <a:avLst/>
          </a:prstGeom>
          <a:solidFill>
            <a:srgbClr val="FFFFFF">
              <a:alpha val="94901"/>
            </a:srgbClr>
          </a:solidFill>
          <a:ln w="0" cap="flat">
            <a:noFill/>
            <a:prstDash val="solid"/>
            <a:miter lim="0"/>
          </a:ln>
        </p:spPr>
        <p:txBody>
          <a:bodyPr vert="horz" wrap="square" lIns="0" tIns="0" rIns="0" bIns="0"/>
          <a:lstStyle/>
          <a:p>
            <a:pPr algn="l" rtl="0" eaLnBrk="0">
              <a:lnSpc>
                <a:spcPct val="6000"/>
              </a:lnSpc>
            </a:pPr>
            <a:endParaRPr sz="100" dirty="0">
              <a:latin typeface="Arial" panose="020B0604020202020204"/>
              <a:ea typeface="Arial" panose="020B0604020202020204"/>
              <a:cs typeface="Arial" panose="020B0604020202020204"/>
            </a:endParaRPr>
          </a:p>
          <a:p>
            <a:pPr algn="r" rtl="0" eaLnBrk="0">
              <a:lnSpc>
                <a:spcPct val="83000"/>
              </a:lnSpc>
            </a:pPr>
            <a:r>
              <a:rPr sz="1800" kern="0" spc="-80" dirty="0">
                <a:solidFill>
                  <a:srgbClr val="000000">
                    <a:alpha val="100000"/>
                  </a:srgbClr>
                </a:solidFill>
                <a:latin typeface="Cambria Math" panose="02040503050406030204"/>
                <a:ea typeface="Cambria Math" panose="02040503050406030204"/>
                <a:cs typeface="Cambria Math" panose="02040503050406030204"/>
              </a:rPr>
              <a:t>δ</a:t>
            </a:r>
            <a:endParaRPr sz="1800" dirty="0">
              <a:latin typeface="Cambria Math" panose="02040503050406030204"/>
              <a:ea typeface="Cambria Math" panose="02040503050406030204"/>
              <a:cs typeface="Cambria Math" panose="02040503050406030204"/>
            </a:endParaRPr>
          </a:p>
        </p:txBody>
      </p:sp>
      <p:sp>
        <p:nvSpPr>
          <p:cNvPr id="248" name="textbox 248"/>
          <p:cNvSpPr/>
          <p:nvPr/>
        </p:nvSpPr>
        <p:spPr>
          <a:xfrm>
            <a:off x="10102836" y="4377385"/>
            <a:ext cx="67310" cy="228600"/>
          </a:xfrm>
          <a:prstGeom prst="rect">
            <a:avLst/>
          </a:prstGeom>
          <a:solidFill>
            <a:srgbClr val="FFFFFF">
              <a:alpha val="94901"/>
            </a:srgbClr>
          </a:solidFill>
          <a:ln w="0" cap="flat">
            <a:noFill/>
            <a:prstDash val="solid"/>
            <a:miter lim="0"/>
          </a:ln>
        </p:spPr>
        <p:txBody>
          <a:bodyPr vert="horz" wrap="square" lIns="0" tIns="0" rIns="0" bIns="0"/>
          <a:lstStyle/>
          <a:p>
            <a:pPr algn="r" rtl="0" eaLnBrk="0">
              <a:lnSpc>
                <a:spcPts val="1800"/>
              </a:lnSpc>
            </a:pPr>
            <a:r>
              <a:rPr sz="1000" kern="0" spc="-40" dirty="0">
                <a:solidFill>
                  <a:srgbClr val="000000">
                    <a:alpha val="100000"/>
                  </a:srgbClr>
                </a:solidFill>
                <a:latin typeface="Cambria Math" panose="02040503050406030204"/>
                <a:ea typeface="Cambria Math" panose="02040503050406030204"/>
                <a:cs typeface="Cambria Math" panose="02040503050406030204"/>
              </a:rPr>
              <a:t>^</a:t>
            </a:r>
            <a:endParaRPr sz="1000" dirty="0">
              <a:latin typeface="Cambria Math" panose="02040503050406030204"/>
              <a:ea typeface="Cambria Math" panose="02040503050406030204"/>
              <a:cs typeface="Cambria Math" panose="02040503050406030204"/>
            </a:endParaRPr>
          </a:p>
        </p:txBody>
      </p:sp>
      <p:sp>
        <p:nvSpPr>
          <p:cNvPr id="250" name="textbox 250"/>
          <p:cNvSpPr/>
          <p:nvPr/>
        </p:nvSpPr>
        <p:spPr>
          <a:xfrm>
            <a:off x="1115796" y="4429201"/>
            <a:ext cx="112395" cy="228600"/>
          </a:xfrm>
          <a:prstGeom prst="rect">
            <a:avLst/>
          </a:prstGeom>
          <a:solidFill>
            <a:srgbClr val="FFFFFF">
              <a:alpha val="94901"/>
            </a:srgbClr>
          </a:solidFill>
          <a:ln w="0" cap="flat">
            <a:noFill/>
            <a:prstDash val="solid"/>
            <a:miter lim="0"/>
          </a:ln>
        </p:spPr>
        <p:txBody>
          <a:bodyPr vert="horz" wrap="square" lIns="0" tIns="0" rIns="0" bIns="0"/>
          <a:lstStyle/>
          <a:p>
            <a:pPr algn="l" rtl="0" eaLnBrk="0">
              <a:lnSpc>
                <a:spcPct val="6000"/>
              </a:lnSpc>
            </a:pPr>
            <a:endParaRPr sz="100" dirty="0">
              <a:latin typeface="Arial" panose="020B0604020202020204"/>
              <a:ea typeface="Arial" panose="020B0604020202020204"/>
              <a:cs typeface="Arial" panose="020B0604020202020204"/>
            </a:endParaRPr>
          </a:p>
          <a:p>
            <a:pPr algn="r" rtl="0" eaLnBrk="0">
              <a:lnSpc>
                <a:spcPct val="83000"/>
              </a:lnSpc>
            </a:pPr>
            <a:r>
              <a:rPr sz="1800" kern="0" spc="-80" dirty="0">
                <a:solidFill>
                  <a:srgbClr val="C00000">
                    <a:alpha val="100000"/>
                  </a:srgbClr>
                </a:solidFill>
                <a:latin typeface="Cambria Math" panose="02040503050406030204"/>
                <a:ea typeface="Cambria Math" panose="02040503050406030204"/>
                <a:cs typeface="Cambria Math" panose="02040503050406030204"/>
              </a:rPr>
              <a:t>δ</a:t>
            </a:r>
            <a:endParaRPr sz="1800" dirty="0">
              <a:latin typeface="Cambria Math" panose="02040503050406030204"/>
              <a:ea typeface="Cambria Math" panose="02040503050406030204"/>
              <a:cs typeface="Cambria Math" panose="02040503050406030204"/>
            </a:endParaRPr>
          </a:p>
        </p:txBody>
      </p:sp>
      <p:sp>
        <p:nvSpPr>
          <p:cNvPr id="252" name="textbox 252"/>
          <p:cNvSpPr/>
          <p:nvPr/>
        </p:nvSpPr>
        <p:spPr>
          <a:xfrm>
            <a:off x="1111148" y="4377385"/>
            <a:ext cx="67310" cy="228600"/>
          </a:xfrm>
          <a:prstGeom prst="rect">
            <a:avLst/>
          </a:prstGeom>
          <a:solidFill>
            <a:srgbClr val="FFFFFF">
              <a:alpha val="94901"/>
            </a:srgbClr>
          </a:solidFill>
          <a:ln w="0" cap="flat">
            <a:noFill/>
            <a:prstDash val="solid"/>
            <a:miter lim="0"/>
          </a:ln>
        </p:spPr>
        <p:txBody>
          <a:bodyPr vert="horz" wrap="square" lIns="0" tIns="0" rIns="0" bIns="0"/>
          <a:lstStyle/>
          <a:p>
            <a:pPr algn="r" rtl="0" eaLnBrk="0">
              <a:lnSpc>
                <a:spcPts val="1800"/>
              </a:lnSpc>
            </a:pPr>
            <a:r>
              <a:rPr sz="1000" kern="0" spc="-40" dirty="0">
                <a:solidFill>
                  <a:srgbClr val="C00000">
                    <a:alpha val="100000"/>
                  </a:srgbClr>
                </a:solidFill>
                <a:latin typeface="Cambria Math" panose="02040503050406030204"/>
                <a:ea typeface="Cambria Math" panose="02040503050406030204"/>
                <a:cs typeface="Cambria Math" panose="02040503050406030204"/>
              </a:rPr>
              <a:t>^</a:t>
            </a:r>
            <a:endParaRPr sz="1000" dirty="0">
              <a:latin typeface="Cambria Math" panose="02040503050406030204"/>
              <a:ea typeface="Cambria Math" panose="02040503050406030204"/>
              <a:cs typeface="Cambria Math" panose="02040503050406030204"/>
            </a:endParaRPr>
          </a:p>
        </p:txBody>
      </p:sp>
      <p:sp>
        <p:nvSpPr>
          <p:cNvPr id="254" name="textbox 254"/>
          <p:cNvSpPr/>
          <p:nvPr/>
        </p:nvSpPr>
        <p:spPr>
          <a:xfrm>
            <a:off x="6754952" y="3939477"/>
            <a:ext cx="149225" cy="288290"/>
          </a:xfrm>
          <a:prstGeom prst="rect">
            <a:avLst/>
          </a:prstGeom>
          <a:solidFill>
            <a:srgbClr val="FFFFFF">
              <a:alpha val="94901"/>
            </a:srgbClr>
          </a:solidFill>
          <a:ln w="0" cap="flat">
            <a:noFill/>
            <a:prstDash val="solid"/>
            <a:miter lim="0"/>
          </a:ln>
        </p:spPr>
        <p:txBody>
          <a:bodyPr vert="horz" wrap="square" lIns="0" tIns="0" rIns="0" bIns="0"/>
          <a:lstStyle/>
          <a:p>
            <a:pPr algn="l" rtl="0" eaLnBrk="0">
              <a:lnSpc>
                <a:spcPct val="18000"/>
              </a:lnSpc>
            </a:pPr>
            <a:endParaRPr sz="100" dirty="0">
              <a:latin typeface="Arial" panose="020B0604020202020204"/>
              <a:ea typeface="Arial" panose="020B0604020202020204"/>
              <a:cs typeface="Arial" panose="020B0604020202020204"/>
            </a:endParaRPr>
          </a:p>
          <a:p>
            <a:pPr algn="r" rtl="0" eaLnBrk="0">
              <a:lnSpc>
                <a:spcPct val="78000"/>
              </a:lnSpc>
            </a:pPr>
            <a:r>
              <a:rPr sz="2400" kern="0" spc="-100" dirty="0">
                <a:solidFill>
                  <a:srgbClr val="C00000">
                    <a:alpha val="100000"/>
                  </a:srgbClr>
                </a:solidFill>
                <a:latin typeface="Cambria Math" panose="02040503050406030204"/>
                <a:ea typeface="Cambria Math" panose="02040503050406030204"/>
                <a:cs typeface="Cambria Math" panose="02040503050406030204"/>
              </a:rPr>
              <a:t>δ</a:t>
            </a:r>
            <a:endParaRPr sz="2400" dirty="0">
              <a:latin typeface="Cambria Math" panose="02040503050406030204"/>
              <a:ea typeface="Cambria Math" panose="02040503050406030204"/>
              <a:cs typeface="Cambria Math" panose="02040503050406030204"/>
            </a:endParaRPr>
          </a:p>
        </p:txBody>
      </p:sp>
      <p:sp>
        <p:nvSpPr>
          <p:cNvPr id="256" name="textbox 256"/>
          <p:cNvSpPr/>
          <p:nvPr/>
        </p:nvSpPr>
        <p:spPr>
          <a:xfrm>
            <a:off x="6740322" y="3874660"/>
            <a:ext cx="90169" cy="288290"/>
          </a:xfrm>
          <a:prstGeom prst="rect">
            <a:avLst/>
          </a:prstGeom>
          <a:solidFill>
            <a:srgbClr val="FFFFFF">
              <a:alpha val="94901"/>
            </a:srgbClr>
          </a:solidFill>
          <a:ln w="0" cap="flat">
            <a:noFill/>
            <a:prstDash val="solid"/>
            <a:miter lim="0"/>
          </a:ln>
        </p:spPr>
        <p:txBody>
          <a:bodyPr vert="horz" wrap="square" lIns="0" tIns="0" rIns="0" bIns="0"/>
          <a:lstStyle/>
          <a:p>
            <a:pPr algn="r" rtl="0" eaLnBrk="0">
              <a:lnSpc>
                <a:spcPts val="2270"/>
              </a:lnSpc>
            </a:pPr>
            <a:r>
              <a:rPr sz="1400" kern="0" spc="-80" dirty="0">
                <a:solidFill>
                  <a:srgbClr val="C00000">
                    <a:alpha val="100000"/>
                  </a:srgbClr>
                </a:solidFill>
                <a:latin typeface="Cambria Math" panose="02040503050406030204"/>
                <a:ea typeface="Cambria Math" panose="02040503050406030204"/>
                <a:cs typeface="Cambria Math" panose="02040503050406030204"/>
              </a:rPr>
              <a:t>^</a:t>
            </a:r>
            <a:endParaRPr sz="1400" dirty="0">
              <a:latin typeface="Cambria Math" panose="02040503050406030204"/>
              <a:ea typeface="Cambria Math" panose="02040503050406030204"/>
              <a:cs typeface="Cambria Math" panose="02040503050406030204"/>
            </a:endParaRPr>
          </a:p>
        </p:txBody>
      </p:sp>
      <p:sp>
        <p:nvSpPr>
          <p:cNvPr id="258" name="textbox 258"/>
          <p:cNvSpPr/>
          <p:nvPr/>
        </p:nvSpPr>
        <p:spPr>
          <a:xfrm>
            <a:off x="2723740" y="3660661"/>
            <a:ext cx="119379" cy="214629"/>
          </a:xfrm>
          <a:prstGeom prst="rect">
            <a:avLst/>
          </a:prstGeom>
          <a:solidFill>
            <a:srgbClr val="FFFFFF">
              <a:alpha val="94901"/>
            </a:srgbClr>
          </a:solidFill>
          <a:ln w="0" cap="flat">
            <a:noFill/>
            <a:prstDash val="solid"/>
            <a:miter lim="0"/>
          </a:ln>
        </p:spPr>
        <p:txBody>
          <a:bodyPr vert="horz" wrap="square" lIns="0" tIns="0" rIns="0" bIns="0"/>
          <a:lstStyle/>
          <a:p>
            <a:pPr algn="l" rtl="0" eaLnBrk="0">
              <a:lnSpc>
                <a:spcPct val="10000"/>
              </a:lnSpc>
            </a:pPr>
            <a:endParaRPr sz="100" dirty="0">
              <a:latin typeface="Arial" panose="020B0604020202020204"/>
              <a:ea typeface="Arial" panose="020B0604020202020204"/>
              <a:cs typeface="Arial" panose="020B0604020202020204"/>
            </a:endParaRPr>
          </a:p>
          <a:p>
            <a:pPr algn="r" rtl="0" eaLnBrk="0">
              <a:lnSpc>
                <a:spcPct val="82000"/>
              </a:lnSpc>
            </a:pPr>
            <a:r>
              <a:rPr sz="1700" kern="0" spc="30" dirty="0">
                <a:solidFill>
                  <a:srgbClr val="C00000">
                    <a:alpha val="100000"/>
                  </a:srgbClr>
                </a:solidFill>
                <a:latin typeface="Cambria Math" panose="02040503050406030204"/>
                <a:ea typeface="Cambria Math" panose="02040503050406030204"/>
                <a:cs typeface="Cambria Math" panose="02040503050406030204"/>
              </a:rPr>
              <a:t>δ</a:t>
            </a:r>
            <a:endParaRPr sz="1700" dirty="0">
              <a:latin typeface="Cambria Math" panose="02040503050406030204"/>
              <a:ea typeface="Cambria Math" panose="02040503050406030204"/>
              <a:cs typeface="Cambria Math" panose="02040503050406030204"/>
            </a:endParaRPr>
          </a:p>
        </p:txBody>
      </p:sp>
      <p:sp>
        <p:nvSpPr>
          <p:cNvPr id="260" name="textbox 260"/>
          <p:cNvSpPr/>
          <p:nvPr/>
        </p:nvSpPr>
        <p:spPr>
          <a:xfrm>
            <a:off x="2542171" y="3422281"/>
            <a:ext cx="326390" cy="293370"/>
          </a:xfrm>
          <a:prstGeom prst="rect">
            <a:avLst/>
          </a:prstGeom>
          <a:solidFill>
            <a:srgbClr val="FFFFFF">
              <a:alpha val="94901"/>
            </a:srgbClr>
          </a:solidFill>
          <a:ln w="0" cap="flat">
            <a:noFill/>
            <a:prstDash val="solid"/>
            <a:miter lim="0"/>
          </a:ln>
        </p:spPr>
        <p:txBody>
          <a:bodyPr vert="horz" wrap="square" lIns="0" tIns="168" rIns="0" bIns="0"/>
          <a:lstStyle/>
          <a:p>
            <a:pPr algn="l" rtl="0" eaLnBrk="0">
              <a:lnSpc>
                <a:spcPct val="80000"/>
              </a:lnSpc>
              <a:spcBef>
                <a:spcPts val="0"/>
              </a:spcBef>
            </a:pPr>
            <a:r>
              <a:rPr sz="2400" kern="0" spc="-60" dirty="0">
                <a:solidFill>
                  <a:srgbClr val="C00000">
                    <a:alpha val="100000"/>
                  </a:srgbClr>
                </a:solidFill>
                <a:latin typeface="Cambria Math" panose="02040503050406030204"/>
                <a:ea typeface="Cambria Math" panose="02040503050406030204"/>
                <a:cs typeface="Cambria Math" panose="02040503050406030204"/>
              </a:rPr>
              <a:t>mi</a:t>
            </a:r>
            <a:endParaRPr sz="2400" dirty="0">
              <a:latin typeface="Cambria Math" panose="02040503050406030204"/>
              <a:ea typeface="Cambria Math" panose="02040503050406030204"/>
              <a:cs typeface="Cambria Math" panose="02040503050406030204"/>
            </a:endParaRPr>
          </a:p>
        </p:txBody>
      </p:sp>
      <p:sp>
        <p:nvSpPr>
          <p:cNvPr id="262" name="textbox 262"/>
          <p:cNvSpPr/>
          <p:nvPr/>
        </p:nvSpPr>
        <p:spPr>
          <a:xfrm>
            <a:off x="504571" y="1115463"/>
            <a:ext cx="10880725" cy="1811654"/>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0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Physical</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Adversarial Perturbation</a:t>
            </a:r>
            <a:endParaRPr sz="2400" dirty="0">
              <a:latin typeface="Times New Roman" panose="02020603050405020304"/>
              <a:ea typeface="Times New Roman" panose="02020603050405020304"/>
              <a:cs typeface="Times New Roman" panose="02020603050405020304"/>
            </a:endParaRPr>
          </a:p>
          <a:p>
            <a:pPr algn="l" rtl="0" eaLnBrk="0">
              <a:lnSpc>
                <a:spcPct val="170000"/>
              </a:lnSpc>
            </a:pPr>
            <a:endParaRPr sz="1000" dirty="0">
              <a:latin typeface="Arial" panose="020B0604020202020204"/>
              <a:ea typeface="Arial" panose="020B0604020202020204"/>
              <a:cs typeface="Arial" panose="020B0604020202020204"/>
            </a:endParaRPr>
          </a:p>
          <a:p>
            <a:pPr marL="476250" algn="l" rtl="0" eaLnBrk="0">
              <a:lnSpc>
                <a:spcPct val="81000"/>
              </a:lnSpc>
              <a:spcBef>
                <a:spcPts val="725"/>
              </a:spcBef>
              <a:tabLst>
                <a:tab pos="692150" algn="l"/>
              </a:tabLst>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Dealing</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with</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FSF</a:t>
            </a:r>
            <a:r>
              <a:rPr sz="2400" b="1"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Channel</a:t>
            </a:r>
            <a:endParaRPr sz="2400" dirty="0">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460375" indent="-6350" algn="l" rtl="0" eaLnBrk="0">
              <a:lnSpc>
                <a:spcPct val="103000"/>
              </a:lnSpc>
              <a:spcBef>
                <a:spcPts val="5"/>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We</a:t>
            </a:r>
            <a:r>
              <a:rPr sz="20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propose</a:t>
            </a:r>
            <a:r>
              <a:rPr sz="20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a:t>
            </a:r>
            <a:r>
              <a:rPr sz="20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Selective</a:t>
            </a:r>
            <a:r>
              <a:rPr sz="2000" kern="0" spc="24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Amplitude</a:t>
            </a:r>
            <a:r>
              <a:rPr sz="2000" kern="0" spc="26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Enhancement</a:t>
            </a:r>
            <a:r>
              <a:rPr sz="2000" kern="0" spc="24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method</a:t>
            </a:r>
            <a:r>
              <a:rPr sz="2000" kern="0" spc="20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based</a:t>
            </a:r>
            <a:r>
              <a:rPr sz="2000" kern="0" spc="28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on</a:t>
            </a:r>
            <a:r>
              <a:rPr sz="2000" kern="0" spc="28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Time-Frequency</a:t>
            </a:r>
            <a:r>
              <a:rPr sz="2000" kern="0" spc="260" dirty="0">
                <a:solidFill>
                  <a:srgbClr val="C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C00000">
                    <a:alpha val="100000"/>
                  </a:srgbClr>
                </a:solidFill>
                <a:latin typeface="Times New Roman" panose="02020603050405020304"/>
                <a:ea typeface="Times New Roman" panose="02020603050405020304"/>
                <a:cs typeface="Times New Roman" panose="02020603050405020304"/>
              </a:rPr>
              <a:t>Interconver</a:t>
            </a:r>
            <a:r>
              <a:rPr sz="2000" kern="0" spc="-20" dirty="0">
                <a:solidFill>
                  <a:srgbClr val="C00000">
                    <a:alpha val="100000"/>
                  </a:srgbClr>
                </a:solidFill>
                <a:latin typeface="Times New Roman" panose="02020603050405020304"/>
                <a:ea typeface="Times New Roman" panose="02020603050405020304"/>
                <a:cs typeface="Times New Roman" panose="02020603050405020304"/>
              </a:rPr>
              <a:t>sion</a:t>
            </a:r>
            <a:r>
              <a:rPr sz="2000" kern="0" spc="0" dirty="0">
                <a:solidFill>
                  <a:srgbClr val="C00000">
                    <a:alpha val="100000"/>
                  </a:srgbClr>
                </a:solidFill>
                <a:latin typeface="Times New Roman" panose="02020603050405020304"/>
                <a:ea typeface="Times New Roman" panose="02020603050405020304"/>
                <a:cs typeface="Times New Roman" panose="02020603050405020304"/>
              </a:rPr>
              <a:t> </a:t>
            </a:r>
            <a:r>
              <a:rPr sz="2000" b="1" kern="0" spc="0" dirty="0">
                <a:solidFill>
                  <a:srgbClr val="C00000">
                    <a:alpha val="100000"/>
                  </a:srgbClr>
                </a:solidFill>
                <a:latin typeface="Times New Roman" panose="02020603050405020304"/>
                <a:ea typeface="Times New Roman" panose="02020603050405020304"/>
                <a:cs typeface="Times New Roman" panose="02020603050405020304"/>
              </a:rPr>
              <a:t>(SAE-TFI)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aimed at compensating for the attenuation of</a:t>
            </a:r>
            <a:r>
              <a:rPr sz="2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high-frequency components.</a:t>
            </a:r>
            <a:endParaRPr sz="2000" dirty="0">
              <a:latin typeface="Times New Roman" panose="02020603050405020304"/>
              <a:ea typeface="Times New Roman" panose="02020603050405020304"/>
              <a:cs typeface="Times New Roman" panose="02020603050405020304"/>
            </a:endParaRPr>
          </a:p>
        </p:txBody>
      </p:sp>
      <p:pic>
        <p:nvPicPr>
          <p:cNvPr id="264" name="picture 264"/>
          <p:cNvPicPr>
            <a:picLocks noChangeAspect="1"/>
          </p:cNvPicPr>
          <p:nvPr/>
        </p:nvPicPr>
        <p:blipFill>
          <a:blip r:embed="rId1"/>
          <a:stretch>
            <a:fillRect/>
          </a:stretch>
        </p:blipFill>
        <p:spPr>
          <a:xfrm rot="21600000">
            <a:off x="981455" y="1761159"/>
            <a:ext cx="216408" cy="223723"/>
          </a:xfrm>
          <a:prstGeom prst="rect">
            <a:avLst/>
          </a:prstGeom>
        </p:spPr>
      </p:pic>
      <p:sp>
        <p:nvSpPr>
          <p:cNvPr id="266" name="textbox 266"/>
          <p:cNvSpPr/>
          <p:nvPr/>
        </p:nvSpPr>
        <p:spPr>
          <a:xfrm>
            <a:off x="283530" y="257443"/>
            <a:ext cx="2552064" cy="34988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79000"/>
              </a:lnSpc>
            </a:pPr>
            <a:r>
              <a:rPr sz="2700" b="1" i="1" kern="0" spc="50" dirty="0">
                <a:solidFill>
                  <a:srgbClr val="000000">
                    <a:alpha val="100000"/>
                  </a:srgbClr>
                </a:solidFill>
                <a:latin typeface="Times New Roman" panose="02020603050405020304"/>
                <a:ea typeface="Times New Roman" panose="02020603050405020304"/>
                <a:cs typeface="Times New Roman" panose="02020603050405020304"/>
              </a:rPr>
              <a:t>LaserAdv </a:t>
            </a:r>
            <a:r>
              <a:rPr sz="2700" b="1" kern="0" spc="50" dirty="0">
                <a:solidFill>
                  <a:srgbClr val="000000">
                    <a:alpha val="100000"/>
                  </a:srgbClr>
                </a:solidFill>
                <a:latin typeface="Times New Roman" panose="02020603050405020304"/>
                <a:ea typeface="Times New Roman" panose="02020603050405020304"/>
                <a:cs typeface="Times New Roman" panose="02020603050405020304"/>
              </a:rPr>
              <a:t>Design</a:t>
            </a:r>
            <a:endParaRPr sz="2700" dirty="0">
              <a:latin typeface="Times New Roman" panose="02020603050405020304"/>
              <a:ea typeface="Times New Roman" panose="02020603050405020304"/>
              <a:cs typeface="Times New Roman" panose="02020603050405020304"/>
            </a:endParaRPr>
          </a:p>
        </p:txBody>
      </p:sp>
      <p:pic>
        <p:nvPicPr>
          <p:cNvPr id="268" name="picture 268"/>
          <p:cNvPicPr>
            <a:picLocks noChangeAspect="1"/>
          </p:cNvPicPr>
          <p:nvPr/>
        </p:nvPicPr>
        <p:blipFill>
          <a:blip r:embed="rId2"/>
          <a:stretch>
            <a:fillRect/>
          </a:stretch>
        </p:blipFill>
        <p:spPr>
          <a:xfrm rot="21600000">
            <a:off x="8409726" y="164199"/>
            <a:ext cx="1462592" cy="467336"/>
          </a:xfrm>
          <a:prstGeom prst="rect">
            <a:avLst/>
          </a:prstGeom>
        </p:spPr>
      </p:pic>
      <p:sp>
        <p:nvSpPr>
          <p:cNvPr id="270" name="path 270"/>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272" name="textbox 272"/>
          <p:cNvSpPr/>
          <p:nvPr/>
        </p:nvSpPr>
        <p:spPr>
          <a:xfrm>
            <a:off x="11170411" y="6454546"/>
            <a:ext cx="104139"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10" dirty="0">
                <a:solidFill>
                  <a:srgbClr val="000000">
                    <a:alpha val="100000"/>
                  </a:srgbClr>
                </a:solidFill>
                <a:latin typeface="等线" panose="02010600030101010101" charset="-122"/>
                <a:ea typeface="等线" panose="02010600030101010101" charset="-122"/>
                <a:cs typeface="等线" panose="02010600030101010101" charset="-122"/>
              </a:rPr>
              <a:t>9</a:t>
            </a:r>
            <a:endParaRPr sz="1200" dirty="0">
              <a:latin typeface="等线" panose="02010600030101010101" charset="-122"/>
              <a:ea typeface="等线" panose="02010600030101010101" charset="-122"/>
              <a:cs typeface="等线" panose="02010600030101010101" charset="-122"/>
            </a:endParaRPr>
          </a:p>
        </p:txBody>
      </p:sp>
      <p:pic>
        <p:nvPicPr>
          <p:cNvPr id="2" name="图片 1"/>
          <p:cNvPicPr>
            <a:picLocks noChangeAspect="1"/>
          </p:cNvPicPr>
          <p:nvPr/>
        </p:nvPicPr>
        <p:blipFill>
          <a:blip r:embed="rId3"/>
          <a:stretch>
            <a:fillRect/>
          </a:stretch>
        </p:blipFill>
        <p:spPr>
          <a:xfrm>
            <a:off x="1899285" y="3376930"/>
            <a:ext cx="7061835" cy="994410"/>
          </a:xfrm>
          <a:prstGeom prst="rect">
            <a:avLst/>
          </a:prstGeom>
        </p:spPr>
      </p:pic>
      <p:pic>
        <p:nvPicPr>
          <p:cNvPr id="3" name="图片 2"/>
          <p:cNvPicPr>
            <a:picLocks noChangeAspect="1"/>
          </p:cNvPicPr>
          <p:nvPr/>
        </p:nvPicPr>
        <p:blipFill>
          <a:blip r:embed="rId4"/>
          <a:stretch>
            <a:fillRect/>
          </a:stretch>
        </p:blipFill>
        <p:spPr>
          <a:xfrm>
            <a:off x="1033145" y="4270375"/>
            <a:ext cx="2590800" cy="4438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textbox 274"/>
          <p:cNvSpPr/>
          <p:nvPr/>
        </p:nvSpPr>
        <p:spPr>
          <a:xfrm>
            <a:off x="504571" y="1115768"/>
            <a:ext cx="9777730" cy="564007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Experiment S</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ettings</a:t>
            </a:r>
            <a:endParaRPr sz="2400" dirty="0">
              <a:latin typeface="Times New Roman" panose="02020603050405020304"/>
              <a:ea typeface="Times New Roman" panose="02020603050405020304"/>
              <a:cs typeface="Times New Roman" panose="02020603050405020304"/>
            </a:endParaRPr>
          </a:p>
          <a:p>
            <a:pPr marL="476250" algn="l" rtl="0" eaLnBrk="0">
              <a:lnSpc>
                <a:spcPct val="81000"/>
              </a:lnSpc>
              <a:spcBef>
                <a:spcPts val="1480"/>
              </a:spcBef>
              <a:tabLst>
                <a:tab pos="692150" algn="l"/>
              </a:tabLst>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3</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ASR models: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DeepSpeech, iFl</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ytek, Whisper.</a:t>
            </a:r>
            <a:endParaRPr sz="2400" dirty="0">
              <a:latin typeface="Times New Roman" panose="02020603050405020304"/>
              <a:ea typeface="Times New Roman" panose="02020603050405020304"/>
              <a:cs typeface="Times New Roman" panose="02020603050405020304"/>
            </a:endParaRPr>
          </a:p>
          <a:p>
            <a:pPr marL="812165" indent="-335915" algn="l" rtl="0" eaLnBrk="0">
              <a:lnSpc>
                <a:spcPct val="95000"/>
              </a:lnSpc>
              <a:spcBef>
                <a:spcPts val="1255"/>
              </a:spcBef>
              <a:tabLst>
                <a:tab pos="692150" algn="l"/>
              </a:tabLst>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6 smartphones: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Huawei Enjoy 20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Pro and Mate 60</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Pro,</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Honor</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20</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Pro,</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Samsung Galaxy</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S9, Redmi K30 Ultra, Oppo Reno</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2400" dirty="0">
              <a:latin typeface="Times New Roman" panose="02020603050405020304"/>
              <a:ea typeface="Times New Roman" panose="02020603050405020304"/>
              <a:cs typeface="Times New Roman" panose="02020603050405020304"/>
            </a:endParaRPr>
          </a:p>
          <a:p>
            <a:pPr marL="476250" algn="l" rtl="0" eaLnBrk="0">
              <a:lnSpc>
                <a:spcPct val="79000"/>
              </a:lnSpc>
              <a:spcBef>
                <a:spcPts val="920"/>
              </a:spcBef>
              <a:tabLst>
                <a:tab pos="692150" algn="l"/>
              </a:tabLst>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Dataset:</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12,260 voice co</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mmands.</a:t>
            </a:r>
            <a:endParaRPr sz="2400" dirty="0">
              <a:latin typeface="Times New Roman" panose="02020603050405020304"/>
              <a:ea typeface="Times New Roman" panose="02020603050405020304"/>
              <a:cs typeface="Times New Roman" panose="02020603050405020304"/>
            </a:endParaRPr>
          </a:p>
          <a:p>
            <a:pPr marL="476250" algn="l" rtl="0" eaLnBrk="0">
              <a:lnSpc>
                <a:spcPct val="81000"/>
              </a:lnSpc>
              <a:spcBef>
                <a:spcPts val="915"/>
              </a:spcBef>
              <a:tabLst>
                <a:tab pos="692150" algn="l"/>
              </a:tabLst>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Laser diode: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5mW red laser diode with a wavelength of</a:t>
            </a:r>
            <a:r>
              <a:rPr sz="24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650 nano</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meters.</a:t>
            </a:r>
            <a:endParaRPr sz="2400" dirty="0">
              <a:latin typeface="Times New Roman" panose="02020603050405020304"/>
              <a:ea typeface="Times New Roman" panose="02020603050405020304"/>
              <a:cs typeface="Times New Roman" panose="02020603050405020304"/>
            </a:endParaRPr>
          </a:p>
          <a:p>
            <a:pPr marL="476250" algn="l" rtl="0" eaLnBrk="0">
              <a:lnSpc>
                <a:spcPct val="79000"/>
              </a:lnSpc>
              <a:spcBef>
                <a:spcPts val="805"/>
              </a:spcBef>
              <a:tabLst>
                <a:tab pos="692150" algn="l"/>
              </a:tabLst>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Metric:</a:t>
            </a:r>
            <a:r>
              <a:rPr sz="2400" b="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Attack succe</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ss rate.</a:t>
            </a:r>
            <a:endParaRPr sz="2400" dirty="0">
              <a:latin typeface="Times New Roman" panose="02020603050405020304"/>
              <a:ea typeface="Times New Roman" panose="02020603050405020304"/>
              <a:cs typeface="Times New Roman" panose="02020603050405020304"/>
            </a:endParaRPr>
          </a:p>
          <a:p>
            <a:pPr algn="l" rtl="0" eaLnBrk="0">
              <a:lnSpc>
                <a:spcPct val="110000"/>
              </a:lnSpc>
            </a:pPr>
            <a:endParaRPr sz="900" dirty="0">
              <a:latin typeface="Arial" panose="020B0604020202020204"/>
              <a:ea typeface="Arial" panose="020B0604020202020204"/>
              <a:cs typeface="Arial" panose="020B0604020202020204"/>
            </a:endParaRPr>
          </a:p>
          <a:p>
            <a:pPr marL="476885" algn="l" rtl="0" eaLnBrk="0">
              <a:lnSpc>
                <a:spcPct val="78000"/>
              </a:lnSpc>
              <a:spcBef>
                <a:spcPts val="5"/>
              </a:spcBef>
              <a:tabLst>
                <a:tab pos="692785" algn="l"/>
              </a:tabLst>
            </a:pPr>
            <a:r>
              <a:rPr sz="25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500" b="1"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500" b="1" kern="0" spc="-70" dirty="0">
                <a:solidFill>
                  <a:srgbClr val="000000">
                    <a:alpha val="100000"/>
                  </a:srgbClr>
                </a:solidFill>
                <a:latin typeface="Times New Roman" panose="02020603050405020304"/>
                <a:ea typeface="Times New Roman" panose="02020603050405020304"/>
                <a:cs typeface="Times New Roman" panose="02020603050405020304"/>
              </a:rPr>
              <a:t>Setup:</a:t>
            </a:r>
            <a:r>
              <a:rPr sz="2500"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sz="2500" dirty="0">
              <a:latin typeface="Times New Roman" panose="02020603050405020304"/>
              <a:ea typeface="Times New Roman" panose="02020603050405020304"/>
              <a:cs typeface="Times New Roman" panose="02020603050405020304"/>
            </a:endParaRPr>
          </a:p>
        </p:txBody>
      </p:sp>
      <p:pic>
        <p:nvPicPr>
          <p:cNvPr id="276" name="picture 276"/>
          <p:cNvPicPr>
            <a:picLocks noChangeAspect="1"/>
          </p:cNvPicPr>
          <p:nvPr/>
        </p:nvPicPr>
        <p:blipFill>
          <a:blip r:embed="rId1"/>
          <a:stretch>
            <a:fillRect/>
          </a:stretch>
        </p:blipFill>
        <p:spPr>
          <a:xfrm rot="21600000">
            <a:off x="981481" y="4108531"/>
            <a:ext cx="216624" cy="223946"/>
          </a:xfrm>
          <a:prstGeom prst="rect">
            <a:avLst/>
          </a:prstGeom>
        </p:spPr>
      </p:pic>
      <p:pic>
        <p:nvPicPr>
          <p:cNvPr id="278" name="picture 278"/>
          <p:cNvPicPr>
            <a:picLocks noChangeAspect="1"/>
          </p:cNvPicPr>
          <p:nvPr/>
        </p:nvPicPr>
        <p:blipFill>
          <a:blip r:embed="rId2"/>
          <a:stretch>
            <a:fillRect/>
          </a:stretch>
        </p:blipFill>
        <p:spPr>
          <a:xfrm rot="21600000">
            <a:off x="3863293" y="4038598"/>
            <a:ext cx="4698492" cy="2697478"/>
          </a:xfrm>
          <a:prstGeom prst="rect">
            <a:avLst/>
          </a:prstGeom>
        </p:spPr>
      </p:pic>
      <p:pic>
        <p:nvPicPr>
          <p:cNvPr id="280" name="picture 280"/>
          <p:cNvPicPr>
            <a:picLocks noChangeAspect="1"/>
          </p:cNvPicPr>
          <p:nvPr/>
        </p:nvPicPr>
        <p:blipFill>
          <a:blip r:embed="rId3"/>
          <a:stretch>
            <a:fillRect/>
          </a:stretch>
        </p:blipFill>
        <p:spPr>
          <a:xfrm rot="21600000">
            <a:off x="981455" y="3666794"/>
            <a:ext cx="216408" cy="223723"/>
          </a:xfrm>
          <a:prstGeom prst="rect">
            <a:avLst/>
          </a:prstGeom>
        </p:spPr>
      </p:pic>
      <p:pic>
        <p:nvPicPr>
          <p:cNvPr id="282" name="picture 282"/>
          <p:cNvPicPr>
            <a:picLocks noChangeAspect="1"/>
          </p:cNvPicPr>
          <p:nvPr/>
        </p:nvPicPr>
        <p:blipFill>
          <a:blip r:embed="rId3"/>
          <a:stretch>
            <a:fillRect/>
          </a:stretch>
        </p:blipFill>
        <p:spPr>
          <a:xfrm rot="21600000">
            <a:off x="981455" y="3270555"/>
            <a:ext cx="216408" cy="223723"/>
          </a:xfrm>
          <a:prstGeom prst="rect">
            <a:avLst/>
          </a:prstGeom>
        </p:spPr>
      </p:pic>
      <p:pic>
        <p:nvPicPr>
          <p:cNvPr id="284" name="picture 284"/>
          <p:cNvPicPr>
            <a:picLocks noChangeAspect="1"/>
          </p:cNvPicPr>
          <p:nvPr/>
        </p:nvPicPr>
        <p:blipFill>
          <a:blip r:embed="rId4"/>
          <a:stretch>
            <a:fillRect/>
          </a:stretch>
        </p:blipFill>
        <p:spPr>
          <a:xfrm rot="21600000">
            <a:off x="981455" y="2863646"/>
            <a:ext cx="216408" cy="223723"/>
          </a:xfrm>
          <a:prstGeom prst="rect">
            <a:avLst/>
          </a:prstGeom>
        </p:spPr>
      </p:pic>
      <p:pic>
        <p:nvPicPr>
          <p:cNvPr id="286" name="picture 286"/>
          <p:cNvPicPr>
            <a:picLocks noChangeAspect="1"/>
          </p:cNvPicPr>
          <p:nvPr/>
        </p:nvPicPr>
        <p:blipFill>
          <a:blip r:embed="rId5"/>
          <a:stretch>
            <a:fillRect/>
          </a:stretch>
        </p:blipFill>
        <p:spPr>
          <a:xfrm rot="21600000">
            <a:off x="981455" y="2050974"/>
            <a:ext cx="216408" cy="223723"/>
          </a:xfrm>
          <a:prstGeom prst="rect">
            <a:avLst/>
          </a:prstGeom>
        </p:spPr>
      </p:pic>
      <p:pic>
        <p:nvPicPr>
          <p:cNvPr id="288" name="picture 288"/>
          <p:cNvPicPr>
            <a:picLocks noChangeAspect="1"/>
          </p:cNvPicPr>
          <p:nvPr/>
        </p:nvPicPr>
        <p:blipFill>
          <a:blip r:embed="rId6"/>
          <a:stretch>
            <a:fillRect/>
          </a:stretch>
        </p:blipFill>
        <p:spPr>
          <a:xfrm rot="21600000">
            <a:off x="981455" y="1598345"/>
            <a:ext cx="216408" cy="223723"/>
          </a:xfrm>
          <a:prstGeom prst="rect">
            <a:avLst/>
          </a:prstGeom>
        </p:spPr>
      </p:pic>
      <p:pic>
        <p:nvPicPr>
          <p:cNvPr id="290" name="picture 290"/>
          <p:cNvPicPr>
            <a:picLocks noChangeAspect="1"/>
          </p:cNvPicPr>
          <p:nvPr/>
        </p:nvPicPr>
        <p:blipFill>
          <a:blip r:embed="rId7"/>
          <a:stretch>
            <a:fillRect/>
          </a:stretch>
        </p:blipFill>
        <p:spPr>
          <a:xfrm rot="21600000">
            <a:off x="8409726" y="164199"/>
            <a:ext cx="1462592" cy="467336"/>
          </a:xfrm>
          <a:prstGeom prst="rect">
            <a:avLst/>
          </a:prstGeom>
        </p:spPr>
      </p:pic>
      <p:sp>
        <p:nvSpPr>
          <p:cNvPr id="292" name="path 292"/>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294" name="textbox 294"/>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
        <p:nvSpPr>
          <p:cNvPr id="296" name="textbox 296"/>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10</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8" name="picture 298"/>
          <p:cNvPicPr>
            <a:picLocks noChangeAspect="1"/>
          </p:cNvPicPr>
          <p:nvPr/>
        </p:nvPicPr>
        <p:blipFill>
          <a:blip r:embed="rId1"/>
          <a:stretch>
            <a:fillRect/>
          </a:stretch>
        </p:blipFill>
        <p:spPr>
          <a:xfrm rot="21600000">
            <a:off x="1737360" y="1508759"/>
            <a:ext cx="8717280" cy="3893820"/>
          </a:xfrm>
          <a:prstGeom prst="rect">
            <a:avLst/>
          </a:prstGeom>
        </p:spPr>
      </p:pic>
      <p:sp>
        <p:nvSpPr>
          <p:cNvPr id="300" name="textbox 300"/>
          <p:cNvSpPr/>
          <p:nvPr/>
        </p:nvSpPr>
        <p:spPr>
          <a:xfrm>
            <a:off x="588060" y="5598363"/>
            <a:ext cx="11041380" cy="645794"/>
          </a:xfrm>
          <a:prstGeom prst="rect">
            <a:avLst/>
          </a:prstGeom>
          <a:noFill/>
          <a:ln w="0" cap="flat">
            <a:noFill/>
            <a:prstDash val="solid"/>
            <a:miter lim="0"/>
          </a:ln>
        </p:spPr>
        <p:txBody>
          <a:bodyPr vert="horz" wrap="square" lIns="0" tIns="0" rIns="0" bIns="0"/>
          <a:lstStyle/>
          <a:p>
            <a:pPr algn="l" rtl="0" eaLnBrk="0">
              <a:lnSpc>
                <a:spcPct val="23000"/>
              </a:lnSpc>
            </a:pPr>
            <a:endParaRPr sz="100" dirty="0">
              <a:latin typeface="Arial" panose="020B0604020202020204"/>
              <a:ea typeface="Arial" panose="020B0604020202020204"/>
              <a:cs typeface="Arial" panose="020B0604020202020204"/>
            </a:endParaRPr>
          </a:p>
          <a:p>
            <a:pPr marL="339725" indent="-327660" algn="l" rtl="0" eaLnBrk="0">
              <a:lnSpc>
                <a:spcPct val="86000"/>
              </a:lnSpc>
              <a:tabLst>
                <a:tab pos="22860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A single perturbation</a:t>
            </a:r>
            <a:r>
              <a:rPr sz="24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can</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cau</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se</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C00000">
                    <a:alpha val="100000"/>
                  </a:srgbClr>
                </a:solidFill>
                <a:latin typeface="Times New Roman" panose="02020603050405020304"/>
                <a:ea typeface="Times New Roman" panose="02020603050405020304"/>
                <a:cs typeface="Times New Roman" panose="02020603050405020304"/>
              </a:rPr>
              <a:t>DeepSpeech,</a:t>
            </a:r>
            <a:r>
              <a:rPr sz="2400" kern="0" spc="170" dirty="0">
                <a:solidFill>
                  <a:srgbClr val="C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C00000">
                    <a:alpha val="100000"/>
                  </a:srgbClr>
                </a:solidFill>
                <a:latin typeface="Times New Roman" panose="02020603050405020304"/>
                <a:ea typeface="Times New Roman" panose="02020603050405020304"/>
                <a:cs typeface="Times New Roman" panose="02020603050405020304"/>
              </a:rPr>
              <a:t>Whisper</a:t>
            </a:r>
            <a:r>
              <a:rPr sz="2400" kern="0" spc="200" dirty="0">
                <a:solidFill>
                  <a:srgbClr val="C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C00000">
                    <a:alpha val="100000"/>
                  </a:srgbClr>
                </a:solidFill>
                <a:latin typeface="Times New Roman" panose="02020603050405020304"/>
                <a:ea typeface="Times New Roman" panose="02020603050405020304"/>
                <a:cs typeface="Times New Roman" panose="02020603050405020304"/>
              </a:rPr>
              <a:t>and</a:t>
            </a:r>
            <a:r>
              <a:rPr sz="2400" kern="0" spc="200" dirty="0">
                <a:solidFill>
                  <a:srgbClr val="C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C00000">
                    <a:alpha val="100000"/>
                  </a:srgbClr>
                </a:solidFill>
                <a:latin typeface="Times New Roman" panose="02020603050405020304"/>
                <a:ea typeface="Times New Roman" panose="02020603050405020304"/>
                <a:cs typeface="Times New Roman" panose="02020603050405020304"/>
              </a:rPr>
              <a:t>iFlytek</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to</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misinterpret</a:t>
            </a:r>
            <a:r>
              <a:rPr sz="24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any</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of</a:t>
            </a:r>
            <a:r>
              <a:rPr sz="24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12,260 voice commands</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as the ta</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rget command</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with</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success</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rate</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of</a:t>
            </a:r>
            <a:r>
              <a:rPr sz="2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up</a:t>
            </a:r>
            <a:r>
              <a:rPr sz="24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to</a:t>
            </a:r>
            <a:r>
              <a:rPr sz="24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C00000">
                    <a:alpha val="100000"/>
                  </a:srgbClr>
                </a:solidFill>
                <a:latin typeface="Times New Roman" panose="02020603050405020304"/>
                <a:ea typeface="Times New Roman" panose="02020603050405020304"/>
                <a:cs typeface="Times New Roman" panose="02020603050405020304"/>
              </a:rPr>
              <a:t>100%,</a:t>
            </a:r>
            <a:endParaRPr sz="2400" dirty="0">
              <a:latin typeface="Times New Roman" panose="02020603050405020304"/>
              <a:ea typeface="Times New Roman" panose="02020603050405020304"/>
              <a:cs typeface="Times New Roman" panose="02020603050405020304"/>
            </a:endParaRPr>
          </a:p>
        </p:txBody>
      </p:sp>
      <p:pic>
        <p:nvPicPr>
          <p:cNvPr id="302" name="picture 302"/>
          <p:cNvPicPr>
            <a:picLocks noChangeAspect="1"/>
          </p:cNvPicPr>
          <p:nvPr/>
        </p:nvPicPr>
        <p:blipFill>
          <a:blip r:embed="rId2"/>
          <a:stretch>
            <a:fillRect/>
          </a:stretch>
        </p:blipFill>
        <p:spPr>
          <a:xfrm rot="21600000">
            <a:off x="600760" y="5611063"/>
            <a:ext cx="216408" cy="223723"/>
          </a:xfrm>
          <a:prstGeom prst="rect">
            <a:avLst/>
          </a:prstGeom>
        </p:spPr>
      </p:pic>
      <p:sp>
        <p:nvSpPr>
          <p:cNvPr id="304" name="textbox 304"/>
          <p:cNvSpPr/>
          <p:nvPr/>
        </p:nvSpPr>
        <p:spPr>
          <a:xfrm>
            <a:off x="917549" y="6270752"/>
            <a:ext cx="10356850" cy="372109"/>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5000"/>
              </a:lnSpc>
            </a:pPr>
            <a:r>
              <a:rPr sz="2400" kern="0" spc="-10" dirty="0">
                <a:solidFill>
                  <a:srgbClr val="C00000">
                    <a:alpha val="100000"/>
                  </a:srgbClr>
                </a:solidFill>
                <a:latin typeface="Times New Roman" panose="02020603050405020304"/>
                <a:ea typeface="Times New Roman" panose="02020603050405020304"/>
                <a:cs typeface="Times New Roman" panose="02020603050405020304"/>
              </a:rPr>
              <a:t>92% and 88%</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respectively.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baseline="-41000" dirty="0">
                <a:solidFill>
                  <a:srgbClr val="000000">
                    <a:alpha val="100000"/>
                  </a:srgbClr>
                </a:solidFill>
                <a:latin typeface="等线" panose="02010600030101010101" charset="-122"/>
                <a:ea typeface="等线" panose="02010600030101010101" charset="-122"/>
                <a:cs typeface="等线" panose="02010600030101010101" charset="-122"/>
              </a:rPr>
              <a:t>11</a:t>
            </a:r>
            <a:endParaRPr sz="1800" baseline="-41000" dirty="0">
              <a:latin typeface="等线" panose="02010600030101010101" charset="-122"/>
              <a:ea typeface="等线" panose="02010600030101010101" charset="-122"/>
              <a:cs typeface="等线" panose="02010600030101010101" charset="-122"/>
            </a:endParaRPr>
          </a:p>
        </p:txBody>
      </p:sp>
      <p:pic>
        <p:nvPicPr>
          <p:cNvPr id="306" name="picture 306"/>
          <p:cNvPicPr>
            <a:picLocks noChangeAspect="1"/>
          </p:cNvPicPr>
          <p:nvPr/>
        </p:nvPicPr>
        <p:blipFill>
          <a:blip r:embed="rId3"/>
          <a:stretch>
            <a:fillRect/>
          </a:stretch>
        </p:blipFill>
        <p:spPr>
          <a:xfrm rot="21600000">
            <a:off x="8409726" y="164199"/>
            <a:ext cx="1462592" cy="467336"/>
          </a:xfrm>
          <a:prstGeom prst="rect">
            <a:avLst/>
          </a:prstGeom>
        </p:spPr>
      </p:pic>
      <p:sp>
        <p:nvSpPr>
          <p:cNvPr id="308" name="textbox 308"/>
          <p:cNvSpPr/>
          <p:nvPr/>
        </p:nvSpPr>
        <p:spPr>
          <a:xfrm>
            <a:off x="504571" y="1115768"/>
            <a:ext cx="3093085" cy="278765"/>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69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1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Overall P</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erformance</a:t>
            </a:r>
            <a:endParaRPr sz="2400" dirty="0">
              <a:latin typeface="Times New Roman" panose="02020603050405020304"/>
              <a:ea typeface="Times New Roman" panose="02020603050405020304"/>
              <a:cs typeface="Times New Roman" panose="02020603050405020304"/>
            </a:endParaRPr>
          </a:p>
        </p:txBody>
      </p:sp>
      <p:sp>
        <p:nvSpPr>
          <p:cNvPr id="310" name="path 310"/>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312" name="textbox 312"/>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 name="picture 314"/>
          <p:cNvPicPr>
            <a:picLocks noChangeAspect="1"/>
          </p:cNvPicPr>
          <p:nvPr/>
        </p:nvPicPr>
        <p:blipFill>
          <a:blip r:embed="rId1"/>
          <a:stretch>
            <a:fillRect/>
          </a:stretch>
        </p:blipFill>
        <p:spPr>
          <a:xfrm rot="21600000">
            <a:off x="632459" y="4869179"/>
            <a:ext cx="6955535" cy="1517904"/>
          </a:xfrm>
          <a:prstGeom prst="rect">
            <a:avLst/>
          </a:prstGeom>
        </p:spPr>
      </p:pic>
      <p:sp>
        <p:nvSpPr>
          <p:cNvPr id="316" name="textbox 316"/>
          <p:cNvSpPr/>
          <p:nvPr/>
        </p:nvSpPr>
        <p:spPr>
          <a:xfrm>
            <a:off x="1399184" y="1469491"/>
            <a:ext cx="8414384" cy="4612004"/>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80000"/>
              </a:lnSpc>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290" dirty="0">
                <a:solidFill>
                  <a:srgbClr val="000000">
                    <a:alpha val="100000"/>
                  </a:srgbClr>
                </a:solidFill>
                <a:latin typeface="Arial" panose="020B0604020202020204"/>
                <a:ea typeface="Arial" panose="020B0604020202020204"/>
                <a:cs typeface="Arial" panose="020B06040202020202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Varying Laser Power Levels</a:t>
            </a:r>
            <a:endParaRPr sz="24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2700" algn="l" rtl="0" eaLnBrk="0">
              <a:lnSpc>
                <a:spcPct val="80000"/>
              </a:lnSpc>
              <a:spcBef>
                <a:spcPts val="73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290" dirty="0">
                <a:solidFill>
                  <a:srgbClr val="000000">
                    <a:alpha val="100000"/>
                  </a:srgbClr>
                </a:solidFill>
                <a:latin typeface="Arial" panose="020B0604020202020204"/>
                <a:ea typeface="Arial" panose="020B0604020202020204"/>
                <a:cs typeface="Arial" panose="020B06040202020202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Attack Di</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stance</a:t>
            </a:r>
            <a:endParaRPr sz="2400" dirty="0">
              <a:latin typeface="Times New Roman" panose="02020603050405020304"/>
              <a:ea typeface="Times New Roman" panose="02020603050405020304"/>
              <a:cs typeface="Times New Roman" panose="020206030504050203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2700" algn="l" rtl="0" eaLnBrk="0">
              <a:lnSpc>
                <a:spcPct val="80000"/>
              </a:lnSpc>
              <a:spcBef>
                <a:spcPts val="72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290" dirty="0">
                <a:solidFill>
                  <a:srgbClr val="000000">
                    <a:alpha val="100000"/>
                  </a:srgbClr>
                </a:solidFill>
                <a:latin typeface="Arial" panose="020B0604020202020204"/>
                <a:ea typeface="Arial" panose="020B0604020202020204"/>
                <a:cs typeface="Arial" panose="020B06040202020202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Different Sm</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art Devices</a:t>
            </a:r>
            <a:endParaRPr sz="24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2700" algn="l" rtl="0" eaLnBrk="0">
              <a:lnSpc>
                <a:spcPct val="80000"/>
              </a:lnSpc>
              <a:spcBef>
                <a:spcPts val="725"/>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290" dirty="0">
                <a:solidFill>
                  <a:srgbClr val="000000">
                    <a:alpha val="100000"/>
                  </a:srgbClr>
                </a:solidFill>
                <a:latin typeface="Arial" panose="020B0604020202020204"/>
                <a:ea typeface="Arial" panose="020B0604020202020204"/>
                <a:cs typeface="Arial" panose="020B06040202020202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Loudness of</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Perturbations or Malicious Comm</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ands</a:t>
            </a:r>
            <a:endParaRPr sz="24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2700" algn="l" rtl="0" eaLnBrk="0">
              <a:lnSpc>
                <a:spcPct val="80000"/>
              </a:lnSpc>
              <a:spcBef>
                <a:spcPts val="725"/>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290" dirty="0">
                <a:solidFill>
                  <a:srgbClr val="000000">
                    <a:alpha val="100000"/>
                  </a:srgbClr>
                </a:solidFill>
                <a:latin typeface="Arial" panose="020B0604020202020204"/>
                <a:ea typeface="Arial" panose="020B0604020202020204"/>
                <a:cs typeface="Arial" panose="020B06040202020202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Dif</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ferent</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Angles</a:t>
            </a:r>
            <a:endParaRPr sz="24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12700" algn="l" rtl="0" eaLnBrk="0">
              <a:lnSpc>
                <a:spcPct val="80000"/>
              </a:lnSpc>
              <a:spcBef>
                <a:spcPts val="5"/>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280" dirty="0">
                <a:solidFill>
                  <a:srgbClr val="000000">
                    <a:alpha val="100000"/>
                  </a:srgbClr>
                </a:solidFill>
                <a:latin typeface="Arial" panose="020B0604020202020204"/>
                <a:ea typeface="Arial" panose="020B0604020202020204"/>
                <a:cs typeface="Arial" panose="020B06040202020202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Different</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mbient Noise</a:t>
            </a:r>
            <a:r>
              <a:rPr sz="2400" b="1" kern="0" spc="-3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p:txBody>
      </p:sp>
      <p:pic>
        <p:nvPicPr>
          <p:cNvPr id="318" name="picture 318"/>
          <p:cNvPicPr>
            <a:picLocks noChangeAspect="1"/>
          </p:cNvPicPr>
          <p:nvPr/>
        </p:nvPicPr>
        <p:blipFill>
          <a:blip r:embed="rId2"/>
          <a:stretch>
            <a:fillRect/>
          </a:stretch>
        </p:blipFill>
        <p:spPr>
          <a:xfrm rot="21600000">
            <a:off x="8409726" y="164199"/>
            <a:ext cx="1462592" cy="467336"/>
          </a:xfrm>
          <a:prstGeom prst="rect">
            <a:avLst/>
          </a:prstGeom>
        </p:spPr>
      </p:pic>
      <p:sp>
        <p:nvSpPr>
          <p:cNvPr id="320" name="path 320"/>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322" name="textbox 322"/>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
        <p:nvSpPr>
          <p:cNvPr id="324" name="textbox 324"/>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12</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 name="picture 326"/>
          <p:cNvPicPr>
            <a:picLocks noChangeAspect="1"/>
          </p:cNvPicPr>
          <p:nvPr/>
        </p:nvPicPr>
        <p:blipFill>
          <a:blip r:embed="rId1"/>
          <a:stretch>
            <a:fillRect/>
          </a:stretch>
        </p:blipFill>
        <p:spPr>
          <a:xfrm rot="21600000">
            <a:off x="1036319" y="2151888"/>
            <a:ext cx="3663695" cy="3104388"/>
          </a:xfrm>
          <a:prstGeom prst="rect">
            <a:avLst/>
          </a:prstGeom>
        </p:spPr>
      </p:pic>
      <p:sp>
        <p:nvSpPr>
          <p:cNvPr id="328" name="textbox 328"/>
          <p:cNvSpPr/>
          <p:nvPr/>
        </p:nvSpPr>
        <p:spPr>
          <a:xfrm>
            <a:off x="5369128" y="2692069"/>
            <a:ext cx="5991225" cy="1604010"/>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80000"/>
              </a:lnSpc>
              <a:tabLst>
                <a:tab pos="22860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 maximum power of</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laser diode is 6mW.</a:t>
            </a:r>
            <a:endParaRPr sz="2400" dirty="0">
              <a:latin typeface="Times New Roman" panose="02020603050405020304"/>
              <a:ea typeface="Times New Roman" panose="02020603050405020304"/>
              <a:cs typeface="Times New Roman" panose="02020603050405020304"/>
            </a:endParaRPr>
          </a:p>
          <a:p>
            <a:pPr algn="l" rtl="0" eaLnBrk="0">
              <a:lnSpc>
                <a:spcPct val="103000"/>
              </a:lnSpc>
            </a:pPr>
            <a:endParaRPr sz="700" dirty="0">
              <a:latin typeface="Arial" panose="020B0604020202020204"/>
              <a:ea typeface="Arial" panose="020B0604020202020204"/>
              <a:cs typeface="Arial" panose="020B0604020202020204"/>
            </a:endParaRPr>
          </a:p>
          <a:p>
            <a:pPr marL="339725" indent="-327025" algn="l" rtl="0" eaLnBrk="0">
              <a:lnSpc>
                <a:spcPct val="107000"/>
              </a:lnSpc>
              <a:tabLst>
                <a:tab pos="22860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Upon</a:t>
            </a:r>
            <a:r>
              <a:rPr sz="2400" kern="0" spc="5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reaching</a:t>
            </a:r>
            <a:r>
              <a:rPr sz="2400" kern="0" spc="5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5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rated</a:t>
            </a:r>
            <a:r>
              <a:rPr sz="2400" kern="0" spc="5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power</a:t>
            </a:r>
            <a:r>
              <a:rPr sz="2400" kern="0" spc="5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of</a:t>
            </a:r>
            <a:r>
              <a:rPr sz="2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5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lase</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r</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diode</a:t>
            </a:r>
            <a:r>
              <a:rPr sz="2400" kern="0" spc="5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5mW,</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  a  100%  success  rate  can  be</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achieved.</a:t>
            </a:r>
            <a:endParaRPr sz="2400" dirty="0">
              <a:latin typeface="Times New Roman" panose="02020603050405020304"/>
              <a:ea typeface="Times New Roman" panose="02020603050405020304"/>
              <a:cs typeface="Times New Roman" panose="02020603050405020304"/>
            </a:endParaRPr>
          </a:p>
        </p:txBody>
      </p:sp>
      <p:pic>
        <p:nvPicPr>
          <p:cNvPr id="330" name="picture 330"/>
          <p:cNvPicPr>
            <a:picLocks noChangeAspect="1"/>
          </p:cNvPicPr>
          <p:nvPr/>
        </p:nvPicPr>
        <p:blipFill>
          <a:blip r:embed="rId2"/>
          <a:stretch>
            <a:fillRect/>
          </a:stretch>
        </p:blipFill>
        <p:spPr>
          <a:xfrm rot="21600000">
            <a:off x="5381828" y="3111677"/>
            <a:ext cx="216408" cy="223723"/>
          </a:xfrm>
          <a:prstGeom prst="rect">
            <a:avLst/>
          </a:prstGeom>
        </p:spPr>
      </p:pic>
      <p:pic>
        <p:nvPicPr>
          <p:cNvPr id="332" name="picture 332"/>
          <p:cNvPicPr>
            <a:picLocks noChangeAspect="1"/>
          </p:cNvPicPr>
          <p:nvPr/>
        </p:nvPicPr>
        <p:blipFill>
          <a:blip r:embed="rId3"/>
          <a:stretch>
            <a:fillRect/>
          </a:stretch>
        </p:blipFill>
        <p:spPr>
          <a:xfrm rot="21600000">
            <a:off x="5381828" y="2704769"/>
            <a:ext cx="216408" cy="223723"/>
          </a:xfrm>
          <a:prstGeom prst="rect">
            <a:avLst/>
          </a:prstGeom>
        </p:spPr>
      </p:pic>
      <p:sp>
        <p:nvSpPr>
          <p:cNvPr id="334" name="textbox 334"/>
          <p:cNvSpPr/>
          <p:nvPr/>
        </p:nvSpPr>
        <p:spPr>
          <a:xfrm>
            <a:off x="504571" y="1115768"/>
            <a:ext cx="5335270" cy="306704"/>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Varying Laser Power </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Levels</a:t>
            </a:r>
            <a:endParaRPr sz="2400" dirty="0">
              <a:latin typeface="Times New Roman" panose="02020603050405020304"/>
              <a:ea typeface="Times New Roman" panose="02020603050405020304"/>
              <a:cs typeface="Times New Roman" panose="02020603050405020304"/>
            </a:endParaRPr>
          </a:p>
        </p:txBody>
      </p:sp>
      <p:pic>
        <p:nvPicPr>
          <p:cNvPr id="336" name="picture 336"/>
          <p:cNvPicPr>
            <a:picLocks noChangeAspect="1"/>
          </p:cNvPicPr>
          <p:nvPr/>
        </p:nvPicPr>
        <p:blipFill>
          <a:blip r:embed="rId4"/>
          <a:stretch>
            <a:fillRect/>
          </a:stretch>
        </p:blipFill>
        <p:spPr>
          <a:xfrm rot="21600000">
            <a:off x="8409726" y="164199"/>
            <a:ext cx="1462592" cy="467336"/>
          </a:xfrm>
          <a:prstGeom prst="rect">
            <a:avLst/>
          </a:prstGeom>
        </p:spPr>
      </p:pic>
      <p:sp>
        <p:nvSpPr>
          <p:cNvPr id="338" name="path 338"/>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340" name="textbox 340"/>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
        <p:nvSpPr>
          <p:cNvPr id="342" name="textbox 342"/>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13</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textbox 344"/>
          <p:cNvSpPr/>
          <p:nvPr/>
        </p:nvSpPr>
        <p:spPr>
          <a:xfrm>
            <a:off x="504571" y="1115463"/>
            <a:ext cx="9890125" cy="4255134"/>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0" dirty="0">
                <a:solidFill>
                  <a:srgbClr val="000000">
                    <a:alpha val="100000"/>
                  </a:srgbClr>
                </a:solidFill>
                <a:latin typeface="Wingdings" panose="05000000000000000000"/>
                <a:ea typeface="Wingdings" panose="05000000000000000000"/>
                <a:cs typeface="Wingdings" panose="05000000000000000000"/>
              </a:rPr>
              <a:t>n</a:t>
            </a:r>
            <a:r>
              <a:rPr sz="2400" kern="0" spc="-1460" dirty="0">
                <a:solidFill>
                  <a:srgbClr val="000000">
                    <a:alpha val="100000"/>
                  </a:srgbClr>
                </a:solidFill>
                <a:latin typeface="Wingdings" panose="05000000000000000000"/>
                <a:ea typeface="Wingdings" panose="05000000000000000000"/>
                <a:cs typeface="Wingdings" panose="05000000000000000000"/>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Loudness of</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Perturbations or Malicious</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 Commands</a:t>
            </a:r>
            <a:endParaRPr sz="2400" dirty="0">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9000"/>
              </a:lnSpc>
            </a:pPr>
            <a:endParaRPr sz="600" dirty="0">
              <a:latin typeface="Arial" panose="020B0604020202020204"/>
              <a:ea typeface="Arial" panose="020B0604020202020204"/>
              <a:cs typeface="Arial" panose="020B0604020202020204"/>
            </a:endParaRPr>
          </a:p>
          <a:p>
            <a:pPr marL="4044315" algn="l" rtl="0" eaLnBrk="0">
              <a:lnSpc>
                <a:spcPct val="73000"/>
              </a:lnSpc>
              <a:spcBef>
                <a:spcPts val="5"/>
              </a:spcBef>
              <a:tabLst>
                <a:tab pos="4745990" algn="l"/>
              </a:tabLst>
            </a:pPr>
            <a:r>
              <a:rPr sz="2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intensity compared with Ligh</a:t>
            </a:r>
            <a:r>
              <a:rPr sz="2600" kern="0" spc="-100" dirty="0">
                <a:solidFill>
                  <a:srgbClr val="000000">
                    <a:alpha val="100000"/>
                  </a:srgbClr>
                </a:solidFill>
                <a:latin typeface="Times New Roman" panose="02020603050405020304"/>
                <a:ea typeface="Times New Roman" panose="02020603050405020304"/>
                <a:cs typeface="Times New Roman" panose="02020603050405020304"/>
              </a:rPr>
              <a:t>tCommands.</a:t>
            </a:r>
            <a:endParaRPr sz="2600" dirty="0">
              <a:latin typeface="Times New Roman" panose="02020603050405020304"/>
              <a:ea typeface="Times New Roman" panose="02020603050405020304"/>
              <a:cs typeface="Times New Roman" panose="02020603050405020304"/>
            </a:endParaRPr>
          </a:p>
        </p:txBody>
      </p:sp>
      <p:pic>
        <p:nvPicPr>
          <p:cNvPr id="346" name="picture 346"/>
          <p:cNvPicPr>
            <a:picLocks noChangeAspect="1"/>
          </p:cNvPicPr>
          <p:nvPr/>
        </p:nvPicPr>
        <p:blipFill>
          <a:blip r:embed="rId1"/>
          <a:stretch>
            <a:fillRect/>
          </a:stretch>
        </p:blipFill>
        <p:spPr>
          <a:xfrm rot="21600000">
            <a:off x="850391" y="2214371"/>
            <a:ext cx="3698748" cy="3131820"/>
          </a:xfrm>
          <a:prstGeom prst="rect">
            <a:avLst/>
          </a:prstGeom>
        </p:spPr>
      </p:pic>
      <p:sp>
        <p:nvSpPr>
          <p:cNvPr id="348" name="textbox 348"/>
          <p:cNvSpPr/>
          <p:nvPr/>
        </p:nvSpPr>
        <p:spPr>
          <a:xfrm>
            <a:off x="4911928" y="3204133"/>
            <a:ext cx="6706869" cy="314959"/>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79000"/>
              </a:lnSpc>
              <a:tabLst>
                <a:tab pos="228600" algn="l"/>
              </a:tabLst>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LaserAdv</a:t>
            </a:r>
            <a:r>
              <a:rPr sz="2400" i="1" kern="0" spc="3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requires</a:t>
            </a:r>
            <a:r>
              <a:rPr sz="2400" kern="0" spc="4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substantially</a:t>
            </a:r>
            <a:r>
              <a:rPr sz="2400" kern="0" spc="4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lower</a:t>
            </a:r>
            <a:r>
              <a:rPr sz="24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perturbation</a:t>
            </a:r>
            <a:endParaRPr sz="2400" dirty="0">
              <a:latin typeface="Times New Roman" panose="02020603050405020304"/>
              <a:ea typeface="Times New Roman" panose="02020603050405020304"/>
              <a:cs typeface="Times New Roman" panose="02020603050405020304"/>
            </a:endParaRPr>
          </a:p>
        </p:txBody>
      </p:sp>
      <p:pic>
        <p:nvPicPr>
          <p:cNvPr id="350" name="picture 350"/>
          <p:cNvPicPr>
            <a:picLocks noChangeAspect="1"/>
          </p:cNvPicPr>
          <p:nvPr/>
        </p:nvPicPr>
        <p:blipFill>
          <a:blip r:embed="rId2"/>
          <a:stretch>
            <a:fillRect/>
          </a:stretch>
        </p:blipFill>
        <p:spPr>
          <a:xfrm rot="21600000">
            <a:off x="4924628" y="3216833"/>
            <a:ext cx="216408" cy="223723"/>
          </a:xfrm>
          <a:prstGeom prst="rect">
            <a:avLst/>
          </a:prstGeom>
        </p:spPr>
      </p:pic>
      <p:pic>
        <p:nvPicPr>
          <p:cNvPr id="352" name="picture 352"/>
          <p:cNvPicPr>
            <a:picLocks noChangeAspect="1"/>
          </p:cNvPicPr>
          <p:nvPr/>
        </p:nvPicPr>
        <p:blipFill>
          <a:blip r:embed="rId3"/>
          <a:stretch>
            <a:fillRect/>
          </a:stretch>
        </p:blipFill>
        <p:spPr>
          <a:xfrm rot="21600000">
            <a:off x="8409726" y="164199"/>
            <a:ext cx="1462592" cy="467336"/>
          </a:xfrm>
          <a:prstGeom prst="rect">
            <a:avLst/>
          </a:prstGeom>
        </p:spPr>
      </p:pic>
      <p:sp>
        <p:nvSpPr>
          <p:cNvPr id="354" name="path 354"/>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356" name="textbox 356"/>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
        <p:nvSpPr>
          <p:cNvPr id="358" name="textbox 358"/>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14</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0" name="picture 360"/>
          <p:cNvPicPr>
            <a:picLocks noChangeAspect="1"/>
          </p:cNvPicPr>
          <p:nvPr/>
        </p:nvPicPr>
        <p:blipFill>
          <a:blip r:embed="rId1"/>
          <a:stretch>
            <a:fillRect/>
          </a:stretch>
        </p:blipFill>
        <p:spPr>
          <a:xfrm rot="21600000">
            <a:off x="7648956" y="2478024"/>
            <a:ext cx="4265676" cy="2151887"/>
          </a:xfrm>
          <a:prstGeom prst="rect">
            <a:avLst/>
          </a:prstGeom>
        </p:spPr>
      </p:pic>
      <p:pic>
        <p:nvPicPr>
          <p:cNvPr id="362" name="picture 362"/>
          <p:cNvPicPr>
            <a:picLocks noChangeAspect="1"/>
          </p:cNvPicPr>
          <p:nvPr/>
        </p:nvPicPr>
        <p:blipFill>
          <a:blip r:embed="rId2"/>
          <a:stretch>
            <a:fillRect/>
          </a:stretch>
        </p:blipFill>
        <p:spPr>
          <a:xfrm rot="21600000">
            <a:off x="446531" y="1937003"/>
            <a:ext cx="3262883" cy="2764536"/>
          </a:xfrm>
          <a:prstGeom prst="rect">
            <a:avLst/>
          </a:prstGeom>
        </p:spPr>
      </p:pic>
      <p:pic>
        <p:nvPicPr>
          <p:cNvPr id="364" name="picture 364"/>
          <p:cNvPicPr>
            <a:picLocks noChangeAspect="1"/>
          </p:cNvPicPr>
          <p:nvPr/>
        </p:nvPicPr>
        <p:blipFill>
          <a:blip r:embed="rId3"/>
          <a:stretch>
            <a:fillRect/>
          </a:stretch>
        </p:blipFill>
        <p:spPr>
          <a:xfrm rot="21600000">
            <a:off x="4047744" y="1978152"/>
            <a:ext cx="3262884" cy="2558795"/>
          </a:xfrm>
          <a:prstGeom prst="rect">
            <a:avLst/>
          </a:prstGeom>
        </p:spPr>
      </p:pic>
      <p:sp>
        <p:nvSpPr>
          <p:cNvPr id="366" name="textbox 366"/>
          <p:cNvSpPr/>
          <p:nvPr/>
        </p:nvSpPr>
        <p:spPr>
          <a:xfrm>
            <a:off x="895908" y="5389575"/>
            <a:ext cx="10587990" cy="721994"/>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79000"/>
              </a:lnSpc>
              <a:tabLst>
                <a:tab pos="22860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In</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a</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scenario</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where</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user</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interacts</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with</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theASR</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maximum</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attack</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distance</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of</a:t>
            </a:r>
            <a:endParaRPr sz="2400" dirty="0">
              <a:latin typeface="Times New Roman" panose="02020603050405020304"/>
              <a:ea typeface="Times New Roman" panose="02020603050405020304"/>
              <a:cs typeface="Times New Roman" panose="02020603050405020304"/>
            </a:endParaRPr>
          </a:p>
          <a:p>
            <a:pPr marL="264160" algn="l" rtl="0" eaLnBrk="0">
              <a:lnSpc>
                <a:spcPts val="3205"/>
              </a:lnSpc>
            </a:pPr>
            <a:r>
              <a:rPr sz="2400" i="1" kern="0" spc="0" dirty="0">
                <a:solidFill>
                  <a:srgbClr val="C00000">
                    <a:alpha val="100000"/>
                  </a:srgbClr>
                </a:solidFill>
                <a:latin typeface="Times New Roman" panose="02020603050405020304"/>
                <a:ea typeface="Times New Roman" panose="02020603050405020304"/>
                <a:cs typeface="Times New Roman" panose="02020603050405020304"/>
              </a:rPr>
              <a:t>LaserAdv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is</a:t>
            </a:r>
            <a:r>
              <a:rPr sz="2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C00000">
                    <a:alpha val="100000"/>
                  </a:srgbClr>
                </a:solidFill>
                <a:latin typeface="Times New Roman" panose="02020603050405020304"/>
                <a:ea typeface="Times New Roman" panose="02020603050405020304"/>
                <a:cs typeface="Times New Roman" panose="02020603050405020304"/>
              </a:rPr>
              <a:t>120 meters</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while that of</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LightCommands is 80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meters.</a:t>
            </a:r>
            <a:endParaRPr sz="2400" dirty="0">
              <a:latin typeface="Times New Roman" panose="02020603050405020304"/>
              <a:ea typeface="Times New Roman" panose="02020603050405020304"/>
              <a:cs typeface="Times New Roman" panose="02020603050405020304"/>
            </a:endParaRPr>
          </a:p>
        </p:txBody>
      </p:sp>
      <p:pic>
        <p:nvPicPr>
          <p:cNvPr id="368" name="picture 368"/>
          <p:cNvPicPr>
            <a:picLocks noChangeAspect="1"/>
          </p:cNvPicPr>
          <p:nvPr/>
        </p:nvPicPr>
        <p:blipFill>
          <a:blip r:embed="rId4"/>
          <a:stretch>
            <a:fillRect/>
          </a:stretch>
        </p:blipFill>
        <p:spPr>
          <a:xfrm rot="21600000">
            <a:off x="908608" y="5402275"/>
            <a:ext cx="216408" cy="223723"/>
          </a:xfrm>
          <a:prstGeom prst="rect">
            <a:avLst/>
          </a:prstGeom>
        </p:spPr>
      </p:pic>
      <p:sp>
        <p:nvSpPr>
          <p:cNvPr id="370" name="textbox 370"/>
          <p:cNvSpPr/>
          <p:nvPr/>
        </p:nvSpPr>
        <p:spPr>
          <a:xfrm>
            <a:off x="504571" y="1115463"/>
            <a:ext cx="3739515" cy="305434"/>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Atta</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ck Distance</a:t>
            </a:r>
            <a:endParaRPr sz="2400" dirty="0">
              <a:latin typeface="Times New Roman" panose="02020603050405020304"/>
              <a:ea typeface="Times New Roman" panose="02020603050405020304"/>
              <a:cs typeface="Times New Roman" panose="02020603050405020304"/>
            </a:endParaRPr>
          </a:p>
        </p:txBody>
      </p:sp>
      <p:sp>
        <p:nvSpPr>
          <p:cNvPr id="372" name="textbox 372"/>
          <p:cNvSpPr/>
          <p:nvPr/>
        </p:nvSpPr>
        <p:spPr>
          <a:xfrm>
            <a:off x="7928629" y="2138844"/>
            <a:ext cx="3800475" cy="259715"/>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77000"/>
              </a:lnSpc>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Comparison with Lig</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htCommands</a:t>
            </a:r>
            <a:endParaRPr sz="2000" dirty="0">
              <a:latin typeface="Times New Roman" panose="02020603050405020304"/>
              <a:ea typeface="Times New Roman" panose="02020603050405020304"/>
              <a:cs typeface="Times New Roman" panose="02020603050405020304"/>
            </a:endParaRPr>
          </a:p>
        </p:txBody>
      </p:sp>
      <p:pic>
        <p:nvPicPr>
          <p:cNvPr id="374" name="picture 374"/>
          <p:cNvPicPr>
            <a:picLocks noChangeAspect="1"/>
          </p:cNvPicPr>
          <p:nvPr/>
        </p:nvPicPr>
        <p:blipFill>
          <a:blip r:embed="rId5"/>
          <a:stretch>
            <a:fillRect/>
          </a:stretch>
        </p:blipFill>
        <p:spPr>
          <a:xfrm rot="21600000">
            <a:off x="8409726" y="164199"/>
            <a:ext cx="1462592" cy="467336"/>
          </a:xfrm>
          <a:prstGeom prst="rect">
            <a:avLst/>
          </a:prstGeom>
        </p:spPr>
      </p:pic>
      <p:sp>
        <p:nvSpPr>
          <p:cNvPr id="376" name="textbox 376"/>
          <p:cNvSpPr/>
          <p:nvPr/>
        </p:nvSpPr>
        <p:spPr>
          <a:xfrm>
            <a:off x="852224" y="4772824"/>
            <a:ext cx="2454275" cy="259079"/>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a:ea typeface="Arial" panose="020B0604020202020204"/>
              <a:cs typeface="Arial" panose="020B0604020202020204"/>
            </a:endParaRPr>
          </a:p>
          <a:p>
            <a:pPr marL="12700" algn="l" rtl="0" eaLnBrk="0">
              <a:lnSpc>
                <a:spcPct val="77000"/>
              </a:lnSpc>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Attack on smartpho</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ne</a:t>
            </a:r>
            <a:endParaRPr sz="2000" dirty="0">
              <a:latin typeface="Times New Roman" panose="02020603050405020304"/>
              <a:ea typeface="Times New Roman" panose="02020603050405020304"/>
              <a:cs typeface="Times New Roman" panose="02020603050405020304"/>
            </a:endParaRPr>
          </a:p>
        </p:txBody>
      </p:sp>
      <p:sp>
        <p:nvSpPr>
          <p:cNvPr id="378" name="path 378"/>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380" name="textbox 380"/>
          <p:cNvSpPr/>
          <p:nvPr/>
        </p:nvSpPr>
        <p:spPr>
          <a:xfrm>
            <a:off x="4735458" y="4772824"/>
            <a:ext cx="2015489" cy="259715"/>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77000"/>
              </a:lnSpc>
            </a:pP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Long range</a:t>
            </a:r>
            <a:r>
              <a:rPr sz="20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000" b="1" kern="0" spc="-10" dirty="0">
                <a:solidFill>
                  <a:srgbClr val="000000">
                    <a:alpha val="100000"/>
                  </a:srgbClr>
                </a:solidFill>
                <a:latin typeface="Times New Roman" panose="02020603050405020304"/>
                <a:ea typeface="Times New Roman" panose="02020603050405020304"/>
                <a:cs typeface="Times New Roman" panose="02020603050405020304"/>
              </a:rPr>
              <a:t>attack</a:t>
            </a:r>
            <a:endParaRPr sz="2000" dirty="0">
              <a:latin typeface="Times New Roman" panose="02020603050405020304"/>
              <a:ea typeface="Times New Roman" panose="02020603050405020304"/>
              <a:cs typeface="Times New Roman" panose="02020603050405020304"/>
            </a:endParaRPr>
          </a:p>
        </p:txBody>
      </p:sp>
      <p:sp>
        <p:nvSpPr>
          <p:cNvPr id="382" name="textbox 382"/>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
        <p:nvSpPr>
          <p:cNvPr id="384" name="textbox 384"/>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15</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6" name="picture 386"/>
          <p:cNvPicPr>
            <a:picLocks noChangeAspect="1"/>
          </p:cNvPicPr>
          <p:nvPr/>
        </p:nvPicPr>
        <p:blipFill>
          <a:blip r:embed="rId1"/>
          <a:stretch>
            <a:fillRect/>
          </a:stretch>
        </p:blipFill>
        <p:spPr>
          <a:xfrm rot="21600000">
            <a:off x="2731007" y="1766316"/>
            <a:ext cx="6141720" cy="3325367"/>
          </a:xfrm>
          <a:prstGeom prst="rect">
            <a:avLst/>
          </a:prstGeom>
        </p:spPr>
      </p:pic>
      <p:sp>
        <p:nvSpPr>
          <p:cNvPr id="388" name="textbox 388"/>
          <p:cNvSpPr/>
          <p:nvPr/>
        </p:nvSpPr>
        <p:spPr>
          <a:xfrm>
            <a:off x="1243685" y="5351226"/>
            <a:ext cx="8604250" cy="722630"/>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81000"/>
              </a:lnSpc>
              <a:tabLst>
                <a:tab pos="22860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 attack on Honor and Samsung yields the most favora</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ble results.</a:t>
            </a:r>
            <a:endParaRPr sz="2400" dirty="0">
              <a:latin typeface="Times New Roman" panose="02020603050405020304"/>
              <a:ea typeface="Times New Roman" panose="02020603050405020304"/>
              <a:cs typeface="Times New Roman" panose="02020603050405020304"/>
            </a:endParaRPr>
          </a:p>
          <a:p>
            <a:pPr algn="l" rtl="0" eaLnBrk="0">
              <a:lnSpc>
                <a:spcPct val="105000"/>
              </a:lnSpc>
            </a:pPr>
            <a:endParaRPr sz="7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2700" algn="l" rtl="0" eaLnBrk="0">
              <a:lnSpc>
                <a:spcPct val="79000"/>
              </a:lnSpc>
              <a:tabLst>
                <a:tab pos="22860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The success rate exceeds</a:t>
            </a:r>
            <a:r>
              <a:rPr sz="24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7</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2400" dirty="0">
              <a:latin typeface="Times New Roman" panose="02020603050405020304"/>
              <a:ea typeface="Times New Roman" panose="02020603050405020304"/>
              <a:cs typeface="Times New Roman" panose="02020603050405020304"/>
            </a:endParaRPr>
          </a:p>
        </p:txBody>
      </p:sp>
      <p:pic>
        <p:nvPicPr>
          <p:cNvPr id="390" name="picture 390"/>
          <p:cNvPicPr>
            <a:picLocks noChangeAspect="1"/>
          </p:cNvPicPr>
          <p:nvPr/>
        </p:nvPicPr>
        <p:blipFill>
          <a:blip r:embed="rId2"/>
          <a:stretch>
            <a:fillRect/>
          </a:stretch>
        </p:blipFill>
        <p:spPr>
          <a:xfrm rot="21600000">
            <a:off x="1256385" y="5771388"/>
            <a:ext cx="216408" cy="223723"/>
          </a:xfrm>
          <a:prstGeom prst="rect">
            <a:avLst/>
          </a:prstGeom>
        </p:spPr>
      </p:pic>
      <p:pic>
        <p:nvPicPr>
          <p:cNvPr id="392" name="picture 392"/>
          <p:cNvPicPr>
            <a:picLocks noChangeAspect="1"/>
          </p:cNvPicPr>
          <p:nvPr/>
        </p:nvPicPr>
        <p:blipFill>
          <a:blip r:embed="rId3"/>
          <a:stretch>
            <a:fillRect/>
          </a:stretch>
        </p:blipFill>
        <p:spPr>
          <a:xfrm rot="21600000">
            <a:off x="1256411" y="5363926"/>
            <a:ext cx="216624" cy="223946"/>
          </a:xfrm>
          <a:prstGeom prst="rect">
            <a:avLst/>
          </a:prstGeom>
        </p:spPr>
      </p:pic>
      <p:sp>
        <p:nvSpPr>
          <p:cNvPr id="394" name="textbox 394"/>
          <p:cNvSpPr/>
          <p:nvPr/>
        </p:nvSpPr>
        <p:spPr>
          <a:xfrm>
            <a:off x="504571" y="1115463"/>
            <a:ext cx="4807584" cy="305434"/>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12700" algn="l" rtl="0" eaLnBrk="0">
              <a:lnSpc>
                <a:spcPct val="77000"/>
              </a:lnSpc>
            </a:pPr>
            <a:r>
              <a:rPr sz="2400" kern="0" spc="0" dirty="0">
                <a:solidFill>
                  <a:srgbClr val="000000">
                    <a:alpha val="100000"/>
                  </a:srgbClr>
                </a:solidFill>
                <a:latin typeface="Wingdings" panose="05000000000000000000"/>
                <a:ea typeface="Wingdings" panose="05000000000000000000"/>
                <a:cs typeface="Wingdings" panose="05000000000000000000"/>
              </a:rPr>
              <a:t>n</a:t>
            </a:r>
            <a:r>
              <a:rPr sz="2400" kern="0" spc="-1450" dirty="0">
                <a:solidFill>
                  <a:srgbClr val="000000">
                    <a:alpha val="100000"/>
                  </a:srgbClr>
                </a:solidFill>
                <a:latin typeface="Wingdings" panose="05000000000000000000"/>
                <a:ea typeface="Wingdings" panose="05000000000000000000"/>
                <a:cs typeface="Wingdings" panose="05000000000000000000"/>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Impact of</a:t>
            </a:r>
            <a:r>
              <a:rPr sz="24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Differ</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ent Smart Devices</a:t>
            </a:r>
            <a:endParaRPr sz="2400" dirty="0">
              <a:latin typeface="Times New Roman" panose="02020603050405020304"/>
              <a:ea typeface="Times New Roman" panose="02020603050405020304"/>
              <a:cs typeface="Times New Roman" panose="02020603050405020304"/>
            </a:endParaRPr>
          </a:p>
        </p:txBody>
      </p:sp>
      <p:pic>
        <p:nvPicPr>
          <p:cNvPr id="396" name="picture 396"/>
          <p:cNvPicPr>
            <a:picLocks noChangeAspect="1"/>
          </p:cNvPicPr>
          <p:nvPr/>
        </p:nvPicPr>
        <p:blipFill>
          <a:blip r:embed="rId4"/>
          <a:stretch>
            <a:fillRect/>
          </a:stretch>
        </p:blipFill>
        <p:spPr>
          <a:xfrm rot="21600000">
            <a:off x="8409726" y="164199"/>
            <a:ext cx="1462592" cy="467336"/>
          </a:xfrm>
          <a:prstGeom prst="rect">
            <a:avLst/>
          </a:prstGeom>
        </p:spPr>
      </p:pic>
      <p:sp>
        <p:nvSpPr>
          <p:cNvPr id="398" name="path 398"/>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400" name="textbox 400"/>
          <p:cNvSpPr/>
          <p:nvPr/>
        </p:nvSpPr>
        <p:spPr>
          <a:xfrm>
            <a:off x="301640" y="257443"/>
            <a:ext cx="1680845" cy="31115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69000"/>
              </a:lnSpc>
            </a:pPr>
            <a:r>
              <a:rPr sz="2700" b="1" kern="0" spc="40" dirty="0">
                <a:solidFill>
                  <a:srgbClr val="000000">
                    <a:alpha val="100000"/>
                  </a:srgbClr>
                </a:solidFill>
                <a:latin typeface="Times New Roman" panose="02020603050405020304"/>
                <a:ea typeface="Times New Roman" panose="02020603050405020304"/>
                <a:cs typeface="Times New Roman" panose="02020603050405020304"/>
              </a:rPr>
              <a:t>Evaluation</a:t>
            </a:r>
            <a:endParaRPr sz="2700" dirty="0">
              <a:latin typeface="Times New Roman" panose="02020603050405020304"/>
              <a:ea typeface="Times New Roman" panose="02020603050405020304"/>
              <a:cs typeface="Times New Roman" panose="02020603050405020304"/>
            </a:endParaRPr>
          </a:p>
        </p:txBody>
      </p:sp>
      <p:sp>
        <p:nvSpPr>
          <p:cNvPr id="402" name="textbox 402"/>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16</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textbox 404"/>
          <p:cNvSpPr/>
          <p:nvPr/>
        </p:nvSpPr>
        <p:spPr>
          <a:xfrm>
            <a:off x="898347" y="1717598"/>
            <a:ext cx="10424794" cy="407733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344170" indent="-332105" algn="l" rtl="0" eaLnBrk="0">
              <a:lnSpc>
                <a:spcPct val="119000"/>
              </a:lnSpc>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70" dirty="0">
                <a:solidFill>
                  <a:srgbClr val="000000">
                    <a:alpha val="100000"/>
                  </a:srgbClr>
                </a:solidFill>
                <a:latin typeface="Wingdings" panose="05000000000000000000"/>
                <a:ea typeface="Wingdings" panose="05000000000000000000"/>
                <a:cs typeface="Wingdings" panose="05000000000000000000"/>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We</a:t>
            </a:r>
            <a:r>
              <a:rPr sz="24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introduce </a:t>
            </a:r>
            <a:r>
              <a:rPr sz="2400" i="1" kern="0" spc="-10" dirty="0">
                <a:solidFill>
                  <a:srgbClr val="000000">
                    <a:alpha val="100000"/>
                  </a:srgbClr>
                </a:solidFill>
                <a:latin typeface="Times New Roman" panose="02020603050405020304"/>
                <a:ea typeface="Times New Roman" panose="02020603050405020304"/>
                <a:cs typeface="Times New Roman" panose="02020603050405020304"/>
              </a:rPr>
              <a:t>LaserAdv</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new</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method</a:t>
            </a:r>
            <a:r>
              <a:rPr sz="2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for</a:t>
            </a:r>
            <a:r>
              <a:rPr sz="24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launching</a:t>
            </a:r>
            <a:r>
              <a:rPr sz="2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adversarial</a:t>
            </a:r>
            <a:r>
              <a:rPr sz="2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attacks</a:t>
            </a:r>
            <a:r>
              <a:rPr sz="24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on</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ASR</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systems via laser p</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erturbations.</a:t>
            </a:r>
            <a:endParaRPr sz="2400" dirty="0">
              <a:latin typeface="Times New Roman" panose="02020603050405020304"/>
              <a:ea typeface="Times New Roman" panose="02020603050405020304"/>
              <a:cs typeface="Times New Roman" panose="020206030504050203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339725" indent="-327660" algn="l" rtl="0" eaLnBrk="0">
              <a:lnSpc>
                <a:spcPct val="119000"/>
              </a:lnSpc>
              <a:spcBef>
                <a:spcPts val="720"/>
              </a:spcBef>
            </a:pPr>
            <a:r>
              <a:rPr sz="2400" kern="0" spc="-20" dirty="0">
                <a:solidFill>
                  <a:srgbClr val="000000">
                    <a:alpha val="100000"/>
                  </a:srgbClr>
                </a:solidFill>
                <a:latin typeface="Wingdings" panose="05000000000000000000"/>
                <a:ea typeface="Wingdings" panose="05000000000000000000"/>
                <a:cs typeface="Wingdings" panose="05000000000000000000"/>
              </a:rPr>
              <a:t>n</a:t>
            </a:r>
            <a:r>
              <a:rPr sz="2400" kern="0" spc="-1420" dirty="0">
                <a:solidFill>
                  <a:srgbClr val="000000">
                    <a:alpha val="100000"/>
                  </a:srgbClr>
                </a:solidFill>
                <a:latin typeface="Wingdings" panose="05000000000000000000"/>
                <a:ea typeface="Wingdings" panose="05000000000000000000"/>
                <a:cs typeface="Wingdings" panose="05000000000000000000"/>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We</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propose</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a:t>
            </a:r>
            <a:r>
              <a:rPr sz="24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SAE-TFI</a:t>
            </a:r>
            <a:r>
              <a:rPr sz="24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method</a:t>
            </a:r>
            <a:r>
              <a:rPr sz="2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and</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further</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optimized</a:t>
            </a:r>
            <a:r>
              <a:rPr sz="24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IAP</a:t>
            </a:r>
            <a:r>
              <a:rPr sz="24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generation</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objective function to facilitate more practical at</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tack scenarios.</a:t>
            </a:r>
            <a:endParaRPr sz="2400" dirty="0">
              <a:latin typeface="Times New Roman" panose="02020603050405020304"/>
              <a:ea typeface="Times New Roman" panose="02020603050405020304"/>
              <a:cs typeface="Times New Roman" panose="020206030504050203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332740" indent="-320040" algn="l" rtl="0" eaLnBrk="0">
              <a:lnSpc>
                <a:spcPct val="133000"/>
              </a:lnSpc>
              <a:spcBef>
                <a:spcPts val="0"/>
              </a:spcBef>
            </a:pPr>
            <a:r>
              <a:rPr sz="2400" kern="0" spc="0" dirty="0">
                <a:solidFill>
                  <a:srgbClr val="000000">
                    <a:alpha val="100000"/>
                  </a:srgbClr>
                </a:solidFill>
                <a:latin typeface="Wingdings" panose="05000000000000000000"/>
                <a:ea typeface="Wingdings" panose="05000000000000000000"/>
                <a:cs typeface="Wingdings" panose="05000000000000000000"/>
              </a:rPr>
              <a:t>n</a:t>
            </a:r>
            <a:r>
              <a:rPr sz="2400" kern="0" spc="-1420" dirty="0">
                <a:solidFill>
                  <a:srgbClr val="000000">
                    <a:alpha val="100000"/>
                  </a:srgbClr>
                </a:solidFill>
                <a:latin typeface="Wingdings" panose="05000000000000000000"/>
                <a:ea typeface="Wingdings" panose="05000000000000000000"/>
                <a:cs typeface="Wingdings" panose="05000000000000000000"/>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Our</a:t>
            </a:r>
            <a:r>
              <a:rPr sz="2400" kern="0" spc="4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evalua</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tion</a:t>
            </a:r>
            <a:r>
              <a:rPr sz="24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results</a:t>
            </a:r>
            <a:r>
              <a:rPr sz="2400" kern="0" spc="4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show</a:t>
            </a:r>
            <a:r>
              <a:rPr sz="24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the</a:t>
            </a:r>
            <a:r>
              <a:rPr sz="24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potential</a:t>
            </a:r>
            <a:r>
              <a:rPr sz="2400" kern="0" spc="4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of </a:t>
            </a:r>
            <a:r>
              <a:rPr sz="2400" i="1" kern="0" spc="-10" dirty="0">
                <a:solidFill>
                  <a:srgbClr val="000000">
                    <a:alpha val="100000"/>
                  </a:srgbClr>
                </a:solidFill>
                <a:latin typeface="Times New Roman" panose="02020603050405020304"/>
                <a:ea typeface="Times New Roman" panose="02020603050405020304"/>
                <a:cs typeface="Times New Roman" panose="02020603050405020304"/>
              </a:rPr>
              <a:t>LaserAdv</a:t>
            </a:r>
            <a:r>
              <a:rPr sz="2400" i="1" kern="0" spc="4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in</a:t>
            </a:r>
            <a:r>
              <a:rPr sz="2400" kern="0" spc="4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successfully</a:t>
            </a:r>
            <a:r>
              <a:rPr sz="2400" kern="0" spc="4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attacking</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three systems, including DeepSpeech, iFlytek and Whisper. In the presence of</a:t>
            </a:r>
            <a:r>
              <a:rPr sz="2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user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speech, the m</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aximum distance can be up to</a:t>
            </a:r>
            <a:r>
              <a:rPr sz="24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120 m.</a:t>
            </a:r>
            <a:endParaRPr sz="2400" dirty="0">
              <a:latin typeface="Times New Roman" panose="02020603050405020304"/>
              <a:ea typeface="Times New Roman" panose="02020603050405020304"/>
              <a:cs typeface="Times New Roman" panose="02020603050405020304"/>
            </a:endParaRPr>
          </a:p>
        </p:txBody>
      </p:sp>
      <p:pic>
        <p:nvPicPr>
          <p:cNvPr id="406" name="picture 406"/>
          <p:cNvPicPr>
            <a:picLocks noChangeAspect="1"/>
          </p:cNvPicPr>
          <p:nvPr/>
        </p:nvPicPr>
        <p:blipFill>
          <a:blip r:embed="rId1"/>
          <a:stretch>
            <a:fillRect/>
          </a:stretch>
        </p:blipFill>
        <p:spPr>
          <a:xfrm rot="21600000">
            <a:off x="8409726" y="164199"/>
            <a:ext cx="1462592" cy="467336"/>
          </a:xfrm>
          <a:prstGeom prst="rect">
            <a:avLst/>
          </a:prstGeom>
        </p:spPr>
      </p:pic>
      <p:sp>
        <p:nvSpPr>
          <p:cNvPr id="408" name="path 408"/>
          <p:cNvSpPr/>
          <p:nvPr/>
        </p:nvSpPr>
        <p:spPr>
          <a:xfrm>
            <a:off x="217164" y="717804"/>
            <a:ext cx="11760210" cy="41274"/>
          </a:xfrm>
          <a:custGeom>
            <a:avLst/>
            <a:gdLst/>
            <a:ahLst/>
            <a:cxnLst/>
            <a:rect l="0" t="0" r="0" b="0"/>
            <a:pathLst>
              <a:path w="18520" h="64">
                <a:moveTo>
                  <a:pt x="18520" y="30"/>
                </a:moveTo>
                <a:lnTo>
                  <a:pt x="0" y="34"/>
                </a:lnTo>
              </a:path>
            </a:pathLst>
          </a:custGeom>
          <a:noFill/>
          <a:ln w="38100" cap="flat">
            <a:solidFill>
              <a:srgbClr val="BA0000"/>
            </a:solidFill>
            <a:prstDash val="solid"/>
            <a:miter lim="1000000"/>
          </a:ln>
        </p:spPr>
        <p:txBody>
          <a:bodyPr rtlCol="0"/>
          <a:lstStyle/>
          <a:p>
            <a:pPr algn="ctr"/>
            <a:endParaRPr lang="zh-CN" altLang="en-US"/>
          </a:p>
        </p:txBody>
      </p:sp>
      <p:sp>
        <p:nvSpPr>
          <p:cNvPr id="410" name="textbox 410"/>
          <p:cNvSpPr/>
          <p:nvPr/>
        </p:nvSpPr>
        <p:spPr>
          <a:xfrm>
            <a:off x="308742" y="257443"/>
            <a:ext cx="1712595" cy="311784"/>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a:ea typeface="Arial" panose="020B0604020202020204"/>
              <a:cs typeface="Arial" panose="020B0604020202020204"/>
            </a:endParaRPr>
          </a:p>
          <a:p>
            <a:pPr marL="12700" algn="l" rtl="0" eaLnBrk="0">
              <a:lnSpc>
                <a:spcPct val="70000"/>
              </a:lnSpc>
            </a:pPr>
            <a:r>
              <a:rPr sz="2700" b="1" kern="0" spc="30" dirty="0">
                <a:solidFill>
                  <a:srgbClr val="000000">
                    <a:alpha val="100000"/>
                  </a:srgbClr>
                </a:solidFill>
                <a:latin typeface="Times New Roman" panose="02020603050405020304"/>
                <a:ea typeface="Times New Roman" panose="02020603050405020304"/>
                <a:cs typeface="Times New Roman" panose="02020603050405020304"/>
              </a:rPr>
              <a:t>Conclusion</a:t>
            </a:r>
            <a:endParaRPr sz="2700" dirty="0">
              <a:latin typeface="Times New Roman" panose="02020603050405020304"/>
              <a:ea typeface="Times New Roman" panose="02020603050405020304"/>
              <a:cs typeface="Times New Roman" panose="02020603050405020304"/>
            </a:endParaRPr>
          </a:p>
        </p:txBody>
      </p:sp>
      <p:sp>
        <p:nvSpPr>
          <p:cNvPr id="412" name="textbox 412"/>
          <p:cNvSpPr/>
          <p:nvPr/>
        </p:nvSpPr>
        <p:spPr>
          <a:xfrm>
            <a:off x="11089385" y="6454546"/>
            <a:ext cx="184785" cy="18478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1200" b="1" kern="0" spc="-30" dirty="0">
                <a:solidFill>
                  <a:srgbClr val="000000">
                    <a:alpha val="100000"/>
                  </a:srgbClr>
                </a:solidFill>
                <a:latin typeface="等线" panose="02010600030101010101" charset="-122"/>
                <a:ea typeface="等线" panose="02010600030101010101" charset="-122"/>
                <a:cs typeface="等线" panose="02010600030101010101" charset="-122"/>
              </a:rPr>
              <a:t>17</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extbox 414"/>
          <p:cNvSpPr/>
          <p:nvPr/>
        </p:nvSpPr>
        <p:spPr>
          <a:xfrm>
            <a:off x="2244883" y="4464929"/>
            <a:ext cx="7730490" cy="1628139"/>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834390" algn="l" rtl="0" eaLnBrk="0">
              <a:lnSpc>
                <a:spcPct val="82000"/>
              </a:lnSpc>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Guoming Zhang</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Xiaohui Ma</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Huiting Zhang</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Zhijie Xiang</a:t>
            </a:r>
            <a:r>
              <a:rPr sz="2000" kern="0" spc="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2000" dirty="0">
              <a:latin typeface="Times New Roman" panose="02020603050405020304"/>
              <a:ea typeface="Times New Roman" panose="02020603050405020304"/>
              <a:cs typeface="Times New Roman" panose="02020603050405020304"/>
            </a:endParaRPr>
          </a:p>
          <a:p>
            <a:pPr marL="1069975" algn="l" rtl="0" eaLnBrk="0">
              <a:lnSpc>
                <a:spcPts val="3000"/>
              </a:lnSpc>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Xiaoyu Ji</a:t>
            </a:r>
            <a:r>
              <a:rPr sz="2000" kern="0" spc="-1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Yanni Yang</a:t>
            </a:r>
            <a:r>
              <a:rPr sz="2000" kern="0" spc="-1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 Xiuzhen Cheng</a:t>
            </a:r>
            <a:r>
              <a:rPr sz="2000" kern="0" spc="-1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and Peng</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fei Hu</a:t>
            </a:r>
            <a:r>
              <a:rPr sz="2000" kern="0" spc="-20" baseline="22000" dirty="0">
                <a:solidFill>
                  <a:srgbClr val="000000">
                    <a:alpha val="100000"/>
                  </a:srgbClr>
                </a:solidFill>
                <a:latin typeface="Times New Roman" panose="02020603050405020304"/>
                <a:ea typeface="Times New Roman" panose="02020603050405020304"/>
                <a:cs typeface="Times New Roman" panose="02020603050405020304"/>
              </a:rPr>
              <a:t>1</a:t>
            </a:r>
            <a:endParaRPr sz="2000" baseline="22000" dirty="0">
              <a:latin typeface="Times New Roman" panose="02020603050405020304"/>
              <a:ea typeface="Times New Roman" panose="02020603050405020304"/>
              <a:cs typeface="Times New Roman" panose="02020603050405020304"/>
            </a:endParaRPr>
          </a:p>
          <a:p>
            <a:pPr marL="1442085" algn="l" rtl="0" eaLnBrk="0">
              <a:lnSpc>
                <a:spcPct val="87000"/>
              </a:lnSpc>
              <a:spcBef>
                <a:spcPts val="1275"/>
              </a:spcBef>
            </a:pPr>
            <a:r>
              <a:rPr sz="1600" kern="0" spc="3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10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Shandong University,</a:t>
            </a:r>
            <a:r>
              <a:rPr sz="15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China    </a:t>
            </a:r>
            <a:r>
              <a:rPr sz="1600" kern="0" spc="30" baseline="29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Zhejiang University,</a:t>
            </a:r>
            <a:r>
              <a:rPr sz="15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500" kern="0" spc="30" dirty="0">
                <a:solidFill>
                  <a:srgbClr val="000000">
                    <a:alpha val="100000"/>
                  </a:srgbClr>
                </a:solidFill>
                <a:latin typeface="Times New Roman" panose="02020603050405020304"/>
                <a:ea typeface="Times New Roman" panose="02020603050405020304"/>
                <a:cs typeface="Times New Roman" panose="02020603050405020304"/>
              </a:rPr>
              <a:t>China</a:t>
            </a:r>
            <a:endParaRPr sz="1500" dirty="0">
              <a:latin typeface="Times New Roman" panose="02020603050405020304"/>
              <a:ea typeface="Times New Roman" panose="02020603050405020304"/>
              <a:cs typeface="Times New Roman" panose="02020603050405020304"/>
            </a:endParaRPr>
          </a:p>
          <a:p>
            <a:pPr marL="12700" algn="l" rtl="0" eaLnBrk="0">
              <a:lnSpc>
                <a:spcPct val="82000"/>
              </a:lnSpc>
              <a:spcBef>
                <a:spcPts val="940"/>
              </a:spcBef>
            </a:pPr>
            <a:r>
              <a:rPr sz="1500" kern="0" spc="50" dirty="0">
                <a:solidFill>
                  <a:srgbClr val="000000">
                    <a:alpha val="100000"/>
                  </a:srgbClr>
                </a:solidFill>
                <a:latin typeface="Times New Roman" panose="02020603050405020304"/>
                <a:ea typeface="Times New Roman" panose="02020603050405020304"/>
                <a:cs typeface="Times New Roman" panose="02020603050405020304"/>
              </a:rPr>
              <a:t>{guomingzhang, ma</a:t>
            </a:r>
            <a:r>
              <a:rPr sz="1500" kern="0" spc="40" dirty="0">
                <a:solidFill>
                  <a:srgbClr val="000000">
                    <a:alpha val="100000"/>
                  </a:srgbClr>
                </a:solidFill>
                <a:latin typeface="Times New Roman" panose="02020603050405020304"/>
                <a:ea typeface="Times New Roman" panose="02020603050405020304"/>
                <a:cs typeface="Times New Roman" panose="02020603050405020304"/>
              </a:rPr>
              <a:t>xiaohui, zhanghuiting, xiangzhijie, yanniyang, xzcheng, phu}@sdu.edu.cn</a:t>
            </a:r>
            <a:endParaRPr sz="1500" dirty="0">
              <a:latin typeface="Times New Roman" panose="02020603050405020304"/>
              <a:ea typeface="Times New Roman" panose="02020603050405020304"/>
              <a:cs typeface="Times New Roman" panose="02020603050405020304"/>
            </a:endParaRPr>
          </a:p>
          <a:p>
            <a:pPr algn="l" rtl="0" eaLnBrk="0">
              <a:lnSpc>
                <a:spcPct val="110000"/>
              </a:lnSpc>
            </a:pPr>
            <a:endParaRPr sz="700" dirty="0">
              <a:latin typeface="Arial" panose="020B0604020202020204"/>
              <a:ea typeface="Arial" panose="020B0604020202020204"/>
              <a:cs typeface="Arial" panose="020B0604020202020204"/>
            </a:endParaRPr>
          </a:p>
          <a:p>
            <a:pPr marL="3234690" algn="l" rtl="0" eaLnBrk="0">
              <a:lnSpc>
                <a:spcPct val="82000"/>
              </a:lnSpc>
            </a:pPr>
            <a:r>
              <a:rPr sz="1500" kern="0" spc="0" dirty="0">
                <a:solidFill>
                  <a:srgbClr val="000000">
                    <a:alpha val="100000"/>
                  </a:srgbClr>
                </a:solidFill>
                <a:latin typeface="Times New Roman" panose="02020603050405020304"/>
                <a:ea typeface="Times New Roman" panose="02020603050405020304"/>
                <a:cs typeface="Times New Roman" panose="02020603050405020304"/>
              </a:rPr>
              <a:t>xji</a:t>
            </a:r>
            <a:r>
              <a:rPr sz="1500" kern="0" spc="180" dirty="0">
                <a:solidFill>
                  <a:srgbClr val="000000">
                    <a:alpha val="100000"/>
                  </a:srgbClr>
                </a:solidFill>
                <a:latin typeface="Times New Roman" panose="02020603050405020304"/>
                <a:ea typeface="Times New Roman" panose="02020603050405020304"/>
                <a:cs typeface="Times New Roman" panose="02020603050405020304"/>
              </a:rPr>
              <a:t>@</a:t>
            </a:r>
            <a:r>
              <a:rPr sz="1500" kern="0" spc="0" dirty="0">
                <a:solidFill>
                  <a:srgbClr val="000000">
                    <a:alpha val="100000"/>
                  </a:srgbClr>
                </a:solidFill>
                <a:latin typeface="Times New Roman" panose="02020603050405020304"/>
                <a:ea typeface="Times New Roman" panose="02020603050405020304"/>
                <a:cs typeface="Times New Roman" panose="02020603050405020304"/>
              </a:rPr>
              <a:t>zju</a:t>
            </a:r>
            <a:r>
              <a:rPr sz="1500" kern="0" spc="180" dirty="0">
                <a:solidFill>
                  <a:srgbClr val="000000">
                    <a:alpha val="100000"/>
                  </a:srgbClr>
                </a:solidFill>
                <a:latin typeface="Times New Roman" panose="02020603050405020304"/>
                <a:ea typeface="Times New Roman" panose="02020603050405020304"/>
                <a:cs typeface="Times New Roman" panose="02020603050405020304"/>
              </a:rPr>
              <a:t>.</a:t>
            </a:r>
            <a:r>
              <a:rPr sz="1500" kern="0" spc="0" dirty="0">
                <a:solidFill>
                  <a:srgbClr val="000000">
                    <a:alpha val="100000"/>
                  </a:srgbClr>
                </a:solidFill>
                <a:latin typeface="Times New Roman" panose="02020603050405020304"/>
                <a:ea typeface="Times New Roman" panose="02020603050405020304"/>
                <a:cs typeface="Times New Roman" panose="02020603050405020304"/>
              </a:rPr>
              <a:t>edu</a:t>
            </a:r>
            <a:r>
              <a:rPr sz="1500" kern="0" spc="180" dirty="0">
                <a:solidFill>
                  <a:srgbClr val="000000">
                    <a:alpha val="100000"/>
                  </a:srgbClr>
                </a:solidFill>
                <a:latin typeface="Times New Roman" panose="02020603050405020304"/>
                <a:ea typeface="Times New Roman" panose="02020603050405020304"/>
                <a:cs typeface="Times New Roman" panose="02020603050405020304"/>
              </a:rPr>
              <a:t>.</a:t>
            </a:r>
            <a:r>
              <a:rPr sz="1500" kern="0" spc="0" dirty="0">
                <a:solidFill>
                  <a:srgbClr val="000000">
                    <a:alpha val="100000"/>
                  </a:srgbClr>
                </a:solidFill>
                <a:latin typeface="Times New Roman" panose="02020603050405020304"/>
                <a:ea typeface="Times New Roman" panose="02020603050405020304"/>
                <a:cs typeface="Times New Roman" panose="02020603050405020304"/>
              </a:rPr>
              <a:t>cn</a:t>
            </a:r>
            <a:endParaRPr sz="1500" dirty="0">
              <a:latin typeface="Times New Roman" panose="02020603050405020304"/>
              <a:ea typeface="Times New Roman" panose="02020603050405020304"/>
              <a:cs typeface="Times New Roman" panose="02020603050405020304"/>
            </a:endParaRPr>
          </a:p>
        </p:txBody>
      </p:sp>
      <p:sp>
        <p:nvSpPr>
          <p:cNvPr id="416" name="textbox 416"/>
          <p:cNvSpPr/>
          <p:nvPr/>
        </p:nvSpPr>
        <p:spPr>
          <a:xfrm>
            <a:off x="2346132" y="2365066"/>
            <a:ext cx="7653019" cy="1588135"/>
          </a:xfrm>
          <a:prstGeom prst="rect">
            <a:avLst/>
          </a:prstGeom>
          <a:noFill/>
          <a:ln w="0" cap="flat">
            <a:noFill/>
            <a:prstDash val="solid"/>
            <a:miter lim="0"/>
          </a:ln>
        </p:spPr>
        <p:txBody>
          <a:bodyPr vert="horz" wrap="square" lIns="0" tIns="0" rIns="0" bIns="0"/>
          <a:lstStyle/>
          <a:p>
            <a:pPr algn="l" rtl="0" eaLnBrk="0">
              <a:lnSpc>
                <a:spcPct val="68000"/>
              </a:lnSpc>
            </a:pPr>
            <a:endParaRPr sz="100" dirty="0">
              <a:latin typeface="Arial" panose="020B0604020202020204"/>
              <a:ea typeface="Arial" panose="020B0604020202020204"/>
              <a:cs typeface="Arial" panose="020B0604020202020204"/>
            </a:endParaRPr>
          </a:p>
          <a:p>
            <a:pPr marL="12700" algn="l" rtl="0" eaLnBrk="0">
              <a:lnSpc>
                <a:spcPct val="77000"/>
              </a:lnSpc>
            </a:pPr>
            <a:r>
              <a:rPr sz="5400" b="1" kern="0" spc="-10" dirty="0">
                <a:solidFill>
                  <a:srgbClr val="000000">
                    <a:alpha val="100000"/>
                  </a:srgbClr>
                </a:solidFill>
                <a:latin typeface="Times New Roman" panose="02020603050405020304"/>
                <a:ea typeface="Times New Roman" panose="02020603050405020304"/>
                <a:cs typeface="Times New Roman" panose="02020603050405020304"/>
              </a:rPr>
              <a:t>Thanks fo</a:t>
            </a:r>
            <a:r>
              <a:rPr sz="5400" b="1" kern="0" spc="-20" dirty="0">
                <a:solidFill>
                  <a:srgbClr val="000000">
                    <a:alpha val="100000"/>
                  </a:srgbClr>
                </a:solidFill>
                <a:latin typeface="Times New Roman" panose="02020603050405020304"/>
                <a:ea typeface="Times New Roman" panose="02020603050405020304"/>
                <a:cs typeface="Times New Roman" panose="02020603050405020304"/>
              </a:rPr>
              <a:t>r your listening!</a:t>
            </a:r>
            <a:endParaRPr sz="5400" dirty="0">
              <a:latin typeface="Times New Roman" panose="02020603050405020304"/>
              <a:ea typeface="Times New Roman" panose="02020603050405020304"/>
              <a:cs typeface="Times New Roman" panose="02020603050405020304"/>
            </a:endParaRPr>
          </a:p>
          <a:p>
            <a:pPr algn="l" rtl="0" eaLnBrk="0">
              <a:lnSpc>
                <a:spcPct val="100000"/>
              </a:lnSpc>
            </a:pPr>
            <a:endParaRPr sz="2100" dirty="0">
              <a:latin typeface="Arial" panose="020B0604020202020204"/>
              <a:ea typeface="Arial" panose="020B0604020202020204"/>
              <a:cs typeface="Arial" panose="020B0604020202020204"/>
            </a:endParaRPr>
          </a:p>
          <a:p>
            <a:pPr algn="l" rtl="0" eaLnBrk="0">
              <a:lnSpc>
                <a:spcPct val="13000"/>
              </a:lnSpc>
            </a:pPr>
            <a:endParaRPr sz="100" dirty="0">
              <a:latin typeface="Arial" panose="020B0604020202020204"/>
              <a:ea typeface="Arial" panose="020B0604020202020204"/>
              <a:cs typeface="Arial" panose="020B0604020202020204"/>
            </a:endParaRPr>
          </a:p>
          <a:p>
            <a:pPr marL="2887345" algn="l" rtl="0" eaLnBrk="0">
              <a:lnSpc>
                <a:spcPct val="74000"/>
              </a:lnSpc>
            </a:pPr>
            <a:r>
              <a:rPr sz="5400" b="1" kern="0" spc="740" dirty="0">
                <a:solidFill>
                  <a:srgbClr val="000000">
                    <a:alpha val="100000"/>
                  </a:srgbClr>
                </a:solidFill>
                <a:latin typeface="Times New Roman" panose="02020603050405020304"/>
                <a:ea typeface="Times New Roman" panose="02020603050405020304"/>
                <a:cs typeface="Times New Roman" panose="02020603050405020304"/>
              </a:rPr>
              <a:t>Q&amp;A</a:t>
            </a:r>
            <a:endParaRPr sz="5400" dirty="0">
              <a:latin typeface="Times New Roman" panose="02020603050405020304"/>
              <a:ea typeface="Times New Roman" panose="02020603050405020304"/>
              <a:cs typeface="Times New Roman" panose="02020603050405020304"/>
            </a:endParaRPr>
          </a:p>
        </p:txBody>
      </p:sp>
      <p:pic>
        <p:nvPicPr>
          <p:cNvPr id="418" name="picture 418"/>
          <p:cNvPicPr>
            <a:picLocks noChangeAspect="1"/>
          </p:cNvPicPr>
          <p:nvPr/>
        </p:nvPicPr>
        <p:blipFill>
          <a:blip r:embed="rId1"/>
          <a:stretch>
            <a:fillRect/>
          </a:stretch>
        </p:blipFill>
        <p:spPr>
          <a:xfrm rot="21600000">
            <a:off x="598931" y="347471"/>
            <a:ext cx="4155948" cy="1321308"/>
          </a:xfrm>
          <a:prstGeom prst="rect">
            <a:avLst/>
          </a:prstGeom>
        </p:spPr>
      </p:pic>
      <p:sp>
        <p:nvSpPr>
          <p:cNvPr id="420" name="path 420"/>
          <p:cNvSpPr/>
          <p:nvPr/>
        </p:nvSpPr>
        <p:spPr>
          <a:xfrm>
            <a:off x="217166" y="4163821"/>
            <a:ext cx="11760206" cy="28575"/>
          </a:xfrm>
          <a:custGeom>
            <a:avLst/>
            <a:gdLst/>
            <a:ahLst/>
            <a:cxnLst/>
            <a:rect l="0" t="0" r="0" b="0"/>
            <a:pathLst>
              <a:path w="18520" h="45">
                <a:moveTo>
                  <a:pt x="18520" y="20"/>
                </a:moveTo>
                <a:lnTo>
                  <a:pt x="0" y="25"/>
                </a:lnTo>
              </a:path>
            </a:pathLst>
          </a:custGeom>
          <a:noFill/>
          <a:ln w="25400" cap="flat">
            <a:solidFill>
              <a:srgbClr val="BA0000"/>
            </a:solidFill>
            <a:prstDash val="solid"/>
            <a:miter lim="1000000"/>
          </a:ln>
        </p:spPr>
        <p:txBody>
          <a:bodyPr rtlCol="0"/>
          <a:lstStyle/>
          <a:p>
            <a:pPr algn="ctr"/>
            <a:endParaRPr lang="zh-CN" altLang="en-US"/>
          </a:p>
        </p:txBody>
      </p:sp>
      <p:sp>
        <p:nvSpPr>
          <p:cNvPr id="422" name="path 422"/>
          <p:cNvSpPr/>
          <p:nvPr/>
        </p:nvSpPr>
        <p:spPr>
          <a:xfrm>
            <a:off x="279650" y="1867154"/>
            <a:ext cx="11760206" cy="28574"/>
          </a:xfrm>
          <a:custGeom>
            <a:avLst/>
            <a:gdLst/>
            <a:ahLst/>
            <a:cxnLst/>
            <a:rect l="0" t="0" r="0" b="0"/>
            <a:pathLst>
              <a:path w="18520" h="44">
                <a:moveTo>
                  <a:pt x="18520" y="20"/>
                </a:moveTo>
                <a:lnTo>
                  <a:pt x="0" y="24"/>
                </a:lnTo>
              </a:path>
            </a:pathLst>
          </a:custGeom>
          <a:noFill/>
          <a:ln w="25400" cap="flat">
            <a:solidFill>
              <a:srgbClr val="BA0000"/>
            </a:solidFill>
            <a:prstDash val="solid"/>
            <a:miter lim="1000000"/>
          </a:ln>
        </p:spPr>
        <p:txBody>
          <a:bodyPr rtlCol="0"/>
          <a:lstStyle/>
          <a:p>
            <a:pPr algn="ctr"/>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6391</Words>
  <Application>WPS 演示</Application>
  <PresentationFormat/>
  <Paragraphs>395</Paragraphs>
  <Slides>18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18</vt:i4>
      </vt:variant>
    </vt:vector>
  </HeadingPairs>
  <TitlesOfParts>
    <vt:vector size="32" baseType="lpstr">
      <vt:lpstr>Arial</vt:lpstr>
      <vt:lpstr>宋体</vt:lpstr>
      <vt:lpstr>Wingdings</vt:lpstr>
      <vt:lpstr>Arial</vt:lpstr>
      <vt:lpstr>Times New Roman</vt:lpstr>
      <vt:lpstr>Wingdings</vt:lpstr>
      <vt:lpstr>等线</vt:lpstr>
      <vt:lpstr>Cambria Math</vt:lpstr>
      <vt:lpstr>微软雅黑</vt:lpstr>
      <vt:lpstr>Arial Unicode MS</vt:lpstr>
      <vt:lpstr>Arial Unicode MS</vt:lpstr>
      <vt:lpstr>Calibri</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鹤强</dc:creator>
  <cp:lastModifiedBy>愔愔</cp:lastModifiedBy>
  <cp:revision>2</cp:revision>
  <dcterms:created xsi:type="dcterms:W3CDTF">2026-08-27T07:32:20Z</dcterms:created>
  <dcterms:modified xsi:type="dcterms:W3CDTF">2026-08-27T08:37:42Z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2026-08-27T15:17:10Z</vt:filetime>
  </property>
  <property fmtid="{D5CDD505-2E9C-101B-9397-08002B2CF9AE}" pid="4" name="KSOProductBuildVer">
    <vt:lpwstr>2052-12.1.0.28043</vt:lpwstr>
  </property>
  <property fmtid="{D5CDD505-2E9C-101B-9397-08002B2CF9AE}" pid="5" name="ICV">
    <vt:lpwstr>0530F2E288184B6C9AFC3CF324DB2B5E_13</vt:lpwstr>
  </property>
</Properties>
</file>